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V2를 기준으로 V3는 지역 일치와 top-10 회수는 개선됐습니다. 다만 top-5와 NDCG는 정체되어 다음 병목은 rerank입니다.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 50은 실제 검색 경로를 검증하지만 카드 태그를 검색과 채점에 같이 사용합니다. 그래서 회귀 신호로는 좋지만 실사용 만족도의 완전한 증명은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결론은 V3 유지입니다. forbidden과 top-5 정렬을 보완한 뒤, 모델명을 가린 사람 평가로 최종 검증하겠습니다.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/>
          <p:nvPr/>
        </p:nvSpPr>
        <p:spPr>
          <a:xfrm>
            <a:off x="566928" y="457200"/>
            <a:ext cx="91440" cy="91440"/>
          </a:xfrm>
          <a:prstGeom prst="rect">
            <a:avLst/>
          </a:prstGeom>
          <a:solidFill>
            <a:srgbClr val="39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-label"/>
          <p:cNvSpPr txBox="1"/>
          <p:nvPr/>
        </p:nvSpPr>
        <p:spPr>
          <a:xfrm>
            <a:off x="749808" y="356616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V2 BASELINE → V3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138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Malgun Gothic"/>
              </a:rPr>
              <a:t>V3의 성과는 ‘랭킹 대승’이 아니라
지역 통제와 운영 신뢰성의 개선이다.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EB8C2"/>
                </a:solidFill>
                <a:latin typeface="Malgun Gothic"/>
              </a:rPr>
              <a:t>V2 대비 변화 · 단위 %p  |  Forbidden은 낮을수록 좋게 환산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22576"/>
            <a:ext cx="19933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Must Hit@5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9504" y="2322576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AEB8C2"/>
                </a:solidFill>
                <a:latin typeface="Malgun Gothic"/>
              </a:rPr>
              <a:t>62.0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93592" y="23225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AEB8C2"/>
                </a:solidFill>
                <a:latin typeface="Malgun Gothic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2" y="2322576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62.0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76672" y="2468880"/>
            <a:ext cx="3218688" cy="0"/>
          </a:xfrm>
          <a:prstGeom prst="line">
            <a:avLst/>
          </a:prstGeom>
          <a:ln w="10160">
            <a:solidFill>
              <a:srgbClr val="34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76672" y="2258568"/>
            <a:ext cx="0" cy="420624"/>
          </a:xfrm>
          <a:prstGeom prst="line">
            <a:avLst/>
          </a:prstGeom>
          <a:ln w="10160">
            <a:solidFill>
              <a:srgbClr val="AEB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76672" y="2350008"/>
            <a:ext cx="45720" cy="237744"/>
          </a:xfrm>
          <a:prstGeom prst="rect">
            <a:avLst/>
          </a:prstGeom>
          <a:solidFill>
            <a:srgbClr val="AE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232257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EB8C2"/>
                </a:solidFill>
                <a:latin typeface="Malgun Gothic"/>
              </a:rPr>
              <a:t>0.0p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35224"/>
            <a:ext cx="19933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Must Hit@10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935224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AEB8C2"/>
                </a:solidFill>
                <a:latin typeface="Malgun Gothic"/>
              </a:rPr>
              <a:t>74.0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93522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AEB8C2"/>
                </a:solidFill>
                <a:latin typeface="Malgun Gothi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935224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76.0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76672" y="3081528"/>
            <a:ext cx="3218688" cy="0"/>
          </a:xfrm>
          <a:prstGeom prst="line">
            <a:avLst/>
          </a:prstGeom>
          <a:ln w="10160">
            <a:solidFill>
              <a:srgbClr val="34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76672" y="2871216"/>
            <a:ext cx="0" cy="420624"/>
          </a:xfrm>
          <a:prstGeom prst="line">
            <a:avLst/>
          </a:prstGeom>
          <a:ln w="10160">
            <a:solidFill>
              <a:srgbClr val="AEB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376672" y="2962656"/>
            <a:ext cx="192024" cy="237744"/>
          </a:xfrm>
          <a:prstGeom prst="rect">
            <a:avLst/>
          </a:prstGeom>
          <a:solidFill>
            <a:srgbClr val="39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78424" y="2935224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9B98A"/>
                </a:solidFill>
                <a:latin typeface="Malgun Gothic"/>
              </a:rPr>
              <a:t>+2.0p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47872"/>
            <a:ext cx="19933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NDCG@5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9504" y="3547872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AEB8C2"/>
                </a:solidFill>
                <a:latin typeface="Malgun Gothic"/>
              </a:rPr>
              <a:t>36.9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3592" y="354787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AEB8C2"/>
                </a:solidFill>
                <a:latin typeface="Malgun Gothi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3547872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35.0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76672" y="3694176"/>
            <a:ext cx="3218688" cy="0"/>
          </a:xfrm>
          <a:prstGeom prst="line">
            <a:avLst/>
          </a:prstGeom>
          <a:ln w="10160">
            <a:solidFill>
              <a:srgbClr val="34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76672" y="3483864"/>
            <a:ext cx="0" cy="420623"/>
          </a:xfrm>
          <a:prstGeom prst="line">
            <a:avLst/>
          </a:prstGeom>
          <a:ln w="10160">
            <a:solidFill>
              <a:srgbClr val="AEB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194249" y="3575304"/>
            <a:ext cx="182422" cy="237744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3001" y="3547872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F6B4A"/>
                </a:solidFill>
                <a:latin typeface="Malgun Gothic"/>
              </a:rPr>
              <a:t>-1.9p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160520"/>
            <a:ext cx="19933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Region Match@5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9504" y="4160520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AEB8C2"/>
                </a:solidFill>
                <a:latin typeface="Malgun Gothic"/>
              </a:rPr>
              <a:t>60.0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3592" y="4160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AEB8C2"/>
                </a:solidFill>
                <a:latin typeface="Malgun Gothic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3632" y="4160520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70.8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76672" y="4306824"/>
            <a:ext cx="3218688" cy="0"/>
          </a:xfrm>
          <a:prstGeom prst="line">
            <a:avLst/>
          </a:prstGeom>
          <a:ln w="10160">
            <a:solidFill>
              <a:srgbClr val="34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76672" y="4096511"/>
            <a:ext cx="0" cy="420625"/>
          </a:xfrm>
          <a:prstGeom prst="line">
            <a:avLst/>
          </a:prstGeom>
          <a:ln w="10160">
            <a:solidFill>
              <a:srgbClr val="AEB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376672" y="4187952"/>
            <a:ext cx="1036929" cy="237744"/>
          </a:xfrm>
          <a:prstGeom prst="rect">
            <a:avLst/>
          </a:prstGeom>
          <a:solidFill>
            <a:srgbClr val="39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3329" y="416052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9B98A"/>
                </a:solidFill>
                <a:latin typeface="Malgun Gothic"/>
              </a:rPr>
              <a:t>+10.8p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773168"/>
            <a:ext cx="19933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Forbidden 개선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9504" y="4773168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AEB8C2"/>
                </a:solidFill>
                <a:latin typeface="Malgun Gothic"/>
              </a:rPr>
              <a:t>18.6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93592" y="47731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AEB8C2"/>
                </a:solidFill>
                <a:latin typeface="Malgun Gothic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13632" y="4773168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20.0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376672" y="4919472"/>
            <a:ext cx="3218688" cy="0"/>
          </a:xfrm>
          <a:prstGeom prst="line">
            <a:avLst/>
          </a:prstGeom>
          <a:ln w="10160">
            <a:solidFill>
              <a:srgbClr val="34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376672" y="4709159"/>
            <a:ext cx="0" cy="420624"/>
          </a:xfrm>
          <a:prstGeom prst="line">
            <a:avLst/>
          </a:prstGeom>
          <a:ln w="10160">
            <a:solidFill>
              <a:srgbClr val="AEB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242255" y="4800600"/>
            <a:ext cx="134416" cy="237744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1007" y="477316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F6B4A"/>
                </a:solidFill>
                <a:latin typeface="Malgun Gothic"/>
              </a:rPr>
              <a:t>-1.4p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9720" y="1298448"/>
            <a:ext cx="2377440" cy="4151376"/>
          </a:xfrm>
          <a:prstGeom prst="rect">
            <a:avLst/>
          </a:prstGeom>
          <a:solidFill>
            <a:srgbClr val="1B2631"/>
          </a:solidFill>
          <a:ln w="10160">
            <a:solidFill>
              <a:srgbClr val="344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54896" y="15727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9B98A"/>
                </a:solidFill>
                <a:latin typeface="Malgun Gothic"/>
              </a:rPr>
              <a:t>판독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36608" y="2029968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9B98A"/>
                </a:solidFill>
                <a:latin typeface="Malgun Gothic"/>
              </a:rPr>
              <a:t>+10.8p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54896" y="2551176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지역 일치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54896" y="2871216"/>
            <a:ext cx="17830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EB8C2"/>
                </a:solidFill>
                <a:latin typeface="Malgun Gothic"/>
              </a:rPr>
              <a:t>세부·버킷 지역 보정이
가장 뚜렷한 개선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454896" y="3675887"/>
            <a:ext cx="1828800" cy="0"/>
          </a:xfrm>
          <a:prstGeom prst="line">
            <a:avLst/>
          </a:prstGeom>
          <a:ln w="10160">
            <a:solidFill>
              <a:srgbClr val="34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436608" y="391363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C14E"/>
                </a:solidFill>
                <a:latin typeface="Malgun Gothic"/>
              </a:rPr>
              <a:t>0.0p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54896" y="44074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Top-5 대표 정답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54896" y="4736592"/>
            <a:ext cx="1783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EB8C2"/>
                </a:solidFill>
                <a:latin typeface="Malgun Gothic"/>
              </a:rPr>
              <a:t>후보 회수보다 rerank가
다음 병목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76072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B98A"/>
                </a:solidFill>
                <a:latin typeface="Malgun Gothic"/>
              </a:rPr>
              <a:t>핵심 메시지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27632" y="5705856"/>
            <a:ext cx="9326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V3는 배포 기준선으로 적합하다. 다만 검색 품질의 승부는 아직 top-10 → top-5 정렬에 남아 있다.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66928" y="6473952"/>
            <a:ext cx="10479024" cy="0"/>
          </a:xfrm>
          <a:prstGeom prst="line">
            <a:avLst/>
          </a:prstGeom>
          <a:ln w="8890">
            <a:solidFill>
              <a:srgbClr val="34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66928" y="652881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EB8C2"/>
                </a:solidFill>
                <a:latin typeface="Malgun Gothic"/>
              </a:rPr>
              <a:t>Source: Goldset V2 evaluation · V2 replay vs V3 current · 50 queries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54512" y="651052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EB8C2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/>
          <p:nvPr/>
        </p:nvSpPr>
        <p:spPr>
          <a:xfrm>
            <a:off x="566928" y="457200"/>
            <a:ext cx="91440" cy="91440"/>
          </a:xfrm>
          <a:prstGeom prst="rect">
            <a:avLst/>
          </a:prstGeom>
          <a:solidFill>
            <a:srgbClr val="4D7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-label"/>
          <p:cNvSpPr txBox="1"/>
          <p:nvPr/>
        </p:nvSpPr>
        <p:spPr>
          <a:xfrm>
            <a:off x="749808" y="356616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9636D"/>
                </a:solidFill>
                <a:latin typeface="Malgun Gothic"/>
              </a:rPr>
              <a:t>WHAT THE GOLDSET PROVES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046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11820"/>
                </a:solidFill>
                <a:latin typeface="Malgun Gothic"/>
              </a:rPr>
              <a:t>Gold 50은 회귀를 잡는다.
하지만 실사용 만족도의 ‘정답지’는 아니다.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103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11820"/>
                </a:solidFill>
                <a:latin typeface="Malgun Gothic"/>
              </a:rPr>
              <a:t>사용자 질문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2523744"/>
            <a:ext cx="1874519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3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724912"/>
            <a:ext cx="1600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636D"/>
                </a:solidFill>
                <a:latin typeface="Malgun Gothic"/>
              </a:rPr>
              <a:t>지역 · 태그 · 금지조건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103120"/>
            <a:ext cx="19568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11820"/>
                </a:solidFill>
                <a:latin typeface="Malgun Gothic"/>
              </a:rPr>
              <a:t>프로덕션 검색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523744"/>
            <a:ext cx="1956816" cy="859536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8416" y="2660904"/>
            <a:ext cx="160934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app.server.search
+ cards.json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2103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11820"/>
                </a:solidFill>
                <a:latin typeface="Malgun Gothic"/>
              </a:rPr>
              <a:t>골드 채점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2523744"/>
            <a:ext cx="1874519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3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651760"/>
            <a:ext cx="156362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636D"/>
                </a:solidFill>
                <a:latin typeface="Malgun Gothic"/>
              </a:rPr>
              <a:t>Must + 카드 태그
+ 지역 + caution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51176" y="2953512"/>
            <a:ext cx="603504" cy="0"/>
          </a:xfrm>
          <a:prstGeom prst="line">
            <a:avLst/>
          </a:prstGeom>
          <a:ln w="2794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11496" y="2953512"/>
            <a:ext cx="630936" cy="0"/>
          </a:xfrm>
          <a:prstGeom prst="line">
            <a:avLst/>
          </a:prstGeom>
          <a:ln w="2794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33087" y="3383280"/>
            <a:ext cx="0" cy="603504"/>
          </a:xfrm>
          <a:prstGeom prst="line">
            <a:avLst/>
          </a:prstGeom>
          <a:ln w="25400">
            <a:solidFill>
              <a:srgbClr val="FF6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33087" y="3986784"/>
            <a:ext cx="2542033" cy="0"/>
          </a:xfrm>
          <a:prstGeom prst="line">
            <a:avLst/>
          </a:prstGeom>
          <a:ln w="25400">
            <a:solidFill>
              <a:srgbClr val="FF6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75120" y="3383280"/>
            <a:ext cx="0" cy="603504"/>
          </a:xfrm>
          <a:prstGeom prst="line">
            <a:avLst/>
          </a:prstGeom>
          <a:ln w="25400">
            <a:solidFill>
              <a:srgbClr val="FF6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97680" y="4087368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6B4A"/>
                </a:solidFill>
                <a:latin typeface="Malgun Gothic"/>
              </a:rPr>
              <a:t>같은 카드 태그가 검색과 채점에 모두 사용됨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444752"/>
            <a:ext cx="3456432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3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73736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D7CFE"/>
                </a:solidFill>
                <a:latin typeface="Malgun Gothic"/>
              </a:rPr>
              <a:t>현재 검증되는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148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820"/>
                </a:solidFill>
                <a:latin typeface="Malgun Gothic"/>
              </a:rPr>
              <a:t>✓ 실제 검색 실행 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5420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0"/>
                </a:solidFill>
                <a:latin typeface="Malgun Gothic"/>
              </a:rPr>
              <a:t>✓ 이름·별칭 정규화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9352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0"/>
                </a:solidFill>
                <a:latin typeface="Malgun Gothic"/>
              </a:rPr>
              <a:t>✓ 지역·폐업·비서빙 누수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3284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0"/>
                </a:solidFill>
                <a:latin typeface="Malgun Gothic"/>
              </a:rPr>
              <a:t>✓ 버전 간 회귀 비교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94192" y="3822191"/>
            <a:ext cx="2862072" cy="0"/>
          </a:xfrm>
          <a:prstGeom prst="line">
            <a:avLst/>
          </a:prstGeom>
          <a:ln w="10160">
            <a:solidFill>
              <a:srgbClr val="D3CC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94192" y="404164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Malgun Gothic"/>
              </a:rPr>
              <a:t>아직 증명되지 않은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453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636D"/>
                </a:solidFill>
                <a:latin typeface="Malgun Gothic"/>
              </a:rPr>
              <a:t>• 사람 기준의 결과 적합성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8371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636D"/>
                </a:solidFill>
                <a:latin typeface="Malgun Gothic"/>
              </a:rPr>
              <a:t>• 실제 질의 분포와 재검색 행동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52212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636D"/>
                </a:solidFill>
                <a:latin typeface="Malgun Gothic"/>
              </a:rPr>
              <a:t>• 복합 조건 만족도 (4/50)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" y="4956048"/>
            <a:ext cx="7040880" cy="87782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230368"/>
            <a:ext cx="6492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9B98A"/>
                </a:solidFill>
                <a:latin typeface="Malgun Gothic"/>
              </a:rPr>
              <a:t>따라서  </a:t>
            </a:r>
            <a:r>
              <a:rPr sz="1400" b="1">
                <a:solidFill>
                  <a:srgbClr val="FFFFFF"/>
                </a:solidFill>
                <a:latin typeface="Malgun Gothic"/>
              </a:rPr>
              <a:t>현재 점수는 ‘검색 회귀 신호’로 해석하고, </a:t>
            </a:r>
            <a:r>
              <a:rPr sz="1400" b="1">
                <a:solidFill>
                  <a:srgbClr val="F2C14E"/>
                </a:solidFill>
                <a:latin typeface="Malgun Gothic"/>
              </a:rPr>
              <a:t>실사용 만족도는 별도 사람 판정으로 보완한다.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73952"/>
            <a:ext cx="10479024" cy="0"/>
          </a:xfrm>
          <a:prstGeom prst="line">
            <a:avLst/>
          </a:prstGeom>
          <a:ln w="8890">
            <a:solidFill>
              <a:srgbClr val="D3CC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52881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9636D"/>
                </a:solidFill>
                <a:latin typeface="Malgun Gothic"/>
              </a:rPr>
              <a:t>Source: eval/goldset_v2_eval.py · 50 questions / region 13 / forbidden 14 / composite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54512" y="651052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9636D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/>
          <p:nvPr/>
        </p:nvSpPr>
        <p:spPr>
          <a:xfrm>
            <a:off x="566928" y="457200"/>
            <a:ext cx="91440" cy="91440"/>
          </a:xfrm>
          <a:prstGeom prst="rect">
            <a:avLst/>
          </a:prstGeom>
          <a:solidFill>
            <a:srgbClr val="39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-label"/>
          <p:cNvSpPr txBox="1"/>
          <p:nvPr/>
        </p:nvSpPr>
        <p:spPr>
          <a:xfrm>
            <a:off x="749808" y="356616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595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</a:rPr>
              <a:t>오늘의 결론은 교체보다 보완.
V3를 유지하고 신뢰·랭킹을 먼저 고친다.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D7CFE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1" y="2029968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유지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23744"/>
            <a:ext cx="2560320" cy="0"/>
          </a:xfrm>
          <a:prstGeom prst="line">
            <a:avLst/>
          </a:prstGeom>
          <a:ln w="3810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78892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V3 canonical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64992"/>
            <a:ext cx="254203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8C2"/>
                </a:solidFill>
                <a:latin typeface="Malgun Gothic"/>
              </a:rPr>
              <a:t>중복 0 · alias 100%
closed 누수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1" y="2834640"/>
            <a:ext cx="365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AEB8C2"/>
                </a:solidFill>
                <a:latin typeface="Malgun Gothi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057400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29968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보완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58768" y="2523744"/>
            <a:ext cx="2560320" cy="0"/>
          </a:xfrm>
          <a:prstGeom prst="line">
            <a:avLst/>
          </a:prstGeom>
          <a:ln w="38100">
            <a:solidFill>
              <a:srgbClr val="FF6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58768" y="278892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Top-10 → Top-5 rerank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364992"/>
            <a:ext cx="254203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8C2"/>
                </a:solidFill>
                <a:latin typeface="Malgun Gothic"/>
              </a:rPr>
              <a:t>forbidden 하드 필터
지역·복합조건 재정렬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34640"/>
            <a:ext cx="365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AEB8C2"/>
                </a:solidFill>
                <a:latin typeface="Malgun Gothi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6" y="2057400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9B98A"/>
                </a:solidFill>
                <a:latin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029968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검증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77456" y="2523744"/>
            <a:ext cx="2560320" cy="0"/>
          </a:xfrm>
          <a:prstGeom prst="line">
            <a:avLst/>
          </a:prstGeom>
          <a:ln w="38100">
            <a:solidFill>
              <a:srgbClr val="39B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77456" y="278892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Blind Human Top-5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3364992"/>
            <a:ext cx="254203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8C2"/>
                </a:solidFill>
                <a:latin typeface="Malgun Gothic"/>
              </a:rPr>
              <a:t>Human NDCG@5
Query Success@5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39528" y="1938528"/>
            <a:ext cx="1664208" cy="2761488"/>
          </a:xfrm>
          <a:prstGeom prst="rect">
            <a:avLst/>
          </a:prstGeom>
          <a:solidFill>
            <a:srgbClr val="1B2631"/>
          </a:solidFill>
          <a:ln w="10160">
            <a:solidFill>
              <a:srgbClr val="344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2221992"/>
            <a:ext cx="11521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C14E"/>
                </a:solidFill>
                <a:latin typeface="Malgun Gothic"/>
              </a:rPr>
              <a:t>다음 목표
(제안)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2926080"/>
            <a:ext cx="11338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algun Gothic"/>
              </a:rPr>
              <a:t>≥70%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3300984"/>
            <a:ext cx="1115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EB8C2"/>
                </a:solidFill>
                <a:latin typeface="Malgun Gothic"/>
              </a:rPr>
              <a:t>Must Hit@5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86416" y="3639312"/>
            <a:ext cx="1152144" cy="0"/>
          </a:xfrm>
          <a:prstGeom prst="line">
            <a:avLst/>
          </a:prstGeom>
          <a:ln w="10160">
            <a:solidFill>
              <a:srgbClr val="34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77272" y="3822191"/>
            <a:ext cx="11338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algun Gothic"/>
              </a:rPr>
              <a:t>&lt;10%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4197096"/>
            <a:ext cx="1115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EB8C2"/>
                </a:solidFill>
                <a:latin typeface="Malgun Gothic"/>
              </a:rPr>
              <a:t>Forbidden@5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4846320"/>
            <a:ext cx="9107424" cy="932688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509320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D7CFE"/>
                </a:solidFill>
                <a:latin typeface="Malgun Gothic"/>
              </a:rPr>
              <a:t>발표 한 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56231" y="5029200"/>
            <a:ext cx="7543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11820"/>
                </a:solidFill>
                <a:latin typeface="Malgun Gothic"/>
              </a:rPr>
              <a:t>“후보를 찾는 단계는 통과했다. 이제 좋은 후보를 앞에 세우고, 틀리면 추천하지 않는 단계다.”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6104" y="51389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9B98A"/>
                </a:solidFill>
                <a:latin typeface="Malgun Gothic"/>
              </a:rPr>
              <a:t>평가 역할 분리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6104" y="5404104"/>
            <a:ext cx="14630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EB8C2"/>
                </a:solidFill>
                <a:latin typeface="Malgun Gothic"/>
              </a:rPr>
              <a:t>Gold 50 = 회귀 게이트
Human Top-5 = 실제 적합성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73952"/>
            <a:ext cx="10479024" cy="0"/>
          </a:xfrm>
          <a:prstGeom prst="line">
            <a:avLst/>
          </a:prstGeom>
          <a:ln w="8890">
            <a:solidFill>
              <a:srgbClr val="34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2881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EB8C2"/>
                </a:solidFill>
                <a:latin typeface="Malgun Gothic"/>
              </a:rPr>
              <a:t>Decision based on Goldset V2 reports · targets are proposed next gates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4512" y="651052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EB8C2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