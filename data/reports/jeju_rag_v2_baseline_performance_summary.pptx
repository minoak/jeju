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463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Malgun Gothic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8869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62126"/>
                </a:solidFill>
                <a:latin typeface="Malgun Gothic"/>
              </a:rPr>
              <a:t>V2를 기준선으로 보면, V3는 안정성은 올랐고 랭킹은 숙제다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53312"/>
            <a:ext cx="71323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A70"/>
                </a:solidFill>
                <a:latin typeface="Malgun Gothic"/>
              </a:rPr>
              <a:t>V2는 현재까지 top-5 랭킹 품질이 가장 좋은 기준선이다. V3는 지역 조건과 top-10 회수율을 올렸지만, MRR/NDCG@5는 소폭 낮아졌다.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126"/>
                </a:solidFill>
                <a:latin typeface="Malgun Gothic"/>
              </a:rPr>
              <a:t>V2 baseline 대비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76856"/>
            <a:ext cx="53035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V2 대비 변화폭, 단위: percentage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4992" y="2496312"/>
            <a:ext cx="13716" cy="3200400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276856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C99A2E"/>
                </a:solidFill>
                <a:latin typeface="Malgun Gothic"/>
              </a:rP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76856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E7D6B"/>
                </a:solidFill>
                <a:latin typeface="Malgun Gothic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276856"/>
            <a:ext cx="1463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D95F59"/>
                </a:solidFill>
                <a:latin typeface="Malgun Gothic"/>
              </a:rPr>
              <a:t>W2-W4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2126"/>
                </a:solidFill>
                <a:latin typeface="Malgun Gothic"/>
              </a:rPr>
              <a:t>Must@5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660904"/>
            <a:ext cx="1005840" cy="118872"/>
          </a:xfrm>
          <a:prstGeom prst="rect">
            <a:avLst/>
          </a:prstGeom>
          <a:solidFill>
            <a:srgbClr val="C99A2E"/>
          </a:solidFill>
          <a:ln w="8890">
            <a:solidFill>
              <a:srgbClr val="C99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2" y="2651760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-20.0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807208"/>
            <a:ext cx="18288" cy="118872"/>
          </a:xfrm>
          <a:prstGeom prst="rect">
            <a:avLst/>
          </a:prstGeom>
          <a:solidFill>
            <a:srgbClr val="2E7D6B"/>
          </a:solidFill>
          <a:ln w="889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798064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E6A70"/>
                </a:solidFill>
                <a:latin typeface="Malgun Gothic"/>
              </a:rPr>
              <a:t>+0.0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57984" y="2953512"/>
            <a:ext cx="1207008" cy="118872"/>
          </a:xfrm>
          <a:prstGeom prst="rect">
            <a:avLst/>
          </a:prstGeom>
          <a:solidFill>
            <a:srgbClr val="D95F59"/>
          </a:solidFill>
          <a:ln w="8890">
            <a:solidFill>
              <a:srgbClr val="D9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064" y="2944368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-24.0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0128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2126"/>
                </a:solidFill>
                <a:latin typeface="Malgun Gothic"/>
              </a:rPr>
              <a:t>Must@10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57984" y="3282696"/>
            <a:ext cx="1207008" cy="118872"/>
          </a:xfrm>
          <a:prstGeom prst="rect">
            <a:avLst/>
          </a:prstGeom>
          <a:solidFill>
            <a:srgbClr val="C99A2E"/>
          </a:solidFill>
          <a:ln w="8890">
            <a:solidFill>
              <a:srgbClr val="C99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55064" y="3273552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-24.0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4992" y="3429000"/>
            <a:ext cx="100584" cy="118872"/>
          </a:xfrm>
          <a:prstGeom prst="rect">
            <a:avLst/>
          </a:prstGeom>
          <a:solidFill>
            <a:srgbClr val="2E7D6B"/>
          </a:solidFill>
          <a:ln w="889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419856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E6A70"/>
                </a:solidFill>
                <a:latin typeface="Malgun Gothic"/>
              </a:rPr>
              <a:t>+2.0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3575304"/>
            <a:ext cx="704088" cy="118872"/>
          </a:xfrm>
          <a:prstGeom prst="rect">
            <a:avLst/>
          </a:prstGeom>
          <a:solidFill>
            <a:srgbClr val="D95F59"/>
          </a:solidFill>
          <a:ln w="8890">
            <a:solidFill>
              <a:srgbClr val="D9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57984" y="3566160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-14.0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2126"/>
                </a:solidFill>
                <a:latin typeface="Malgun Gothic"/>
              </a:rPr>
              <a:t>NDCG@5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02889" y="3904488"/>
            <a:ext cx="362102" cy="118872"/>
          </a:xfrm>
          <a:prstGeom prst="rect">
            <a:avLst/>
          </a:prstGeom>
          <a:solidFill>
            <a:srgbClr val="C99A2E"/>
          </a:solidFill>
          <a:ln w="8890">
            <a:solidFill>
              <a:srgbClr val="C99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9969" y="3895344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-7.2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9437" y="4050792"/>
            <a:ext cx="95554" cy="118872"/>
          </a:xfrm>
          <a:prstGeom prst="rect">
            <a:avLst/>
          </a:prstGeom>
          <a:solidFill>
            <a:srgbClr val="2E7D6B"/>
          </a:solidFill>
          <a:ln w="889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6517" y="4041648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-1.9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3532" y="4197096"/>
            <a:ext cx="251460" cy="118872"/>
          </a:xfrm>
          <a:prstGeom prst="rect">
            <a:avLst/>
          </a:prstGeom>
          <a:solidFill>
            <a:srgbClr val="D95F59"/>
          </a:solidFill>
          <a:ln w="8890">
            <a:solidFill>
              <a:srgbClr val="D9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0612" y="4187952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-5.0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55371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2126"/>
                </a:solidFill>
                <a:latin typeface="Malgun Gothic"/>
              </a:rPr>
              <a:t>Region@5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3714" y="4526280"/>
            <a:ext cx="1081278" cy="118872"/>
          </a:xfrm>
          <a:prstGeom prst="rect">
            <a:avLst/>
          </a:prstGeom>
          <a:solidFill>
            <a:srgbClr val="C99A2E"/>
          </a:solidFill>
          <a:ln w="8890">
            <a:solidFill>
              <a:srgbClr val="C99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0794" y="4517136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-21.5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4992" y="4672584"/>
            <a:ext cx="543153" cy="118872"/>
          </a:xfrm>
          <a:prstGeom prst="rect">
            <a:avLst/>
          </a:prstGeom>
          <a:solidFill>
            <a:srgbClr val="2E7D6B"/>
          </a:solidFill>
          <a:ln w="889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44721" y="4663440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E6A70"/>
                </a:solidFill>
                <a:latin typeface="Malgun Gothic"/>
              </a:rPr>
              <a:t>+10.8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64992" y="4818888"/>
            <a:ext cx="694029" cy="118872"/>
          </a:xfrm>
          <a:prstGeom prst="rect">
            <a:avLst/>
          </a:prstGeom>
          <a:solidFill>
            <a:srgbClr val="D95F59"/>
          </a:solidFill>
          <a:ln w="8890">
            <a:solidFill>
              <a:srgbClr val="D9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95597" y="4809744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E6A70"/>
                </a:solidFill>
                <a:latin typeface="Malgun Gothic"/>
              </a:rPr>
              <a:t>+13.8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175504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2126"/>
                </a:solidFill>
                <a:latin typeface="Malgun Gothic"/>
              </a:rPr>
              <a:t>Forbidden 개선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78327" y="5148072"/>
            <a:ext cx="286664" cy="118872"/>
          </a:xfrm>
          <a:prstGeom prst="rect">
            <a:avLst/>
          </a:prstGeom>
          <a:solidFill>
            <a:srgbClr val="C99A2E"/>
          </a:solidFill>
          <a:ln w="8890">
            <a:solidFill>
              <a:srgbClr val="C99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5407" y="5138928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-5.7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4583" y="5294376"/>
            <a:ext cx="70408" cy="118872"/>
          </a:xfrm>
          <a:prstGeom prst="rect">
            <a:avLst/>
          </a:prstGeom>
          <a:solidFill>
            <a:srgbClr val="2E7D6B"/>
          </a:solidFill>
          <a:ln w="889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91663" y="5285232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-1.4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18334" y="5440680"/>
            <a:ext cx="1146657" cy="118872"/>
          </a:xfrm>
          <a:prstGeom prst="rect">
            <a:avLst/>
          </a:prstGeom>
          <a:solidFill>
            <a:srgbClr val="D95F59"/>
          </a:solidFill>
          <a:ln w="8890">
            <a:solidFill>
              <a:srgbClr val="D9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15414" y="5431536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5E6A70"/>
                </a:solidFill>
                <a:latin typeface="Malgun Gothic"/>
              </a:rPr>
              <a:t>-22.8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59168" y="1938528"/>
            <a:ext cx="24871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59168" y="1938528"/>
            <a:ext cx="64008" cy="932688"/>
          </a:xfrm>
          <a:prstGeom prst="rect">
            <a:avLst/>
          </a:prstGeom>
          <a:solidFill>
            <a:srgbClr val="2B5C8A"/>
          </a:solidFill>
          <a:ln w="889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59" y="2057400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126"/>
                </a:solidFill>
                <a:latin typeface="Malgun Gothic"/>
              </a:rPr>
              <a:t>Baseline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59" y="23865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2126"/>
                </a:solidFill>
                <a:latin typeface="Malgun Gothic"/>
              </a:rPr>
              <a:t>V2 Three-tier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59" y="2606040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MRR@10 42.4 · NDCG@5 36.9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59168" y="3035808"/>
            <a:ext cx="2487168" cy="932688"/>
          </a:xfrm>
          <a:prstGeom prst="roundRect">
            <a:avLst/>
          </a:prstGeom>
          <a:solidFill>
            <a:srgbClr val="DCEBE5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59168" y="3035808"/>
            <a:ext cx="64008" cy="932688"/>
          </a:xfrm>
          <a:prstGeom prst="rect">
            <a:avLst/>
          </a:prstGeom>
          <a:solidFill>
            <a:srgbClr val="2E7D6B"/>
          </a:solidFill>
          <a:ln w="889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59" y="3154679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126"/>
                </a:solidFill>
                <a:latin typeface="Malgun Gothic"/>
              </a:rPr>
              <a:t>Operational gain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59" y="3483863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2126"/>
                </a:solidFill>
                <a:latin typeface="Malgun Gothic"/>
              </a:rPr>
              <a:t>V3 Current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59" y="3703320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Must@10 +2.0p · Region +10.8p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59168" y="4133087"/>
            <a:ext cx="2487168" cy="932688"/>
          </a:xfrm>
          <a:prstGeom prst="roundRect">
            <a:avLst/>
          </a:prstGeom>
          <a:solidFill>
            <a:srgbClr val="F0D5D0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59168" y="4133087"/>
            <a:ext cx="64008" cy="932688"/>
          </a:xfrm>
          <a:prstGeom prst="rect">
            <a:avLst/>
          </a:prstGeom>
          <a:solidFill>
            <a:srgbClr val="D95F59"/>
          </a:solidFill>
          <a:ln w="8890">
            <a:solidFill>
              <a:srgbClr val="D9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59" y="4251959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126"/>
                </a:solidFill>
                <a:latin typeface="Malgun Gothic"/>
              </a:rPr>
              <a:t>Hold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59" y="458114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2126"/>
                </a:solidFill>
                <a:latin typeface="Malgun Gothic"/>
              </a:rPr>
              <a:t>W2-W4 Candidate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59" y="4800600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Region +13.8p · Forbidden -22.8p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95744" y="5431536"/>
            <a:ext cx="3977639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126"/>
                </a:solidFill>
                <a:latin typeface="Malgun Gothic"/>
              </a:rPr>
              <a:t>발표용 한 줄: V3는 배포 안정성 측면에서 진전했지만, V2의 랭킹 품질을 회복하는 rerank가 다음 핵심 과제다.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6473952"/>
            <a:ext cx="11173968" cy="13716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6547104"/>
            <a:ext cx="7589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Gold 50 · V2 Three-tier RAG baseline · lower Forbidden is better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E6A70"/>
                </a:solidFill>
                <a:latin typeface="Malgun Gothic"/>
              </a:rP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188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Malgun Gothic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77724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62126"/>
                </a:solidFill>
                <a:latin typeface="Malgun Gothic"/>
              </a:rPr>
              <a:t>업데이트마다 RAG의 역할이 달라졌다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53312"/>
            <a:ext cx="7132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A70"/>
                </a:solidFill>
                <a:latin typeface="Malgun Gothic"/>
              </a:rPr>
              <a:t>V2를 기준선으로 두면 이후 업데이트의 의미가 분명해진다. V3는 운영 계약을 강화했고, W2-W4는 아키텍처 후보지만 아직 안전하지 않다.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514600" cy="3520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2167128"/>
            <a:ext cx="310896" cy="310896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39696"/>
            <a:ext cx="1737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126"/>
                </a:solidFill>
                <a:latin typeface="Malgun Gothic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79191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2126"/>
                </a:solidFill>
                <a:latin typeface="Malgun Gothic"/>
              </a:rPr>
              <a:t>네이버 블로그와 유튜브 근거를 합쳐 embedding seed를 만든 첫 기준선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840479"/>
            <a:ext cx="2148840" cy="10972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32504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Must@5 42.0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NDCG@5 29.7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Region@5 38.5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Forbidden@5 24.3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65960"/>
            <a:ext cx="2514600" cy="3520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10712" y="2167128"/>
            <a:ext cx="310896" cy="310896"/>
          </a:xfrm>
          <a:prstGeom prst="ellipse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139696"/>
            <a:ext cx="1737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126"/>
                </a:solidFill>
                <a:latin typeface="Malgun Gothic"/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79191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2126"/>
                </a:solidFill>
                <a:latin typeface="Malgun Gothic"/>
              </a:rPr>
              <a:t>name / browse / condition 3분기로 검색 의도를 분리한 기준선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3840479"/>
            <a:ext cx="2148840" cy="10972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032504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Must@5 62.0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NDCG@5 36.9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Region@5 60.0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Forbidden@5 18.6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1965960"/>
            <a:ext cx="2514600" cy="3520440"/>
          </a:xfrm>
          <a:prstGeom prst="roundRect">
            <a:avLst/>
          </a:prstGeom>
          <a:solidFill>
            <a:srgbClr val="DCEBE5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62472" y="2167128"/>
            <a:ext cx="310896" cy="310896"/>
          </a:xfrm>
          <a:prstGeom prst="ellipse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139696"/>
            <a:ext cx="1737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126"/>
                </a:solidFill>
                <a:latin typeface="Malgun Gothic"/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679191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2126"/>
                </a:solidFill>
                <a:latin typeface="Malgun Gothic"/>
              </a:rPr>
              <a:t>canonical cards와 deterministic search로 운영 안정성을 확보한 현재 버전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840479"/>
            <a:ext cx="2148840" cy="10972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032504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Must@5 62.0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NDCG@5 35.0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Region@5 70.8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Forbidden@5 20.0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965960"/>
            <a:ext cx="2514600" cy="3520440"/>
          </a:xfrm>
          <a:prstGeom prst="roundRect">
            <a:avLst/>
          </a:prstGeom>
          <a:solidFill>
            <a:srgbClr val="F0D5D0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14232" y="2167128"/>
            <a:ext cx="310896" cy="310896"/>
          </a:xfrm>
          <a:prstGeom prst="ellipse">
            <a:avLst/>
          </a:prstGeom>
          <a:solidFill>
            <a:srgbClr val="D9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2139696"/>
            <a:ext cx="1737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126"/>
                </a:solidFill>
                <a:latin typeface="Malgun Gothic"/>
              </a:rPr>
              <a:t>W2-W4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19" y="2679191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2126"/>
                </a:solidFill>
                <a:latin typeface="Malgun Gothic"/>
              </a:rPr>
              <a:t>아키텍처 PPT에 가까운 라우팅 후보. 태그·지역 해석은 강하지만 차단 조건이 약함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19" y="3840479"/>
            <a:ext cx="2148840" cy="10972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19" y="4032504"/>
            <a:ext cx="214884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Must@5 38.0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NDCG@5 31.9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Region@5 73.8</a:t>
            </a:r>
          </a:p>
          <a:p>
            <a:pPr algn="l"/>
            <a:r>
              <a:rPr sz="1000" b="0">
                <a:solidFill>
                  <a:srgbClr val="5E6A70"/>
                </a:solidFill>
                <a:latin typeface="Malgun Gothic"/>
              </a:rPr>
              <a:t>Forbidden@5 41.4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62126"/>
                </a:solidFill>
                <a:latin typeface="Malgun Gothic"/>
              </a:rPr>
              <a:t>해석: V2는 순위 품질의 고점, V3는 운영 안정성과 지역 조건의 고점, W2-W4는 차기 구조 후보지만 exclusion gate 전까지는 실서비스 승격 보류.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73968" cy="13716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7589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Gold 50 · V2 Three-tier RAG baseline · lower Forbidden is better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E6A70"/>
                </a:solidFill>
                <a:latin typeface="Malgun Gothic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7D6B"/>
                </a:solidFill>
                <a:latin typeface="Malgun Gothic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8183879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62126"/>
                </a:solidFill>
                <a:latin typeface="Malgun Gothic"/>
              </a:rPr>
              <a:t>현재 결론은 V3 유지, V2식 rerank 회수, W2-W4는 보류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53312"/>
            <a:ext cx="7772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A70"/>
                </a:solidFill>
                <a:latin typeface="Malgun Gothic"/>
              </a:rPr>
              <a:t>V2 대비 V3는 운영 지표가 좋아졌지만, V3가 모든 검색 품질 지표에서 이긴 것은 아니다. 운영 기준과 랭킹 기준을 분리해서 봐야 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2487168" cy="932688"/>
          </a:xfrm>
          <a:prstGeom prst="roundRect">
            <a:avLst/>
          </a:prstGeom>
          <a:solidFill>
            <a:srgbClr val="DCEBE5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64008" cy="932688"/>
          </a:xfrm>
          <a:prstGeom prst="rect">
            <a:avLst/>
          </a:prstGeom>
          <a:solidFill>
            <a:srgbClr val="2E7D6B"/>
          </a:solidFill>
          <a:ln w="889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126"/>
                </a:solidFill>
                <a:latin typeface="Malgun Gothic"/>
              </a:rPr>
              <a:t>V3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865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2126"/>
                </a:solidFill>
                <a:latin typeface="Malgun Gothic"/>
              </a:rPr>
              <a:t>운영 기준선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Must@10 76.0 · Region@5 70.8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69748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2126"/>
                </a:solidFill>
                <a:latin typeface="Malgun Gothic"/>
              </a:rPr>
              <a:t>지역 일치와 top-10 회수율이 가장 안정적이다. canonical card와 결정적 검색 구조도 발표 아키텍처의 운영 계약에 가장 가깝다.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38528"/>
            <a:ext cx="24871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38528"/>
            <a:ext cx="64008" cy="932688"/>
          </a:xfrm>
          <a:prstGeom prst="rect">
            <a:avLst/>
          </a:prstGeom>
          <a:solidFill>
            <a:srgbClr val="2B5C8A"/>
          </a:solidFill>
          <a:ln w="889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2057400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126"/>
                </a:solidFill>
                <a:latin typeface="Malgun Gothic"/>
              </a:rPr>
              <a:t>V2 Three-tier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3865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2126"/>
                </a:solidFill>
                <a:latin typeface="Malgun Gothic"/>
              </a:rPr>
              <a:t>랭킹 회수 대상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606040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MRR@10 42.4 · NDCG@5 36.9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54680"/>
            <a:ext cx="269748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2126"/>
                </a:solidFill>
                <a:latin typeface="Malgun Gothic"/>
              </a:rPr>
              <a:t>MRR과 NDCG@5가 가장 좋다. V3에 deterministic top-5 reranker를 넣을 때 비교 기준으로 삼는 게 맞다.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938528"/>
            <a:ext cx="2487168" cy="932688"/>
          </a:xfrm>
          <a:prstGeom prst="roundRect">
            <a:avLst/>
          </a:prstGeom>
          <a:solidFill>
            <a:srgbClr val="F0D5D0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938528"/>
            <a:ext cx="64008" cy="932688"/>
          </a:xfrm>
          <a:prstGeom prst="rect">
            <a:avLst/>
          </a:prstGeom>
          <a:solidFill>
            <a:srgbClr val="D95F59"/>
          </a:solidFill>
          <a:ln w="8890">
            <a:solidFill>
              <a:srgbClr val="D9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2057400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126"/>
                </a:solidFill>
                <a:latin typeface="Malgun Gothic"/>
              </a:rPr>
              <a:t>W2-W4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3865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2126"/>
                </a:solidFill>
                <a:latin typeface="Malgun Gothic"/>
              </a:rPr>
              <a:t>승격 보류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606040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Tag@5 78.1 · Forbidden@5 41.4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54680"/>
            <a:ext cx="269748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2126"/>
                </a:solidFill>
                <a:latin typeface="Malgun Gothic"/>
              </a:rPr>
              <a:t>태그와 지역 해석은 강하지만 forbidden 노출이 너무 높다. hard exclusion과 감점 rerank 없이는 실서비스 후보가 아니다.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515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2126"/>
                </a:solidFill>
                <a:latin typeface="Malgun Gothic"/>
              </a:rPr>
              <a:t>다음 KPI: Forbidden@5를 V2 18.6% 아래로 낮추고, NDCG@5를 V2 36.9% 이상으로 회복.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73968" cy="13716"/>
          </a:xfrm>
          <a:prstGeom prst="rect">
            <a:avLst/>
          </a:prstGeom>
          <a:solidFill>
            <a:srgbClr val="D5C9B3"/>
          </a:solidFill>
          <a:ln w="8890">
            <a:solidFill>
              <a:srgbClr val="D5C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7589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A70"/>
                </a:solidFill>
                <a:latin typeface="Malgun Gothic"/>
              </a:rPr>
              <a:t>Gold 50 · V2 Three-tier RAG baseline · lower Forbidden is better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E6A70"/>
                </a:solidFill>
                <a:latin typeface="Malgun Gothic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