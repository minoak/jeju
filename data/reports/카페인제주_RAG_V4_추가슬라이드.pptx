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버전은 모델 교체가 아니라 실패 원인 제거였습니다. V4는 태그 번역, 어휘 게이트, 하드 배제로 검색 의도 정합을 강화했습니다.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V4는 V3 대비 Must@5 8포인트, NDCG@5 5포인트, Tag Match 11.2포인트 개선했고 Forbidden 노출은 4.3포인트 낮췄습니다.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V4의 순위 개선은 검색 코어가 만들었습니다. 에이전트는 모든 질의에 거는 대신 0건 또는 저신뢰 케이스에만 조건부 호출하는 것이 성능과 비용 면에서 합리적입니다.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0282C"/>
                </a:solidFill>
                <a:latin typeface="맑은 고딕"/>
              </a:rPr>
              <a:t>06  EVALUATION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0282C"/>
                </a:solidFill>
                <a:latin typeface="맑은 고딕"/>
              </a:rPr>
              <a:t>매 버전은 하나의 실패 원인을 제거했다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7074"/>
                </a:solidFill>
                <a:latin typeface="맑은 고딕"/>
              </a:rPr>
              <a:t>데이터를 더 넣는 경쟁에서, 틀린 후보를 막고 의도를 지키는 검색으로 진화했습니다.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81912"/>
            <a:ext cx="1408176" cy="1956816"/>
          </a:xfrm>
          <a:prstGeom prst="rect">
            <a:avLst/>
          </a:prstGeom>
          <a:solidFill>
            <a:srgbClr val="EDF1F0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7074"/>
                </a:solidFill>
                <a:latin typeface="맑은 고딕"/>
              </a:rPr>
              <a:t>V0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39112"/>
            <a:ext cx="11155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0282C"/>
                </a:solidFill>
                <a:latin typeface="맑은 고딕"/>
              </a:rPr>
              <a:t>발견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487168"/>
            <a:ext cx="1152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7074"/>
                </a:solidFill>
                <a:latin typeface="맑은 고딕"/>
              </a:rPr>
              <a:t>YouTube 중심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3017520"/>
            <a:ext cx="1161288" cy="0"/>
          </a:xfrm>
          <a:prstGeom prst="line">
            <a:avLst/>
          </a:prstGeom>
          <a:ln w="10160">
            <a:solidFill>
              <a:srgbClr val="DC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3136392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37074"/>
                </a:solidFill>
                <a:latin typeface="맑은 고딕"/>
              </a:rPr>
              <a:t>후보 1,064곳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9384" y="2331720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37074"/>
                </a:solidFill>
                <a:latin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85416" y="1581912"/>
            <a:ext cx="1408176" cy="1956816"/>
          </a:xfrm>
          <a:prstGeom prst="rect">
            <a:avLst/>
          </a:prstGeom>
          <a:solidFill>
            <a:srgbClr val="E7F3F1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171907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5257"/>
                </a:solidFill>
                <a:latin typeface="맑은 고딕"/>
              </a:rPr>
              <a:t>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039112"/>
            <a:ext cx="11155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0282C"/>
                </a:solidFill>
                <a:latin typeface="맑은 고딕"/>
              </a:rPr>
              <a:t>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2487168"/>
            <a:ext cx="1152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7074"/>
                </a:solidFill>
                <a:latin typeface="맑은 고딕"/>
              </a:rPr>
              <a:t>블로그·댓글 보강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04288" y="3017520"/>
            <a:ext cx="1161288" cy="0"/>
          </a:xfrm>
          <a:prstGeom prst="line">
            <a:avLst/>
          </a:prstGeom>
          <a:ln w="10160">
            <a:solidFill>
              <a:srgbClr val="DC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04288" y="3136392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5257"/>
                </a:solidFill>
                <a:latin typeface="맑은 고딕"/>
              </a:rPr>
              <a:t>Must@5 42%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331720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37074"/>
                </a:solidFill>
                <a:latin typeface="맑은 고딕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67912" y="1581912"/>
            <a:ext cx="1408176" cy="1956816"/>
          </a:xfrm>
          <a:prstGeom prst="rect">
            <a:avLst/>
          </a:prstGeom>
          <a:solidFill>
            <a:srgbClr val="F4FAF9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6784" y="171907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5257"/>
                </a:solidFill>
                <a:latin typeface="맑은 고딕"/>
              </a:rPr>
              <a:t>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039112"/>
            <a:ext cx="11155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0282C"/>
                </a:solidFill>
                <a:latin typeface="맑은 고딕"/>
              </a:rPr>
              <a:t>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4" y="2487168"/>
            <a:ext cx="1152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7074"/>
                </a:solidFill>
                <a:latin typeface="맑은 고딕"/>
              </a:rPr>
              <a:t>조회·브라우즈·조건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86784" y="3017520"/>
            <a:ext cx="1161288" cy="0"/>
          </a:xfrm>
          <a:prstGeom prst="line">
            <a:avLst/>
          </a:prstGeom>
          <a:ln w="10160">
            <a:solidFill>
              <a:srgbClr val="DC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86784" y="3136392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5257"/>
                </a:solidFill>
                <a:latin typeface="맑은 고딕"/>
              </a:rPr>
              <a:t>Must@5 62%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2331720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37074"/>
                </a:solidFill>
                <a:latin typeface="맑은 고딕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50408" y="1581912"/>
            <a:ext cx="1408176" cy="1956816"/>
          </a:xfrm>
          <a:prstGeom prst="rect">
            <a:avLst/>
          </a:prstGeom>
          <a:solidFill>
            <a:srgbClr val="FBEEE0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171907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4530E"/>
                </a:solidFill>
                <a:latin typeface="맑은 고딕"/>
              </a:rPr>
              <a:t>V3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039112"/>
            <a:ext cx="11155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0282C"/>
                </a:solidFill>
                <a:latin typeface="맑은 고딕"/>
              </a:rPr>
              <a:t>신뢰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487168"/>
            <a:ext cx="1152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7074"/>
                </a:solidFill>
                <a:latin typeface="맑은 고딕"/>
              </a:rPr>
              <a:t>canonical + 결정론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0" y="3017520"/>
            <a:ext cx="1161288" cy="0"/>
          </a:xfrm>
          <a:prstGeom prst="line">
            <a:avLst/>
          </a:prstGeom>
          <a:ln w="10160">
            <a:solidFill>
              <a:srgbClr val="DC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0" y="3136392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4530E"/>
                </a:solidFill>
                <a:latin typeface="맑은 고딕"/>
              </a:rPr>
              <a:t>Region 70.8%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2331720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37074"/>
                </a:solidFill>
                <a:latin typeface="맑은 고딕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1581912"/>
            <a:ext cx="1408176" cy="1956816"/>
          </a:xfrm>
          <a:prstGeom prst="rect">
            <a:avLst/>
          </a:prstGeom>
          <a:solidFill>
            <a:srgbClr val="16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1776" y="171907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V4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6" y="2039112"/>
            <a:ext cx="11155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정합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2487168"/>
            <a:ext cx="1152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맑은 고딕"/>
              </a:rPr>
              <a:t>번역·게이트·배제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51776" y="3017520"/>
            <a:ext cx="1161288" cy="0"/>
          </a:xfrm>
          <a:prstGeom prst="line">
            <a:avLst/>
          </a:prstGeom>
          <a:ln w="10160">
            <a:solidFill>
              <a:srgbClr val="8CCD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51776" y="3136392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Must@5 70%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749039"/>
            <a:ext cx="8138160" cy="658368"/>
          </a:xfrm>
          <a:prstGeom prst="rect">
            <a:avLst/>
          </a:prstGeom>
          <a:solidFill>
            <a:srgbClr val="F4FAF9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3941063"/>
            <a:ext cx="7680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8A7E"/>
                </a:solidFill>
                <a:latin typeface="맑은 고딕"/>
              </a:rPr>
              <a:t>핵심 변화  </a:t>
            </a:r>
            <a:r>
              <a:rPr sz="1200" b="1">
                <a:solidFill>
                  <a:srgbClr val="20282C"/>
                </a:solidFill>
                <a:latin typeface="맑은 고딕"/>
              </a:rPr>
              <a:t>데이터 확보 → 근거 보강 → 검색 구조화 → 운영 신뢰 → 의도 정합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718304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074"/>
                </a:solidFill>
                <a:latin typeface="맑은 고딕"/>
              </a:rPr>
              <a:t>카페인제주  ·  팀 마요선수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471830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0282C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0282C"/>
                </a:solidFill>
                <a:latin typeface="맑은 고딕"/>
              </a:rPr>
              <a:t>06  EVALUATION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0282C"/>
                </a:solidFill>
                <a:latin typeface="맑은 고딕"/>
              </a:rPr>
              <a:t>V4는 정확도를 높이고, 금지조건 노출을 줄였다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074"/>
                </a:solidFill>
                <a:latin typeface="맑은 고딕"/>
              </a:rPr>
              <a:t>Gold 50 · V2는 replay, V3/V4는 live 실행 · Forbidden은 낮을수록 좋음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9961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82C"/>
                </a:solidFill>
                <a:latin typeface="맑은 고딕"/>
              </a:rPr>
              <a:t>Must Hit@5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316736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554480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1554480"/>
            <a:ext cx="422452" cy="173736"/>
          </a:xfrm>
          <a:prstGeom prst="rect">
            <a:avLst/>
          </a:prstGeom>
          <a:solidFill>
            <a:srgbClr val="AA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8956" y="1481328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AAB6B8"/>
                </a:solidFill>
                <a:latin typeface="맑은 고딕"/>
              </a:rPr>
              <a:t>42.0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1316736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1554480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7208" y="1554480"/>
            <a:ext cx="623620" cy="173736"/>
          </a:xfrm>
          <a:prstGeom prst="rect">
            <a:avLst/>
          </a:prstGeom>
          <a:solidFill>
            <a:srgbClr val="4C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5692" y="1481328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C9D95"/>
                </a:solidFill>
                <a:latin typeface="맑은 고딕"/>
              </a:rPr>
              <a:t>62.0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2776" y="1316736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2776" y="1554480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22776" y="1554480"/>
            <a:ext cx="623620" cy="173736"/>
          </a:xfrm>
          <a:prstGeom prst="rect">
            <a:avLst/>
          </a:prstGeom>
          <a:solidFill>
            <a:srgbClr val="E8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1260" y="1481328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8842B"/>
                </a:solidFill>
                <a:latin typeface="맑은 고딕"/>
              </a:rPr>
              <a:t>62.0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1316736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554480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8344" y="1554480"/>
            <a:ext cx="704088" cy="173736"/>
          </a:xfrm>
          <a:prstGeom prst="rect">
            <a:avLst/>
          </a:prstGeom>
          <a:solidFill>
            <a:srgbClr val="16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5" y="1481328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68A7E"/>
                </a:solidFill>
                <a:latin typeface="맑은 고딕"/>
              </a:rPr>
              <a:t>70.0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25856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82C"/>
                </a:solidFill>
                <a:latin typeface="맑은 고딕"/>
              </a:rPr>
              <a:t>NDCG@5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2075687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2313432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91640" y="2313432"/>
            <a:ext cx="477975" cy="173736"/>
          </a:xfrm>
          <a:prstGeom prst="rect">
            <a:avLst/>
          </a:prstGeom>
          <a:solidFill>
            <a:srgbClr val="AA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24479" y="2240279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AAB6B8"/>
                </a:solidFill>
                <a:latin typeface="맑은 고딕"/>
              </a:rPr>
              <a:t>29.7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7208" y="2075687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07208" y="2313432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07208" y="2313432"/>
            <a:ext cx="593847" cy="173736"/>
          </a:xfrm>
          <a:prstGeom prst="rect">
            <a:avLst/>
          </a:prstGeom>
          <a:solidFill>
            <a:srgbClr val="4C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5919" y="2240279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C9D95"/>
                </a:solidFill>
                <a:latin typeface="맑은 고딕"/>
              </a:rPr>
              <a:t>36.9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22776" y="2075687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22776" y="2313432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22776" y="2313432"/>
            <a:ext cx="563270" cy="173736"/>
          </a:xfrm>
          <a:prstGeom prst="rect">
            <a:avLst/>
          </a:prstGeom>
          <a:solidFill>
            <a:srgbClr val="E8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0910" y="2240279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8842B"/>
                </a:solidFill>
                <a:latin typeface="맑은 고딕"/>
              </a:rPr>
              <a:t>35.0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38344" y="2075687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38344" y="2313432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38344" y="2313432"/>
            <a:ext cx="643737" cy="173736"/>
          </a:xfrm>
          <a:prstGeom prst="rect">
            <a:avLst/>
          </a:prstGeom>
          <a:solidFill>
            <a:srgbClr val="16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6945" y="2240279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68A7E"/>
                </a:solidFill>
                <a:latin typeface="맑은 고딕"/>
              </a:rPr>
              <a:t>40.0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0175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82C"/>
                </a:solidFill>
                <a:latin typeface="맑은 고딕"/>
              </a:rPr>
              <a:t>Region@5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2834639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1640" y="3072384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91640" y="3072384"/>
            <a:ext cx="387248" cy="173736"/>
          </a:xfrm>
          <a:prstGeom prst="rect">
            <a:avLst/>
          </a:prstGeom>
          <a:solidFill>
            <a:srgbClr val="AA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33752" y="299923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AAB6B8"/>
                </a:solidFill>
                <a:latin typeface="맑은 고딕"/>
              </a:rPr>
              <a:t>38.5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07208" y="2834639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07208" y="3072384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07208" y="3072384"/>
            <a:ext cx="603503" cy="173736"/>
          </a:xfrm>
          <a:prstGeom prst="rect">
            <a:avLst/>
          </a:prstGeom>
          <a:solidFill>
            <a:srgbClr val="4C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65576" y="299923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C9D95"/>
                </a:solidFill>
                <a:latin typeface="맑은 고딕"/>
              </a:rPr>
              <a:t>60.0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22776" y="2834639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22776" y="3072384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22776" y="3072384"/>
            <a:ext cx="712134" cy="173736"/>
          </a:xfrm>
          <a:prstGeom prst="rect">
            <a:avLst/>
          </a:prstGeom>
          <a:solidFill>
            <a:srgbClr val="E8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9774" y="299923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8842B"/>
                </a:solidFill>
                <a:latin typeface="맑은 고딕"/>
              </a:rPr>
              <a:t>70.8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38344" y="2834639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38344" y="3072384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38344" y="3072384"/>
            <a:ext cx="712134" cy="173736"/>
          </a:xfrm>
          <a:prstGeom prst="rect">
            <a:avLst/>
          </a:prstGeom>
          <a:solidFill>
            <a:srgbClr val="16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05342" y="299923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68A7E"/>
                </a:solidFill>
                <a:latin typeface="맑은 고딕"/>
              </a:rPr>
              <a:t>70.8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37764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82C"/>
                </a:solidFill>
                <a:latin typeface="맑은 고딕"/>
              </a:rPr>
              <a:t>Forbidden@5 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3593591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91640" y="3831335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91640" y="3831335"/>
            <a:ext cx="651784" cy="173736"/>
          </a:xfrm>
          <a:prstGeom prst="rect">
            <a:avLst/>
          </a:prstGeom>
          <a:solidFill>
            <a:srgbClr val="AA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98288" y="3758183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AAB6B8"/>
                </a:solidFill>
                <a:latin typeface="맑은 고딕"/>
              </a:rPr>
              <a:t>24.3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7208" y="3593591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07208" y="3831335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07208" y="3831335"/>
            <a:ext cx="498896" cy="173736"/>
          </a:xfrm>
          <a:prstGeom prst="rect">
            <a:avLst/>
          </a:prstGeom>
          <a:solidFill>
            <a:srgbClr val="4C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60968" y="3758183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C9D95"/>
                </a:solidFill>
                <a:latin typeface="맑은 고딕"/>
              </a:rPr>
              <a:t>18.6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22776" y="3593591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22776" y="3831335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22776" y="3831335"/>
            <a:ext cx="536448" cy="173736"/>
          </a:xfrm>
          <a:prstGeom prst="rect">
            <a:avLst/>
          </a:prstGeom>
          <a:solidFill>
            <a:srgbClr val="E8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14088" y="3758183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8842B"/>
                </a:solidFill>
                <a:latin typeface="맑은 고딕"/>
              </a:rPr>
              <a:t>20.0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38344" y="3593591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637074"/>
                </a:solidFill>
                <a:latin typeface="맑은 고딕"/>
              </a:rPr>
              <a:t>V4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38344" y="3831335"/>
            <a:ext cx="804672" cy="173736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038344" y="3831335"/>
            <a:ext cx="421111" cy="173736"/>
          </a:xfrm>
          <a:prstGeom prst="rect">
            <a:avLst/>
          </a:prstGeom>
          <a:solidFill>
            <a:srgbClr val="16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14319" y="3758183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68A7E"/>
                </a:solidFill>
                <a:latin typeface="맑은 고딕"/>
              </a:rPr>
              <a:t>15.7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73952" y="1362456"/>
            <a:ext cx="2167128" cy="3328416"/>
          </a:xfrm>
          <a:prstGeom prst="rect">
            <a:avLst/>
          </a:prstGeom>
          <a:solidFill>
            <a:srgbClr val="F4FAF9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11696" y="15727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8A7E"/>
                </a:solidFill>
                <a:latin typeface="맑은 고딕"/>
              </a:rPr>
              <a:t>V3 → V4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11696" y="19933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074"/>
                </a:solidFill>
                <a:latin typeface="맑은 고딕"/>
              </a:rPr>
              <a:t>Must@5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44383" y="1965960"/>
            <a:ext cx="658368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8A7E"/>
                </a:solidFill>
                <a:latin typeface="맑은 고딕"/>
              </a:rPr>
              <a:t>+8.0p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6" y="249631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074"/>
                </a:solidFill>
                <a:latin typeface="맑은 고딕"/>
              </a:rPr>
              <a:t>NDCG@5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44383" y="2468880"/>
            <a:ext cx="658368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8A7E"/>
                </a:solidFill>
                <a:latin typeface="맑은 고딕"/>
              </a:rPr>
              <a:t>+5.0p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11696" y="299923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074"/>
                </a:solidFill>
                <a:latin typeface="맑은 고딕"/>
              </a:rPr>
              <a:t>Tag Match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44383" y="2971800"/>
            <a:ext cx="658368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8A7E"/>
                </a:solidFill>
                <a:latin typeface="맑은 고딕"/>
              </a:rPr>
              <a:t>+11.2p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11696" y="350215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074"/>
                </a:solidFill>
                <a:latin typeface="맑은 고딕"/>
              </a:rPr>
              <a:t>Forbidden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44383" y="3474720"/>
            <a:ext cx="658368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8A7E"/>
                </a:solidFill>
                <a:latin typeface="맑은 고딕"/>
              </a:rPr>
              <a:t>−4.3p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711696" y="4059936"/>
            <a:ext cx="1682496" cy="0"/>
          </a:xfrm>
          <a:prstGeom prst="line">
            <a:avLst/>
          </a:prstGeom>
          <a:ln w="10160">
            <a:solidFill>
              <a:srgbClr val="DC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711696" y="4197096"/>
            <a:ext cx="16824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82C"/>
                </a:solidFill>
                <a:latin typeface="맑은 고딕"/>
              </a:rPr>
              <a:t>Must@10 78% · MRR 42.5%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11696" y="4443984"/>
            <a:ext cx="16824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37074"/>
                </a:solidFill>
                <a:latin typeface="맑은 고딕"/>
              </a:rPr>
              <a:t>중복·폐업·비서빙 누수 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4718304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074"/>
                </a:solidFill>
                <a:latin typeface="맑은 고딕"/>
              </a:rPr>
              <a:t>카페인제주  ·  팀 마요선수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92440" y="471830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0282C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0282C"/>
                </a:solidFill>
                <a:latin typeface="맑은 고딕"/>
              </a:rPr>
              <a:t>06  EVALUATION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0282C"/>
                </a:solidFill>
                <a:latin typeface="맑은 고딕"/>
              </a:rPr>
              <a:t>정확도는 코어가, 예외 처리는 에이전트가 책임진다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37074"/>
                </a:solidFill>
                <a:latin typeface="맑은 고딕"/>
              </a:rPr>
              <a:t>V4 /search와 /agent의 Gold 50 순위 지표는 완전히 동일했습니다.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822191" cy="1947672"/>
          </a:xfrm>
          <a:prstGeom prst="rect">
            <a:avLst/>
          </a:prstGeom>
          <a:solidFill>
            <a:srgbClr val="E7F3F1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00200"/>
            <a:ext cx="6858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0F5257"/>
                </a:solidFill>
                <a:latin typeface="맑은 고딕"/>
              </a:rPr>
              <a:t>항상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5257"/>
                </a:solidFill>
                <a:latin typeface="맑은 고딕"/>
              </a:rPr>
              <a:t>/search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134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82C"/>
                </a:solidFill>
                <a:latin typeface="맑은 고딕"/>
              </a:rPr>
              <a:t>태그 번역 · 어휘 게이트 · 하드 배제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60904"/>
            <a:ext cx="2651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5257"/>
                </a:solidFill>
                <a:latin typeface="맑은 고딕"/>
              </a:rPr>
              <a:t>Must@5 70% · NDCG@5 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312724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7074"/>
                </a:solidFill>
                <a:latin typeface="맑은 고딕"/>
              </a:rPr>
              <a:t>평균 1.55초  |  p95 2.27초  (10문항 표본)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0288" y="1417320"/>
            <a:ext cx="4050791" cy="1947672"/>
          </a:xfrm>
          <a:prstGeom prst="rect">
            <a:avLst/>
          </a:prstGeom>
          <a:solidFill>
            <a:srgbClr val="FBEEE0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804672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B4530E"/>
                </a:solidFill>
                <a:latin typeface="맑은 고딕"/>
              </a:rPr>
              <a:t>조건부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88366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4530E"/>
                </a:solidFill>
                <a:latin typeface="맑은 고딕"/>
              </a:rPr>
              <a:t>/agent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3134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82C"/>
                </a:solidFill>
                <a:latin typeface="맑은 고딕"/>
              </a:rPr>
              <a:t>LLM 판단 · 완화 · 외부검색 · 종합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60904"/>
            <a:ext cx="33832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B4530E"/>
                </a:solidFill>
                <a:latin typeface="맑은 고딕"/>
              </a:rPr>
              <a:t>Gold 50: 완화 0 · 외부검색 0 · 순위 변화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990088"/>
            <a:ext cx="315468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7074"/>
                </a:solidFill>
                <a:latin typeface="맑은 고딕"/>
              </a:rPr>
              <a:t>평균 10.39초  |  p95 14.68초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39312"/>
            <a:ext cx="2560320" cy="859536"/>
          </a:xfrm>
          <a:prstGeom prst="rect">
            <a:avLst/>
          </a:prstGeom>
          <a:solidFill>
            <a:srgbClr val="E7F3F1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73075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0F5257"/>
                </a:solidFill>
                <a:latin typeface="맑은 고딕"/>
              </a:rP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12463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82C"/>
                </a:solidFill>
                <a:latin typeface="맑은 고딕"/>
              </a:rPr>
              <a:t>코어 기본값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95928"/>
            <a:ext cx="1783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37074"/>
                </a:solidFill>
                <a:latin typeface="맑은 고딕"/>
              </a:rPr>
              <a:t>V4 guarded search를
기본 검색으로 유지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39" y="3639312"/>
            <a:ext cx="2560320" cy="859536"/>
          </a:xfrm>
          <a:prstGeom prst="rect">
            <a:avLst/>
          </a:prstGeom>
          <a:solidFill>
            <a:srgbClr val="FBEEE0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373075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B4530E"/>
                </a:solidFill>
                <a:latin typeface="맑은 고딕"/>
              </a:rP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3712463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82C"/>
                </a:solidFill>
                <a:latin typeface="맑은 고딕"/>
              </a:rPr>
              <a:t>에이전트 조건부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79" y="3995928"/>
            <a:ext cx="1783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37074"/>
                </a:solidFill>
                <a:latin typeface="맑은 고딕"/>
              </a:rPr>
              <a:t>0건·저신뢰일 때만
판단 루프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3639312"/>
            <a:ext cx="2560320" cy="859536"/>
          </a:xfrm>
          <a:prstGeom prst="rect">
            <a:avLst/>
          </a:prstGeom>
          <a:solidFill>
            <a:srgbClr val="EDF1F0"/>
          </a:solidFill>
          <a:ln w="10160">
            <a:solidFill>
              <a:srgbClr val="DC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8775" y="373075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37074"/>
                </a:solidFill>
                <a:latin typeface="맑은 고딕"/>
              </a:rP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399" y="3712463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82C"/>
                </a:solidFill>
                <a:latin typeface="맑은 고딕"/>
              </a:rPr>
              <a:t>다음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399" y="3995928"/>
            <a:ext cx="1783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37074"/>
                </a:solidFill>
                <a:latin typeface="맑은 고딕"/>
              </a:rPr>
              <a:t>번역 threshold·Kakao·
Human Top-5 평가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53712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37074"/>
                </a:solidFill>
                <a:latin typeface="맑은 고딕"/>
              </a:rPr>
              <a:t>주의: Kakao 키 미설정으로 외부 폴백은 이번 Gold 50에서 미검증 · 미해석 조건 36/50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18304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074"/>
                </a:solidFill>
                <a:latin typeface="맑은 고딕"/>
              </a:rPr>
              <a:t>카페인제주  ·  팀 마요선수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71830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0282C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