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74" r:id="rId3"/>
    <p:sldId id="277" r:id="rId4"/>
    <p:sldId id="276" r:id="rId5"/>
    <p:sldId id="257" r:id="rId6"/>
    <p:sldId id="279" r:id="rId7"/>
    <p:sldId id="259" r:id="rId9"/>
    <p:sldId id="260" r:id="rId10"/>
    <p:sldId id="261" r:id="rId11"/>
    <p:sldId id="262" r:id="rId12"/>
    <p:sldId id="263" r:id="rId13"/>
    <p:sldId id="264" r:id="rId14"/>
    <p:sldId id="265" r:id="rId15"/>
    <p:sldId id="266" r:id="rId16"/>
    <p:sldId id="269" r:id="rId20"/>
    <p:sldId id="283" r:id="rId32"/>
    <p:sldId id="284" r:id="rId33"/>
    <p:sldId id="285" r:id="rId34"/>
    <p:sldId id="270" r:id="rId21"/>
    <p:sldId id="271" r:id="rId22"/>
    <p:sldId id="272" r:id="rId23"/>
    <p:sldId id="273" r:id="rId24"/>
    <p:sldId id="282"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2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5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정보 부족(low)</c:v>
                </c:pt>
              </c:strCache>
            </c:strRef>
          </c:tx>
          <c:spPr>
            <a:solidFill>
              <a:srgbClr val="C3D2CF"/>
            </a:solidFill>
            <a:effectLst/>
          </c:spPr>
          <c:invertIfNegative val="0"/>
          <c:dLbls>
            <c:numFmt formatCode="#,##0" sourceLinked="0"/>
            <c:spPr>
              <a:noFill/>
              <a:ln>
                <a:noFill/>
              </a:ln>
              <a:effectLst/>
            </c:spPr>
            <c:txPr>
              <a:bodyPr/>
              <a:lstStyle/>
              <a:p>
                <a:pPr>
                  <a:defRPr sz="900" b="0" i="0" u="none" strike="noStrike">
                    <a:solidFill>
                      <a:srgbClr val="1F2933"/>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유튜브만</c:v>
                </c:pt>
                <c:pt idx="1">
                  <c:v>네이버 보강 후</c:v>
                </c:pt>
              </c:strCache>
            </c:strRef>
          </c:cat>
          <c:val>
            <c:numRef>
              <c:f>Sheet1!$B$2:$B$3</c:f>
              <c:numCache>
                <c:formatCode>General</c:formatCode>
                <c:ptCount val="2"/>
                <c:pt idx="0">
                  <c:v>667</c:v>
                </c:pt>
                <c:pt idx="1">
                  <c:v>117</c:v>
                </c:pt>
              </c:numCache>
            </c:numRef>
          </c:val>
          <c:extLst>
            <c:ext xmlns:c16="http://schemas.microsoft.com/office/drawing/2014/chart" uri="{C3380CC4-5D6E-409C-BE32-E72D297353CC}">
              <c16:uniqueId val="{00000000-ADC8-46CF-B615-CF6A4CEDB482}"/>
            </c:ext>
          </c:extLst>
        </c:ser>
        <c:ser>
          <c:idx val="1"/>
          <c:order val="1"/>
          <c:tx>
            <c:strRef>
              <c:f>Sheet1!$C$1</c:f>
              <c:strCache>
                <c:ptCount val="1"/>
                <c:pt idx="0">
                  <c:v>정보 풍부(high)</c:v>
                </c:pt>
              </c:strCache>
            </c:strRef>
          </c:tx>
          <c:spPr>
            <a:solidFill>
              <a:srgbClr val="168A7E"/>
            </a:solidFill>
            <a:effectLst/>
          </c:spPr>
          <c:invertIfNegative val="0"/>
          <c:dLbls>
            <c:numFmt formatCode="#,##0" sourceLinked="0"/>
            <c:spPr>
              <a:noFill/>
              <a:ln>
                <a:noFill/>
              </a:ln>
              <a:effectLst/>
            </c:spPr>
            <c:txPr>
              <a:bodyPr/>
              <a:lstStyle/>
              <a:p>
                <a:pPr>
                  <a:defRPr sz="900" b="0" i="0" u="none" strike="noStrike">
                    <a:solidFill>
                      <a:srgbClr val="1F2933"/>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유튜브만</c:v>
                </c:pt>
                <c:pt idx="1">
                  <c:v>네이버 보강 후</c:v>
                </c:pt>
              </c:strCache>
            </c:strRef>
          </c:cat>
          <c:val>
            <c:numRef>
              <c:f>Sheet1!$C$2:$C$3</c:f>
              <c:numCache>
                <c:formatCode>General</c:formatCode>
                <c:ptCount val="2"/>
                <c:pt idx="0">
                  <c:v>397</c:v>
                </c:pt>
                <c:pt idx="1">
                  <c:v>947</c:v>
                </c:pt>
              </c:numCache>
            </c:numRef>
          </c:val>
          <c:extLst>
            <c:ext xmlns:c16="http://schemas.microsoft.com/office/drawing/2014/chart" uri="{C3380CC4-5D6E-409C-BE32-E72D297353CC}">
              <c16:uniqueId val="{00000001-ADC8-46CF-B615-CF6A4CEDB48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7175"/>
                </a:solidFill>
                <a:latin typeface="맑은 고딕"/>
              </a:defRPr>
            </a:pPr>
            <a:endParaRPr lang="en-US"/>
          </a:p>
        </c:txPr>
        <c:crossAx val="2094734552"/>
        <c:crosses val="autoZero"/>
        <c:auto val="1"/>
        <c:lblAlgn val="ctr"/>
        <c:lblOffset val="100"/>
        <c:noMultiLvlLbl val="1"/>
      </c:catAx>
      <c:valAx>
        <c:axId val="2094734552"/>
        <c:scaling>
          <c:orientation val="minMax"/>
          <c:max val="1100"/>
        </c:scaling>
        <c:delete val="0"/>
        <c:axPos val="l"/>
        <c:majorGridlines>
          <c:spPr>
            <a:ln w="6350" cap="flat">
              <a:solidFill>
                <a:srgbClr val="EEF3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9AA9AC"/>
                </a:solidFill>
                <a:latin typeface="맑은 고딕"/>
              </a:defRPr>
            </a:pPr>
            <a:endParaRPr lang="en-US"/>
          </a:p>
        </c:txPr>
        <c:crossAx val="2094734554"/>
        <c:crosses val="autoZero"/>
        <c:crossBetween val="between"/>
      </c:valAx>
      <c:spPr>
        <a:noFill/>
        <a:ln>
          <a:noFill/>
        </a:ln>
        <a:effectLst/>
      </c:spPr>
    </c:plotArea>
    <c:legend>
      <c:legendPos val="b"/>
      <c:overlay val="0"/>
      <c:txPr>
        <a:bodyPr/>
        <a:lstStyle/>
        <a:p>
          <a:pPr>
            <a:defRPr sz="900">
              <a:latin typeface="맑은 고딕"/>
              <a:cs typeface="맑은 고딕"/>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86591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팀 마요선수입니다. 저희가 만든 '카페인제주'는 제주 카페를 추천하는 RAG 검색 서비스입니다. 한 문장으로 말하면, 검색엔진 뒤에 LLM을 붙인 게 아니라 LLM에게 읽을 수 있는 검색 도구를 쥐여준 서비스입니다. 오늘 15분 동안 문제 인식부터 평가 결과, 시연까지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042A4-0F2C-549D-BCEE-F9FAF6101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3CEF00-9C91-4052-5BC4-24AE5A863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C6CB5-C9BE-41D4-DE6F-992D32271125}"/>
              </a:ext>
            </a:extLst>
          </p:cNvPr>
          <p:cNvSpPr>
            <a:spLocks noGrp="1"/>
          </p:cNvSpPr>
          <p:nvPr>
            <p:ph type="body" idx="1"/>
          </p:nvPr>
        </p:nvSpPr>
        <p:spPr/>
        <p:txBody>
          <a:bodyPr/>
          <a:lstStyle/>
          <a:p>
            <a:r>
              <a:rPr lang="en-US" dirty="0"/>
              <a:t>제주 카페 검색에는 세 가지 장벽이 있습니다. 첫째 광고 오염, 둘째 실존 문제 — 폐업과 이름 변형으로 같은 카페가 여러 개로 잡힙니다. 저희 데이터에서만 중복 122그룹이 나왔습니다. 셋째, 왜 이 카페인지 설명이 없다는 것. 이 셋을 모두 데이터 구조로 푸는 것이 저희의 출발점입니다.</a:t>
            </a:r>
          </a:p>
        </p:txBody>
      </p:sp>
      <p:sp>
        <p:nvSpPr>
          <p:cNvPr id="4" name="Slide Number Placeholder 3">
            <a:extLst>
              <a:ext uri="{FF2B5EF4-FFF2-40B4-BE49-F238E27FC236}">
                <a16:creationId xmlns:a16="http://schemas.microsoft.com/office/drawing/2014/main" id="{F52369E5-E1EF-5BEB-E2B2-C5BEFF3348B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516311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53948-D2F5-7295-EDCF-C188C0A3A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5270F-2BF0-DF48-A359-C084B8DD99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44589-9BE5-7AF1-0D06-3EE796FA4AD2}"/>
              </a:ext>
            </a:extLst>
          </p:cNvPr>
          <p:cNvSpPr>
            <a:spLocks noGrp="1"/>
          </p:cNvSpPr>
          <p:nvPr>
            <p:ph type="body" idx="1"/>
          </p:nvPr>
        </p:nvSpPr>
        <p:spPr/>
        <p:txBody>
          <a:bodyPr/>
          <a:lstStyle/>
          <a:p>
            <a:r>
              <a:rPr lang="en-US" dirty="0"/>
              <a:t>제주 카페 검색에는 세 가지 장벽이 있습니다. 첫째 광고 오염, 둘째 실존 문제 — 폐업과 이름 변형으로 같은 카페가 여러 개로 잡힙니다. 저희 데이터에서만 중복 122그룹이 나왔습니다. 셋째, 왜 이 카페인지 설명이 없다는 것. 이 셋을 모두 데이터 구조로 푸는 것이 저희의 출발점입니다.</a:t>
            </a:r>
          </a:p>
        </p:txBody>
      </p:sp>
      <p:sp>
        <p:nvSpPr>
          <p:cNvPr id="4" name="Slide Number Placeholder 3">
            <a:extLst>
              <a:ext uri="{FF2B5EF4-FFF2-40B4-BE49-F238E27FC236}">
                <a16:creationId xmlns:a16="http://schemas.microsoft.com/office/drawing/2014/main" id="{DD94FCF5-3874-8A88-28EC-E29A4B686A4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02017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3E102-743B-36EE-EB2A-6C2682242A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F9BBD-47D5-F249-B624-26B0B1AA8F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B09956-E708-E7CB-0BF5-AAE28AE276B4}"/>
              </a:ext>
            </a:extLst>
          </p:cNvPr>
          <p:cNvSpPr>
            <a:spLocks noGrp="1"/>
          </p:cNvSpPr>
          <p:nvPr>
            <p:ph type="body" idx="1"/>
          </p:nvPr>
        </p:nvSpPr>
        <p:spPr/>
        <p:txBody>
          <a:bodyPr/>
          <a:lstStyle/>
          <a:p>
            <a:r>
              <a:rPr lang="en-US" dirty="0"/>
              <a:t>제주 카페 검색에는 세 가지 장벽이 있습니다. 첫째 광고 오염, 둘째 실존 문제 — 폐업과 이름 변형으로 같은 카페가 여러 개로 잡힙니다. 저희 데이터에서만 중복 122그룹이 나왔습니다. 셋째, 왜 이 카페인지 설명이 없다는 것. 이 셋을 모두 데이터 구조로 푸는 것이 저희의 출발점입니다.</a:t>
            </a:r>
          </a:p>
        </p:txBody>
      </p:sp>
      <p:sp>
        <p:nvSpPr>
          <p:cNvPr id="4" name="Slide Number Placeholder 3">
            <a:extLst>
              <a:ext uri="{FF2B5EF4-FFF2-40B4-BE49-F238E27FC236}">
                <a16:creationId xmlns:a16="http://schemas.microsoft.com/office/drawing/2014/main" id="{282EF3DD-7459-57E2-3CCA-C21C125CF27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498037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제주 카페 검색에는 세 가지 장벽이 있습니다. 첫째 광고 오염, 둘째 실존 문제 — 폐업과 이름 변형으로 같은 카페가 여러 개로 잡힙니다. 저희 데이터에서만 중복 122그룹이 나왔습니다. 셋째, 왜 이 카페인지 설명이 없다는 것. 이 셋을 모두 데이터 구조로 푸는 것이 저희의 출발점입니다.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1D06D-9B1B-4DD9-B8CB-47ED42878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A42650-5457-23BE-70B0-4E936A010C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D4805-401B-9D77-B71D-52067A8FB9E0}"/>
              </a:ext>
            </a:extLst>
          </p:cNvPr>
          <p:cNvSpPr>
            <a:spLocks noGrp="1"/>
          </p:cNvSpPr>
          <p:nvPr>
            <p:ph type="body" idx="1"/>
          </p:nvPr>
        </p:nvSpPr>
        <p:spPr/>
        <p:txBody>
          <a:bodyPr/>
          <a:lstStyle/>
          <a:p>
            <a:r>
              <a:rPr lang="en-US" dirty="0"/>
              <a:t>서비스 화면입니다. 카드 한 장에 좋았던 점과 아쉬운 점이 나란히 붙습니다. 두 인용 모두 실제 발화 원문이고, 코드가 원문 부분문자열인지 검증한 것만 남습니다. 하단에는 '전체 1,064곳에서 어떻게 5곳으로 줄었는지' 검색 깔때기를 그대로 노출합니다. 설명가능성이 기능이 아니라 데이터 구조라는 뜻입니다.</a:t>
            </a:r>
          </a:p>
        </p:txBody>
      </p:sp>
      <p:sp>
        <p:nvSpPr>
          <p:cNvPr id="4" name="Slide Number Placeholder 3">
            <a:extLst>
              <a:ext uri="{FF2B5EF4-FFF2-40B4-BE49-F238E27FC236}">
                <a16:creationId xmlns:a16="http://schemas.microsoft.com/office/drawing/2014/main" id="{BF394B34-7F90-7A89-F8FA-2936EBA022C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442241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중요한 차이는 임베딩의 역할입니다. 통상의 RAG는 카페 1,064곳을 전부 임베딩해 유사도로 줄을 세우기 때문에 왜 0.83점인지 아무도 설명할 수 없습니다. 저희는 임베딩 공간에 카페가 아니라 태그 사전 수십 개만 넣고, 사용자 언어를 통제 어휘로 옮기는 번역기로만 씁니다. 그러면 순위는 태그 충족과 다수결이라는 읽을 수 있는 신호로만 결정됩니다.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두 무대입니다. 왼쪽 배치 타임은 공장 — 무겁고 실수 가능한 LLM 판단을 여기서 전부 끝내 카페마다 카드 한 장을 만듭니다. 오른쪽 런타임은 창구 — 이미 만들어진 카드를 가볍고 예측 가능하게 조회만 합니다. 저장소가 층으로 나뉘어 있다는 점을 봐 주세요. 검색 벡터에 들어가는 것과 표시용으로만 쓰는 것을 물리적으로 분리했습니다.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수집은 특정 유튜버를 따라가는 방식이 아니라 지역과 주제를 곱한 키워드 격자 59개로 그물을 넓게 쳤습니다. 영상 1,359건에서 카페 언급 1,504건, 중복을 걷어낸 고유 카페 1,064곳이 나왔고 이것이 이후 모든 단계의 모집단입니다. 여기서 gpt-5-mini의 출력 토큰 한도 문제와 조용히 에러를 삼키는 코드 문제를 실측으로 배웠습니다.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유튜브만으로는 1,064곳 중 667곳이 정보 부족이었습니다. 네이버 블로그로 보강하자 정보 풍부가 947곳으로 뒤집혔습니다. 이 시점부터 역할 분담이 확정됩니다 — 블로그는 정보, 유튜브는 근거 영상과 화제성, 댓글은 반응. 특히 댓글은 감정 데이터라 검색 임베딩에 넣으면 아무 질문에나 걸리는 만능 자석이 됩니다. 그래서 표시와 정렬 신호로만 씁니다.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실존은 신뢰의 최소 조건입니다. 상호 확인, 유효 후기, 공공 명부 세 신호를 교차해서 유지 876, 보류 134, 제외 49로 갈랐습니다. 중요한 건 자동으로 다 끝내지 않는다는 점입니다. 애매한 것은 사람 검수 큐로 보냅니다. 오른쪽은 파이프라인이 스스로 문제를 재발견한 사례입니다 — 우리가 손으로 발견했던 폐업 의심 카페를 댓글 극성 분리가 독립적으로 잡아냈습니다.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품질에 관한 결정은 회의에서 말로 정하지 않고 전부 실험으로 정했습니다. 임베딩에 넣을 텍스트 형태를 3~4가지로 만들어 같은 문항으로 붙였고, 자연어 요약이 이겼습니다. 지역 정합 18대 11로 밀린 키워드 스팸 데이터는 버리지 않고 라벨층으로 옮겼습니다. 층을 옮기면 독이 약이 된다는 게 이 프로젝트의 반복 원칙입니다.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카페의 이름이 검색을 계속 헛돌게 한 사건이 계기가 되어 이름 조인을 은퇴시켰습니다. place_id를 붙이자 중복 122그룹이 자동으로 드러났습니다. 지역 라벨도 마찬가지입니다 — LLM 추측은 오염율이 24.6%였고, 주소에서 코드로 유도하니 사라졌습니다. 판단은 LLM에게, 사실은 코드에게. 오른쪽 /evidence가 이 원칙의 결정판입니다. 지어낸 인용은 코드가 원문 대조에서 걸러내므로 구조적으로 불가능합니다.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평가는 세 단으로 나눴습니다. Gold는 사람이 만든 실제 질문 50개로, 대표 카페를 찾았는지와 의도를 만족했는지를 분리해서 봅니다. 이 분리가 핵심입니다 — 이름을 맞혔다고 좋은 추천은 아니니까요. Silver는 168개 자동 질의로 유형별 강약을 보고, Bronze는 정확도가 아니라 시스템 건강 — 중복률, 거절률, 결정성을 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 항목 다섯 가지에 대해 저희가 무엇으로 답하는지 정리했습니다. 특히 보안은 별도 슬라이드가 없어 여기서 말씀드립니다 — 모든 API 키는 서버 .env에서만 로드하고, 프론트에는 만료되는 임시 사진 URL만 내려갑니다. 카카오 JS 키는 로컬 설정 파일로 분리해 저장소에 올라가지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시연은 네 장면입니다. 이름 조회, 브라우즈, 조건 검색, 그리고 근거 보기. 세 번째 조건 검색에서 LLM 입력에 조회수 같은 인기 수치가 아예 들어가지 않는다는 점을 봐 주세요 — LLM도 큰 숫자에 홀립니다. 네 번째 근거 보기에서는 부정 또는 혼합 리뷰가 반드시 하나 포함됩니다. 라이브가 실패하면 스크린샷으로 대체하겠습니다.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달을 세 줄로 줄이면 이렇습니다. 첫째, 판단은 LLM에게 맡기되 사실과 강제는 코드가 쥔다. 둘째, 같은 데이터도 어느 층에 두느냐로 독이 되고 약이 된다. 셋째, 언급 횟수가 아니라 언급한 사람 수를 센다 — 도배와 옛글에 오염되지 않는 유일한 신호였습니다.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한계는 숨기지 않겠습니다. 서비스 밖 질문을 거절하지 못하고, 같은 의도의 다른 표현에 결과가 흔들립니다. 카드 정본 병합도 아직 진행 중입니다. 다만 평가가 방향을 명확히 알려줬습니다 — 데이터를 더 넣는 게 아니라 후보를 차단하고, place_id로 병합하고, 태그로 재정렬하는 것. 3주 로드맵으로 잡았습니다.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저희 서비스에서 임베딩은 찾는 도구가 아니라 번역하는 도구이고, LLM은 사실을 만들어내는 존재가 아니라 검증된 증언을 배열하는 존재입니다. 판단은 배치에서 끝나 검수 가능한 데이터로 남고, 런타임은 그것을 투명하게 조회할 뿐입니다. 질문 받겠습니다.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eg"/><Relationship Id="rId4" Type="http://schemas.openxmlformats.org/officeDocument/2006/relationships/image" Target="../media/image3.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5.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jpeg"/><Relationship Id="rId3" Type="http://schemas.openxmlformats.org/officeDocument/2006/relationships/image" Target="../media/image38.jpeg"/><Relationship Id="rId4" Type="http://schemas.openxmlformats.org/officeDocument/2006/relationships/image" Target="../media/image39.jpeg"/><Relationship Id="rId5" Type="http://schemas.openxmlformats.org/officeDocument/2006/relationships/image" Target="../media/image40.jpeg"/><Relationship Id="rId6" Type="http://schemas.openxmlformats.org/officeDocument/2006/relationships/image" Target="../media/image41.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5257"/>
        </a:solidFill>
        <a:effectLst/>
      </p:bgPr>
    </p:bg>
    <p:spTree>
      <p:nvGrpSpPr>
        <p:cNvPr id="1" name=""/>
        <p:cNvGrpSpPr/>
        <p:nvPr/>
      </p:nvGrpSpPr>
      <p:grpSpPr>
        <a:xfrm>
          <a:off x="0" y="0"/>
          <a:ext cx="0" cy="0"/>
          <a:chOff x="0" y="0"/>
          <a:chExt cx="0" cy="0"/>
        </a:xfrm>
      </p:grpSpPr>
      <p:pic>
        <p:nvPicPr>
          <p:cNvPr id="2" name="Image 0" descr="img/hero.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709160" y="0"/>
            <a:ext cx="4434840" cy="3328416"/>
          </a:xfrm>
          <a:prstGeom prst="rect">
            <a:avLst/>
          </a:prstGeom>
        </p:spPr>
      </p:pic>
      <p:sp>
        <p:nvSpPr>
          <p:cNvPr id="3" name="Shape 0"/>
          <p:cNvSpPr/>
          <p:nvPr/>
        </p:nvSpPr>
        <p:spPr>
          <a:xfrm>
            <a:off x="4709160" y="3328416"/>
            <a:ext cx="4434840" cy="1815084"/>
          </a:xfrm>
          <a:prstGeom prst="rect">
            <a:avLst/>
          </a:prstGeom>
          <a:solidFill>
            <a:srgbClr val="0B4247"/>
          </a:solidFill>
          <a:ln w="12700">
            <a:solidFill>
              <a:srgbClr val="333333"/>
            </a:solidFill>
            <a:prstDash val="solid"/>
          </a:ln>
        </p:spPr>
        <p:txBody>
          <a:bodyPr/>
          <a:lstStyle/>
          <a:p>
            <a:endParaRPr lang="ko-KR" altLang="en-US"/>
          </a:p>
        </p:txBody>
      </p:sp>
      <p:sp>
        <p:nvSpPr>
          <p:cNvPr id="4" name="Text 1"/>
          <p:cNvSpPr/>
          <p:nvPr/>
        </p:nvSpPr>
        <p:spPr>
          <a:xfrm>
            <a:off x="548640" y="914400"/>
            <a:ext cx="4023360" cy="320040"/>
          </a:xfrm>
          <a:prstGeom prst="rect">
            <a:avLst/>
          </a:prstGeom>
          <a:noFill/>
          <a:ln/>
        </p:spPr>
        <p:txBody>
          <a:bodyPr wrap="square" lIns="0" tIns="0" rIns="0" bIns="0" rtlCol="0" anchor="ctr"/>
          <a:lstStyle/>
          <a:p>
            <a:pPr marL="0" indent="0">
              <a:buNone/>
            </a:pPr>
            <a:r>
              <a:rPr lang="en-US" sz="1300" b="1" kern="0" spc="300" dirty="0">
                <a:solidFill>
                  <a:srgbClr val="6FD0C0"/>
                </a:solidFill>
                <a:latin typeface="맑은 고딕" pitchFamily="34" charset="0"/>
                <a:ea typeface="맑은 고딕" pitchFamily="34" charset="-122"/>
                <a:cs typeface="맑은 고딕" pitchFamily="34" charset="-120"/>
              </a:rPr>
              <a:t>Caffe in Jeju</a:t>
            </a:r>
            <a:endParaRPr lang="en-US" sz="1300" dirty="0"/>
          </a:p>
        </p:txBody>
      </p:sp>
      <p:sp>
        <p:nvSpPr>
          <p:cNvPr id="5" name="Text 2"/>
          <p:cNvSpPr/>
          <p:nvPr/>
        </p:nvSpPr>
        <p:spPr>
          <a:xfrm>
            <a:off x="548640" y="1298448"/>
            <a:ext cx="4206240" cy="868680"/>
          </a:xfrm>
          <a:prstGeom prst="rect">
            <a:avLst/>
          </a:prstGeom>
          <a:noFill/>
          <a:ln/>
        </p:spPr>
        <p:txBody>
          <a:bodyPr wrap="square" lIns="0" tIns="0" rIns="0" bIns="0" rtlCol="0" anchor="ctr"/>
          <a:lstStyle/>
          <a:p>
            <a:pPr marL="0" indent="0">
              <a:buNone/>
            </a:pPr>
            <a:r>
              <a:rPr lang="en-US" sz="4600" b="1" dirty="0">
                <a:solidFill>
                  <a:srgbClr val="FFFFFF"/>
                </a:solidFill>
                <a:latin typeface="맑은 고딕" pitchFamily="34" charset="0"/>
                <a:ea typeface="맑은 고딕" pitchFamily="34" charset="-122"/>
                <a:cs typeface="맑은 고딕" pitchFamily="34" charset="-120"/>
              </a:rPr>
              <a:t>카페인제주</a:t>
            </a:r>
            <a:endParaRPr lang="en-US" sz="4600" dirty="0"/>
          </a:p>
        </p:txBody>
      </p:sp>
      <p:sp>
        <p:nvSpPr>
          <p:cNvPr id="6" name="Text 3"/>
          <p:cNvSpPr/>
          <p:nvPr/>
        </p:nvSpPr>
        <p:spPr>
          <a:xfrm>
            <a:off x="548640" y="2240280"/>
            <a:ext cx="4114800" cy="822960"/>
          </a:xfrm>
          <a:prstGeom prst="rect">
            <a:avLst/>
          </a:prstGeom>
          <a:noFill/>
          <a:ln/>
        </p:spPr>
        <p:txBody>
          <a:bodyPr wrap="square" lIns="0" tIns="0" rIns="0" bIns="0" rtlCol="0" anchor="ctr"/>
          <a:lstStyle/>
          <a:p>
            <a:pPr marL="0" indent="0">
              <a:lnSpc>
                <a:spcPts val="2600"/>
              </a:lnSpc>
              <a:buNone/>
            </a:pPr>
            <a:r>
              <a:rPr lang="en-US" sz="1500" dirty="0">
                <a:solidFill>
                  <a:srgbClr val="BFE0DA"/>
                </a:solidFill>
                <a:latin typeface="맑은 고딕" pitchFamily="34" charset="0"/>
                <a:ea typeface="맑은 고딕" pitchFamily="34" charset="-122"/>
                <a:cs typeface="맑은 고딕" pitchFamily="34" charset="-120"/>
              </a:rPr>
              <a:t>모든 추천에 원문 인용을 붙이는</a:t>
            </a:r>
            <a:endParaRPr lang="en-US" sz="1500" dirty="0"/>
          </a:p>
          <a:p>
            <a:pPr marL="0" indent="0">
              <a:lnSpc>
                <a:spcPts val="2600"/>
              </a:lnSpc>
              <a:buNone/>
            </a:pPr>
            <a:r>
              <a:rPr lang="en-US" sz="1500" dirty="0">
                <a:solidFill>
                  <a:srgbClr val="BFE0DA"/>
                </a:solidFill>
                <a:latin typeface="맑은 고딕" pitchFamily="34" charset="0"/>
                <a:ea typeface="맑은 고딕" pitchFamily="34" charset="-122"/>
                <a:cs typeface="맑은 고딕" pitchFamily="34" charset="-120"/>
              </a:rPr>
              <a:t>제주 카페 RAG 검색 서비스</a:t>
            </a:r>
            <a:endParaRPr lang="en-US" sz="1500" dirty="0"/>
          </a:p>
        </p:txBody>
      </p:sp>
      <p:sp>
        <p:nvSpPr>
          <p:cNvPr id="7" name="Shape 4"/>
          <p:cNvSpPr/>
          <p:nvPr/>
        </p:nvSpPr>
        <p:spPr>
          <a:xfrm>
            <a:off x="548640" y="3246120"/>
            <a:ext cx="1600200" cy="384048"/>
          </a:xfrm>
          <a:prstGeom prst="roundRect">
            <a:avLst>
              <a:gd name="adj" fmla="val 50000"/>
            </a:avLst>
          </a:prstGeom>
          <a:solidFill>
            <a:srgbClr val="E8842B"/>
          </a:solidFill>
          <a:ln w="12700">
            <a:solidFill>
              <a:srgbClr val="333333"/>
            </a:solidFill>
            <a:prstDash val="solid"/>
          </a:ln>
        </p:spPr>
        <p:txBody>
          <a:bodyPr/>
          <a:lstStyle/>
          <a:p>
            <a:endParaRPr lang="ko-KR" altLang="en-US"/>
          </a:p>
        </p:txBody>
      </p:sp>
      <p:sp>
        <p:nvSpPr>
          <p:cNvPr id="8" name="Text 5"/>
          <p:cNvSpPr/>
          <p:nvPr/>
        </p:nvSpPr>
        <p:spPr>
          <a:xfrm>
            <a:off x="548640" y="3246120"/>
            <a:ext cx="160020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팀  마요선수</a:t>
            </a:r>
            <a:endParaRPr lang="en-US" sz="1200" dirty="0"/>
          </a:p>
        </p:txBody>
      </p:sp>
      <p:sp>
        <p:nvSpPr>
          <p:cNvPr id="9" name="Text 6"/>
          <p:cNvSpPr/>
          <p:nvPr/>
        </p:nvSpPr>
        <p:spPr>
          <a:xfrm>
            <a:off x="548640" y="3886200"/>
            <a:ext cx="4206240" cy="274320"/>
          </a:xfrm>
          <a:prstGeom prst="rect">
            <a:avLst/>
          </a:prstGeom>
          <a:noFill/>
          <a:ln/>
        </p:spPr>
        <p:txBody>
          <a:bodyPr wrap="square" lIns="0" tIns="0" rIns="0" bIns="0" rtlCol="0" anchor="ctr"/>
          <a:lstStyle/>
          <a:p>
            <a:pPr marL="0" indent="0">
              <a:buNone/>
            </a:pPr>
            <a:r>
              <a:rPr lang="en-US" sz="1000" dirty="0">
                <a:solidFill>
                  <a:srgbClr val="7FA9A4"/>
                </a:solidFill>
                <a:latin typeface="맑은 고딕" pitchFamily="34" charset="0"/>
                <a:ea typeface="맑은 고딕" pitchFamily="34" charset="-122"/>
                <a:cs typeface="맑은 고딕" pitchFamily="34" charset="-120"/>
              </a:rPr>
              <a:t>gpt-5-mini  ·  text-embedding-3-large  ·  Chroma  ·  FastAPI</a:t>
            </a:r>
            <a:endParaRPr lang="en-US" sz="1000" dirty="0"/>
          </a:p>
        </p:txBody>
      </p:sp>
      <p:sp>
        <p:nvSpPr>
          <p:cNvPr id="10" name="Text 7"/>
          <p:cNvSpPr/>
          <p:nvPr/>
        </p:nvSpPr>
        <p:spPr>
          <a:xfrm>
            <a:off x="548640" y="4206240"/>
            <a:ext cx="4206240" cy="274320"/>
          </a:xfrm>
          <a:prstGeom prst="rect">
            <a:avLst/>
          </a:prstGeom>
          <a:noFill/>
          <a:ln/>
        </p:spPr>
        <p:txBody>
          <a:bodyPr wrap="square" lIns="0" tIns="0" rIns="0" bIns="0" rtlCol="0" anchor="ctr"/>
          <a:lstStyle/>
          <a:p>
            <a:pPr marL="0" indent="0">
              <a:buNone/>
            </a:pPr>
            <a:r>
              <a:rPr lang="en-US" sz="1000" dirty="0">
                <a:solidFill>
                  <a:srgbClr val="7FA9A4"/>
                </a:solidFill>
                <a:latin typeface="맑은 고딕" pitchFamily="34" charset="0"/>
                <a:ea typeface="맑은 고딕" pitchFamily="34" charset="-122"/>
                <a:cs typeface="맑은 고딕" pitchFamily="34" charset="-120"/>
              </a:rPr>
              <a:t>2026. 07. 09</a:t>
            </a:r>
            <a:endParaRPr lang="en-US" sz="1000" dirty="0"/>
          </a:p>
        </p:txBody>
      </p:sp>
      <p:sp>
        <p:nvSpPr>
          <p:cNvPr id="11" name="Text 8"/>
          <p:cNvSpPr/>
          <p:nvPr/>
        </p:nvSpPr>
        <p:spPr>
          <a:xfrm>
            <a:off x="5036820" y="3703320"/>
            <a:ext cx="3749040" cy="868680"/>
          </a:xfrm>
          <a:prstGeom prst="rect">
            <a:avLst/>
          </a:prstGeom>
          <a:noFill/>
          <a:ln/>
        </p:spPr>
        <p:txBody>
          <a:bodyPr wrap="square" lIns="0" tIns="0" rIns="0" bIns="0" rtlCol="0" anchor="ctr"/>
          <a:lstStyle/>
          <a:p>
            <a:pPr marL="0" indent="0">
              <a:lnSpc>
                <a:spcPts val="2400"/>
              </a:lnSpc>
              <a:buNone/>
            </a:pPr>
            <a:r>
              <a:rPr lang="en-US" sz="1400" dirty="0">
                <a:solidFill>
                  <a:srgbClr val="9FCFC7"/>
                </a:solidFill>
                <a:latin typeface="맑은 고딕" pitchFamily="34" charset="0"/>
                <a:ea typeface="맑은 고딕" pitchFamily="34" charset="-122"/>
                <a:cs typeface="맑은 고딕" pitchFamily="34" charset="-120"/>
              </a:rPr>
              <a:t>“</a:t>
            </a:r>
            <a:r>
              <a:rPr lang="ko-KR" altLang="en-US" sz="1400" dirty="0" err="1">
                <a:solidFill>
                  <a:srgbClr val="9FCFC7"/>
                </a:solidFill>
                <a:latin typeface="맑은 고딕" pitchFamily="34" charset="0"/>
                <a:ea typeface="맑은 고딕" pitchFamily="34" charset="-122"/>
                <a:cs typeface="맑은 고딕" pitchFamily="34" charset="-120"/>
              </a:rPr>
              <a:t>진진가는</a:t>
            </a:r>
            <a:r>
              <a:rPr lang="ko-KR" altLang="en-US" sz="1400" dirty="0">
                <a:solidFill>
                  <a:srgbClr val="9FCFC7"/>
                </a:solidFill>
                <a:latin typeface="맑은 고딕" pitchFamily="34" charset="0"/>
                <a:ea typeface="맑은 고딕" pitchFamily="34" charset="-122"/>
                <a:cs typeface="맑은 고딕" pitchFamily="34" charset="-120"/>
              </a:rPr>
              <a:t>　제주도　카페에서도　계속된다，</a:t>
            </a:r>
            <a:endParaRPr lang="en-US" altLang="ko-KR" sz="1400" dirty="0">
              <a:solidFill>
                <a:srgbClr val="9FCFC7"/>
              </a:solidFill>
              <a:latin typeface="맑은 고딕" pitchFamily="34" charset="0"/>
              <a:ea typeface="맑은 고딕" pitchFamily="34" charset="-122"/>
              <a:cs typeface="맑은 고딕" pitchFamily="34" charset="-120"/>
            </a:endParaRPr>
          </a:p>
          <a:p>
            <a:pPr marL="0" indent="0">
              <a:lnSpc>
                <a:spcPts val="2400"/>
              </a:lnSpc>
              <a:buNone/>
            </a:pPr>
            <a:r>
              <a:rPr lang="en-US" sz="1400" dirty="0">
                <a:solidFill>
                  <a:srgbClr val="9FCFC7"/>
                </a:solidFill>
                <a:latin typeface="맑은 고딕" pitchFamily="34" charset="0"/>
                <a:ea typeface="맑은 고딕" pitchFamily="34" charset="-122"/>
                <a:cs typeface="맑은 고딕" pitchFamily="34" charset="-120"/>
              </a:rPr>
              <a:t> </a:t>
            </a:r>
            <a:r>
              <a:rPr lang="ko-KR" altLang="en-US" sz="1400" dirty="0">
                <a:solidFill>
                  <a:srgbClr val="9FCFC7"/>
                </a:solidFill>
                <a:latin typeface="맑은 고딕" pitchFamily="34" charset="0"/>
                <a:ea typeface="맑은 고딕" pitchFamily="34" charset="-122"/>
                <a:cs typeface="맑은 고딕" pitchFamily="34" charset="-120"/>
              </a:rPr>
              <a:t>믿을　수　있는　제주　카페　정보．．．</a:t>
            </a:r>
            <a:endParaRPr lang="en-US" altLang="ko-KR" sz="1400" dirty="0">
              <a:solidFill>
                <a:srgbClr val="9FCFC7"/>
              </a:solidFill>
              <a:latin typeface="맑은 고딕" pitchFamily="34" charset="0"/>
              <a:ea typeface="맑은 고딕" pitchFamily="34" charset="-122"/>
              <a:cs typeface="맑은 고딕" pitchFamily="34" charset="-120"/>
            </a:endParaRPr>
          </a:p>
          <a:p>
            <a:pPr marL="0" indent="0">
              <a:lnSpc>
                <a:spcPts val="2400"/>
              </a:lnSpc>
              <a:buNone/>
            </a:pPr>
            <a:r>
              <a:rPr lang="ko-KR" altLang="en-US" sz="1400" dirty="0">
                <a:solidFill>
                  <a:srgbClr val="9FCFC7"/>
                </a:solidFill>
                <a:latin typeface="맑은 고딕" pitchFamily="34" charset="0"/>
                <a:ea typeface="맑은 고딕" pitchFamily="34" charset="-122"/>
                <a:cs typeface="맑은 고딕" pitchFamily="34" charset="-120"/>
              </a:rPr>
              <a:t>답이　없어서　내가　직접　만들었다！</a:t>
            </a:r>
            <a:r>
              <a:rPr lang="en-US" sz="1400" dirty="0">
                <a:solidFill>
                  <a:srgbClr val="9FCFC7"/>
                </a:solidFill>
                <a:latin typeface="맑은 고딕" pitchFamily="34" charset="0"/>
                <a:ea typeface="맑은 고딕" pitchFamily="34" charset="-122"/>
                <a:cs typeface="맑은 고딕" pitchFamily="34" charset="-120"/>
              </a:rPr>
              <a: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CB1F2F1D-3152-4458-B981-5D395D0528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78BADB0-9226-7E46-726B-1A83B3A9ED1C}"/>
              </a:ext>
            </a:extLst>
          </p:cNvPr>
          <p:cNvSpPr/>
          <p:nvPr/>
        </p:nvSpPr>
        <p:spPr>
          <a:xfrm>
            <a:off x="502920" y="274320"/>
            <a:ext cx="7315200" cy="256032"/>
          </a:xfrm>
          <a:prstGeom prst="rect">
            <a:avLst/>
          </a:prstGeom>
          <a:noFill/>
          <a:ln/>
        </p:spPr>
        <p:txBody>
          <a:bodyPr wrap="square" lIns="0" tIns="0" rIns="0" bIns="0" rtlCol="0" anchor="ctr"/>
          <a:lstStyle/>
          <a:p>
            <a:pPr marL="0" indent="0">
              <a:buNone/>
            </a:pPr>
            <a:r>
              <a:rPr lang="ko-KR" altLang="en-US" sz="1100" b="1" kern="0" spc="200" dirty="0">
                <a:solidFill>
                  <a:srgbClr val="168A7E"/>
                </a:solidFill>
                <a:latin typeface="맑은 고딕" pitchFamily="34" charset="0"/>
                <a:ea typeface="맑은 고딕" pitchFamily="34" charset="-122"/>
                <a:cs typeface="맑은 고딕" pitchFamily="34" charset="-120"/>
              </a:rPr>
              <a:t>ＩＮＴＲＯ</a:t>
            </a:r>
            <a:endParaRPr lang="en-US" sz="1100" dirty="0"/>
          </a:p>
        </p:txBody>
      </p:sp>
      <p:sp>
        <p:nvSpPr>
          <p:cNvPr id="3" name="Text 1">
            <a:extLst>
              <a:ext uri="{FF2B5EF4-FFF2-40B4-BE49-F238E27FC236}">
                <a16:creationId xmlns:a16="http://schemas.microsoft.com/office/drawing/2014/main" id="{30D0DC57-F293-A53D-9A19-E509F5B85798}"/>
              </a:ext>
            </a:extLst>
          </p:cNvPr>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err="1">
                <a:solidFill>
                  <a:schemeClr val="bg1"/>
                </a:solidFill>
                <a:latin typeface="맑은 고딕" pitchFamily="34" charset="0"/>
                <a:ea typeface="맑은 고딕" pitchFamily="34" charset="-122"/>
                <a:cs typeface="맑은 고딕" pitchFamily="34" charset="-120"/>
              </a:rPr>
              <a:t>제주</a:t>
            </a:r>
            <a:r>
              <a:rPr lang="ko-KR" altLang="en-US" sz="2700" b="1" dirty="0">
                <a:solidFill>
                  <a:schemeClr val="bg1"/>
                </a:solidFill>
                <a:latin typeface="맑은 고딕" pitchFamily="34" charset="0"/>
                <a:ea typeface="맑은 고딕" pitchFamily="34" charset="-122"/>
                <a:cs typeface="맑은 고딕" pitchFamily="34" charset="-120"/>
              </a:rPr>
              <a:t>　여행　중　마주한　불편한　진실．．．</a:t>
            </a:r>
            <a:endParaRPr lang="en-US" sz="2700" dirty="0">
              <a:solidFill>
                <a:schemeClr val="bg1"/>
              </a:solidFill>
            </a:endParaRPr>
          </a:p>
        </p:txBody>
      </p:sp>
      <p:sp>
        <p:nvSpPr>
          <p:cNvPr id="29" name="Text 24">
            <a:extLst>
              <a:ext uri="{FF2B5EF4-FFF2-40B4-BE49-F238E27FC236}">
                <a16:creationId xmlns:a16="http://schemas.microsoft.com/office/drawing/2014/main" id="{5D17520C-E654-0A40-5A14-D6950ED3DF58}"/>
              </a:ext>
            </a:extLst>
          </p:cNvPr>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02</a:t>
            </a:r>
            <a:endParaRPr lang="en-US" sz="1100" dirty="0"/>
          </a:p>
        </p:txBody>
      </p:sp>
      <p:pic>
        <p:nvPicPr>
          <p:cNvPr id="35" name="그림 34">
            <a:extLst>
              <a:ext uri="{FF2B5EF4-FFF2-40B4-BE49-F238E27FC236}">
                <a16:creationId xmlns:a16="http://schemas.microsoft.com/office/drawing/2014/main" id="{1690C7AD-4BD2-B110-16A4-7DB49BA730C6}"/>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2751070" y="1290240"/>
            <a:ext cx="5974209" cy="3684096"/>
          </a:xfrm>
          <a:prstGeom prst="rect">
            <a:avLst/>
          </a:prstGeom>
        </p:spPr>
      </p:pic>
      <p:sp>
        <p:nvSpPr>
          <p:cNvPr id="37" name="Text 5">
            <a:extLst>
              <a:ext uri="{FF2B5EF4-FFF2-40B4-BE49-F238E27FC236}">
                <a16:creationId xmlns:a16="http://schemas.microsoft.com/office/drawing/2014/main" id="{AA4B682D-34E4-4DCD-68F0-D540777BAE4B}"/>
              </a:ext>
            </a:extLst>
          </p:cNvPr>
          <p:cNvSpPr/>
          <p:nvPr/>
        </p:nvSpPr>
        <p:spPr>
          <a:xfrm>
            <a:off x="502919" y="1486337"/>
            <a:ext cx="5866566" cy="3108523"/>
          </a:xfrm>
          <a:prstGeom prst="rect">
            <a:avLst/>
          </a:prstGeom>
          <a:solidFill>
            <a:schemeClr val="tx1">
              <a:lumMod val="85000"/>
              <a:lumOff val="15000"/>
              <a:alpha val="60000"/>
            </a:schemeClr>
          </a:solidFill>
          <a:ln/>
        </p:spPr>
        <p:txBody>
          <a:bodyPr wrap="square" lIns="0" tIns="0" rIns="0" bIns="0" rtlCol="0" anchor="ctr"/>
          <a:lstStyle/>
          <a:p>
            <a:pPr marL="180975">
              <a:lnSpc>
                <a:spcPts val="1700"/>
              </a:lnSpc>
              <a:buNone/>
            </a:pPr>
            <a:r>
              <a:rPr lang="ko-KR" altLang="en-US" sz="1100" dirty="0">
                <a:solidFill>
                  <a:schemeClr val="bg1"/>
                </a:solidFill>
                <a:latin typeface="맑은 고딕" pitchFamily="34" charset="0"/>
                <a:ea typeface="맑은 고딕" pitchFamily="34" charset="-122"/>
                <a:cs typeface="맑은 고딕" pitchFamily="34" charset="-120"/>
              </a:rPr>
              <a:t>２０２６년　７월　제주</a:t>
            </a:r>
            <a:r>
              <a:rPr lang="en-US" sz="1100" dirty="0">
                <a:solidFill>
                  <a:schemeClr val="bg1"/>
                </a:solidFill>
                <a:latin typeface="맑은 고딕" pitchFamily="34" charset="0"/>
                <a:ea typeface="맑은 고딕" pitchFamily="34" charset="-122"/>
                <a:cs typeface="맑은 고딕" pitchFamily="34" charset="-120"/>
              </a:rPr>
              <a:t>.</a:t>
            </a:r>
          </a:p>
          <a:p>
            <a:pPr marL="180975">
              <a:lnSpc>
                <a:spcPts val="1700"/>
              </a:lnSpc>
              <a:buNone/>
            </a:pPr>
            <a:r>
              <a:rPr lang="ko-KR" altLang="en-US" sz="1100" dirty="0">
                <a:solidFill>
                  <a:schemeClr val="bg1"/>
                </a:solidFill>
                <a:latin typeface="맑은 고딕" pitchFamily="34" charset="0"/>
                <a:ea typeface="맑은 고딕" pitchFamily="34" charset="-122"/>
              </a:rPr>
              <a:t>부푼　마음으로　３주간의　제주　</a:t>
            </a:r>
            <a:r>
              <a:rPr lang="ko-KR" altLang="en-US" sz="1100" dirty="0" err="1">
                <a:solidFill>
                  <a:schemeClr val="bg1"/>
                </a:solidFill>
                <a:latin typeface="맑은 고딕" pitchFamily="34" charset="0"/>
                <a:ea typeface="맑은 고딕" pitchFamily="34" charset="-122"/>
              </a:rPr>
              <a:t>런케이션에</a:t>
            </a:r>
            <a:r>
              <a:rPr lang="ko-KR" altLang="en-US" sz="1100" dirty="0">
                <a:solidFill>
                  <a:schemeClr val="bg1"/>
                </a:solidFill>
                <a:latin typeface="맑은 고딕" pitchFamily="34" charset="0"/>
                <a:ea typeface="맑은 고딕" pitchFamily="34" charset="-122"/>
              </a:rPr>
              <a:t>　참여하여</a:t>
            </a:r>
            <a:endParaRPr lang="en-US" altLang="ko-KR" sz="1100" dirty="0">
              <a:solidFill>
                <a:schemeClr val="bg1"/>
              </a:solidFill>
              <a:latin typeface="맑은 고딕" pitchFamily="34" charset="0"/>
              <a:ea typeface="맑은 고딕" pitchFamily="34" charset="-122"/>
            </a:endParaRPr>
          </a:p>
          <a:p>
            <a:pPr marL="180975">
              <a:lnSpc>
                <a:spcPts val="1700"/>
              </a:lnSpc>
              <a:buNone/>
            </a:pPr>
            <a:r>
              <a:rPr lang="ko-KR" altLang="en-US" sz="1100" dirty="0">
                <a:solidFill>
                  <a:schemeClr val="bg1"/>
                </a:solidFill>
                <a:latin typeface="맑은 고딕" pitchFamily="34" charset="0"/>
                <a:ea typeface="맑은 고딕" pitchFamily="34" charset="-122"/>
              </a:rPr>
              <a:t>멋진　제주　여행을　기대하며　네이버　추천　카페를　찾았는데．．．</a:t>
            </a:r>
            <a:endParaRPr lang="en-US" altLang="ko-KR" sz="1100" dirty="0">
              <a:solidFill>
                <a:schemeClr val="bg1"/>
              </a:solidFill>
              <a:latin typeface="맑은 고딕" pitchFamily="34" charset="0"/>
              <a:ea typeface="맑은 고딕" pitchFamily="34" charset="-122"/>
            </a:endParaRPr>
          </a:p>
          <a:p>
            <a:pPr marL="180975">
              <a:lnSpc>
                <a:spcPts val="1700"/>
              </a:lnSpc>
              <a:buNone/>
            </a:pPr>
            <a:endParaRPr lang="en-US" sz="1100" dirty="0">
              <a:solidFill>
                <a:schemeClr val="bg1"/>
              </a:solidFill>
            </a:endParaRPr>
          </a:p>
          <a:p>
            <a:pPr marL="180975">
              <a:lnSpc>
                <a:spcPts val="1700"/>
              </a:lnSpc>
              <a:buNone/>
            </a:pPr>
            <a:r>
              <a:rPr lang="ko-KR" altLang="en-US" sz="1100" dirty="0">
                <a:solidFill>
                  <a:schemeClr val="bg1"/>
                </a:solidFill>
              </a:rPr>
              <a:t>좁은　도로와　주차장으로　인해　카페　초입부터　스트레스　가득，</a:t>
            </a:r>
            <a:endParaRPr lang="en-US" altLang="ko-KR" sz="1100" dirty="0">
              <a:solidFill>
                <a:schemeClr val="bg1"/>
              </a:solidFill>
            </a:endParaRPr>
          </a:p>
          <a:p>
            <a:pPr marL="180975">
              <a:lnSpc>
                <a:spcPts val="1700"/>
              </a:lnSpc>
              <a:buNone/>
            </a:pPr>
            <a:r>
              <a:rPr lang="ko-KR" altLang="en-US" sz="1100" dirty="0">
                <a:solidFill>
                  <a:schemeClr val="bg1"/>
                </a:solidFill>
              </a:rPr>
              <a:t>카페　안은　이미　많은　사람들로　가득하고　</a:t>
            </a:r>
            <a:r>
              <a:rPr lang="ko-KR" altLang="en-US" sz="1100" dirty="0" err="1">
                <a:solidFill>
                  <a:schemeClr val="bg1"/>
                </a:solidFill>
              </a:rPr>
              <a:t>웨이팅도</a:t>
            </a:r>
            <a:r>
              <a:rPr lang="ko-KR" altLang="en-US" sz="1100" dirty="0">
                <a:solidFill>
                  <a:schemeClr val="bg1"/>
                </a:solidFill>
              </a:rPr>
              <a:t>　만만치　않은　상황　</a:t>
            </a:r>
            <a:r>
              <a:rPr lang="ko-KR" altLang="en-US" sz="1100" dirty="0" err="1">
                <a:solidFill>
                  <a:schemeClr val="bg1"/>
                </a:solidFill>
              </a:rPr>
              <a:t>ㅠ</a:t>
            </a:r>
            <a:endParaRPr lang="en-US" altLang="ko-KR" sz="1100" dirty="0">
              <a:solidFill>
                <a:schemeClr val="bg1"/>
              </a:solidFill>
            </a:endParaRPr>
          </a:p>
          <a:p>
            <a:pPr marL="180975">
              <a:lnSpc>
                <a:spcPts val="1700"/>
              </a:lnSpc>
              <a:buNone/>
            </a:pPr>
            <a:r>
              <a:rPr lang="ko-KR" altLang="en-US" sz="1100" dirty="0">
                <a:solidFill>
                  <a:schemeClr val="bg1"/>
                </a:solidFill>
              </a:rPr>
              <a:t>고생　끝에　겨우　받아　든　커피　한　잔은　내　취향에는　안　맞기까지．．．</a:t>
            </a:r>
            <a:endParaRPr lang="en-US" altLang="ko-KR" sz="1100" dirty="0">
              <a:solidFill>
                <a:schemeClr val="bg1"/>
              </a:solidFill>
            </a:endParaRPr>
          </a:p>
          <a:p>
            <a:pPr marL="180975">
              <a:lnSpc>
                <a:spcPts val="1700"/>
              </a:lnSpc>
              <a:buNone/>
            </a:pPr>
            <a:endParaRPr lang="en-US" altLang="ko-KR" sz="1100" dirty="0">
              <a:solidFill>
                <a:schemeClr val="bg1"/>
              </a:solidFill>
            </a:endParaRPr>
          </a:p>
          <a:p>
            <a:pPr marL="180975">
              <a:lnSpc>
                <a:spcPts val="1700"/>
              </a:lnSpc>
              <a:buNone/>
            </a:pPr>
            <a:r>
              <a:rPr lang="ko-KR" altLang="en-US" sz="1100" dirty="0">
                <a:solidFill>
                  <a:schemeClr val="bg1"/>
                </a:solidFill>
              </a:rPr>
              <a:t>제주　여행에는　좋은　일만　있을　줄　알았는데，</a:t>
            </a:r>
            <a:endParaRPr lang="en-US" altLang="ko-KR" sz="1100" dirty="0">
              <a:solidFill>
                <a:schemeClr val="bg1"/>
              </a:solidFill>
            </a:endParaRPr>
          </a:p>
          <a:p>
            <a:pPr marL="180975">
              <a:lnSpc>
                <a:spcPts val="1700"/>
              </a:lnSpc>
              <a:buNone/>
            </a:pPr>
            <a:r>
              <a:rPr lang="ko-KR" altLang="en-US" sz="1100" dirty="0">
                <a:solidFill>
                  <a:schemeClr val="bg1"/>
                </a:solidFill>
              </a:rPr>
              <a:t>실망감을　머리에　이고　도망치듯　카페를　빠져나오는　내　머리　속엔　온통　한가지　생각　뿐이다．</a:t>
            </a:r>
            <a:endParaRPr lang="en-US" altLang="ko-KR" sz="1100" dirty="0">
              <a:solidFill>
                <a:schemeClr val="bg1"/>
              </a:solidFill>
            </a:endParaRPr>
          </a:p>
          <a:p>
            <a:pPr marL="180975">
              <a:lnSpc>
                <a:spcPts val="1700"/>
              </a:lnSpc>
              <a:buNone/>
            </a:pPr>
            <a:endParaRPr lang="en-US" altLang="ko-KR" sz="1100" dirty="0">
              <a:solidFill>
                <a:schemeClr val="bg1"/>
              </a:solidFill>
            </a:endParaRPr>
          </a:p>
          <a:p>
            <a:pPr marL="180975">
              <a:lnSpc>
                <a:spcPts val="1700"/>
              </a:lnSpc>
              <a:buNone/>
            </a:pPr>
            <a:r>
              <a:rPr lang="ko-KR" altLang="en-US" sz="1400" b="1" dirty="0">
                <a:solidFill>
                  <a:schemeClr val="bg1"/>
                </a:solidFill>
              </a:rPr>
              <a:t>＇믿을　만한　제주　카페　정보는　어디서　어떻게　찾지？？？＇　</a:t>
            </a:r>
            <a:endParaRPr lang="en-US" sz="1400" b="1" dirty="0">
              <a:solidFill>
                <a:schemeClr val="bg1"/>
              </a:solidFill>
            </a:endParaRPr>
          </a:p>
        </p:txBody>
      </p:sp>
    </p:spTree>
    <p:extLst>
      <p:ext uri="{BB962C8B-B14F-4D97-AF65-F5344CB8AC3E}">
        <p14:creationId xmlns:p14="http://schemas.microsoft.com/office/powerpoint/2010/main" val="1647718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5CF01-5391-4C05-C7D4-E0609116EC6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D7B2CC5-C0B7-7795-DDE4-6721F76EF38A}"/>
              </a:ext>
            </a:extLst>
          </p:cNvPr>
          <p:cNvSpPr/>
          <p:nvPr/>
        </p:nvSpPr>
        <p:spPr>
          <a:xfrm>
            <a:off x="502920" y="274320"/>
            <a:ext cx="7315200" cy="256032"/>
          </a:xfrm>
          <a:prstGeom prst="rect">
            <a:avLst/>
          </a:prstGeom>
          <a:noFill/>
          <a:ln/>
        </p:spPr>
        <p:txBody>
          <a:bodyPr wrap="square" lIns="0" tIns="0" rIns="0" bIns="0" rtlCol="0" anchor="ctr"/>
          <a:lstStyle/>
          <a:p>
            <a:pPr marL="0" indent="0">
              <a:buNone/>
            </a:pPr>
            <a:r>
              <a:rPr lang="ko-KR" altLang="en-US" sz="1100" b="1" kern="0" spc="200" dirty="0">
                <a:solidFill>
                  <a:srgbClr val="168A7E"/>
                </a:solidFill>
                <a:latin typeface="맑은 고딕" pitchFamily="34" charset="0"/>
                <a:ea typeface="맑은 고딕" pitchFamily="34" charset="-122"/>
                <a:cs typeface="맑은 고딕" pitchFamily="34" charset="-120"/>
              </a:rPr>
              <a:t>ＩＮＴＲＯ</a:t>
            </a:r>
            <a:endParaRPr lang="en-US" sz="1100" dirty="0"/>
          </a:p>
        </p:txBody>
      </p:sp>
      <p:sp>
        <p:nvSpPr>
          <p:cNvPr id="3" name="Text 1">
            <a:extLst>
              <a:ext uri="{FF2B5EF4-FFF2-40B4-BE49-F238E27FC236}">
                <a16:creationId xmlns:a16="http://schemas.microsoft.com/office/drawing/2014/main" id="{CD60A50D-E18E-191D-B782-0938E226528D}"/>
              </a:ext>
            </a:extLst>
          </p:cNvPr>
          <p:cNvSpPr/>
          <p:nvPr/>
        </p:nvSpPr>
        <p:spPr>
          <a:xfrm>
            <a:off x="502920" y="548639"/>
            <a:ext cx="8138160" cy="1111059"/>
          </a:xfrm>
          <a:prstGeom prst="rect">
            <a:avLst/>
          </a:prstGeom>
          <a:noFill/>
          <a:ln/>
        </p:spPr>
        <p:txBody>
          <a:bodyPr wrap="square" lIns="0" tIns="0" rIns="0" bIns="0" rtlCol="0" anchor="ctr"/>
          <a:lstStyle/>
          <a:p>
            <a:pPr marL="0" indent="0">
              <a:buNone/>
            </a:pPr>
            <a:r>
              <a:rPr lang="ko-KR" altLang="en-US" sz="2700" b="1" dirty="0">
                <a:solidFill>
                  <a:srgbClr val="1F2933"/>
                </a:solidFill>
                <a:latin typeface="맑은 고딕" pitchFamily="34" charset="0"/>
                <a:ea typeface="맑은 고딕" pitchFamily="34" charset="-122"/>
                <a:cs typeface="맑은 고딕" pitchFamily="34" charset="-120"/>
              </a:rPr>
              <a:t>신뢰할　수　있는　</a:t>
            </a:r>
            <a:r>
              <a:rPr lang="en-US" sz="2700" b="1" dirty="0" err="1">
                <a:solidFill>
                  <a:srgbClr val="1F2933"/>
                </a:solidFill>
                <a:latin typeface="맑은 고딕" pitchFamily="34" charset="0"/>
                <a:ea typeface="맑은 고딕" pitchFamily="34" charset="-122"/>
                <a:cs typeface="맑은 고딕" pitchFamily="34" charset="-120"/>
              </a:rPr>
              <a:t>제주</a:t>
            </a:r>
            <a:r>
              <a:rPr lang="ko-KR" altLang="en-US" sz="2700" b="1" dirty="0">
                <a:solidFill>
                  <a:srgbClr val="1F2933"/>
                </a:solidFill>
                <a:latin typeface="맑은 고딕" pitchFamily="34" charset="0"/>
                <a:ea typeface="맑은 고딕" pitchFamily="34" charset="-122"/>
                <a:cs typeface="맑은 고딕" pitchFamily="34" charset="-120"/>
              </a:rPr>
              <a:t>　카페　정보를　찾으려면</a:t>
            </a:r>
            <a:endParaRPr lang="en-US" altLang="ko-KR" sz="2700" b="1"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2700" b="1" dirty="0">
                <a:solidFill>
                  <a:srgbClr val="1F2933"/>
                </a:solidFill>
                <a:latin typeface="맑은 고딕" pitchFamily="34" charset="0"/>
                <a:ea typeface="맑은 고딕" pitchFamily="34" charset="-122"/>
                <a:cs typeface="맑은 고딕" pitchFamily="34" charset="-120"/>
              </a:rPr>
              <a:t>손과　눈이　바쁘게　움직여야　한다．　</a:t>
            </a:r>
            <a:endParaRPr lang="en-US" sz="2700" dirty="0"/>
          </a:p>
        </p:txBody>
      </p:sp>
      <p:sp>
        <p:nvSpPr>
          <p:cNvPr id="28" name="Text 23">
            <a:extLst>
              <a:ext uri="{FF2B5EF4-FFF2-40B4-BE49-F238E27FC236}">
                <a16:creationId xmlns:a16="http://schemas.microsoft.com/office/drawing/2014/main" id="{75229B0E-4EF8-074B-F89B-3AB4C7D1031D}"/>
              </a:ext>
            </a:extLst>
          </p:cNvPr>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29" name="Text 24">
            <a:extLst>
              <a:ext uri="{FF2B5EF4-FFF2-40B4-BE49-F238E27FC236}">
                <a16:creationId xmlns:a16="http://schemas.microsoft.com/office/drawing/2014/main" id="{52674E5D-2B8A-FEF2-1677-3DB2B6BA5C10}"/>
              </a:ext>
            </a:extLst>
          </p:cNvPr>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02</a:t>
            </a:r>
            <a:endParaRPr lang="en-US" sz="1100" dirty="0"/>
          </a:p>
        </p:txBody>
      </p:sp>
      <p:sp>
        <p:nvSpPr>
          <p:cNvPr id="5" name="Shape 10">
            <a:extLst>
              <a:ext uri="{FF2B5EF4-FFF2-40B4-BE49-F238E27FC236}">
                <a16:creationId xmlns:a16="http://schemas.microsoft.com/office/drawing/2014/main" id="{2FAB9610-D512-F55F-2274-EFBC8A0366B9}"/>
              </a:ext>
            </a:extLst>
          </p:cNvPr>
          <p:cNvSpPr/>
          <p:nvPr/>
        </p:nvSpPr>
        <p:spPr>
          <a:xfrm>
            <a:off x="553025" y="2054768"/>
            <a:ext cx="2011680" cy="2540093"/>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pic>
        <p:nvPicPr>
          <p:cNvPr id="9" name="그림 8">
            <a:extLst>
              <a:ext uri="{FF2B5EF4-FFF2-40B4-BE49-F238E27FC236}">
                <a16:creationId xmlns:a16="http://schemas.microsoft.com/office/drawing/2014/main" id="{EF7EE5E0-EAF2-580A-0032-CEC638A14F4B}"/>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a:fillRect/>
          </a:stretch>
        </p:blipFill>
        <p:spPr>
          <a:xfrm>
            <a:off x="1251351" y="1775708"/>
            <a:ext cx="646342" cy="445384"/>
          </a:xfrm>
          <a:prstGeom prst="rect">
            <a:avLst/>
          </a:prstGeom>
        </p:spPr>
      </p:pic>
      <p:sp>
        <p:nvSpPr>
          <p:cNvPr id="13" name="Shape 10">
            <a:extLst>
              <a:ext uri="{FF2B5EF4-FFF2-40B4-BE49-F238E27FC236}">
                <a16:creationId xmlns:a16="http://schemas.microsoft.com/office/drawing/2014/main" id="{F7573AE4-6B77-B143-D785-9CC378F86523}"/>
              </a:ext>
            </a:extLst>
          </p:cNvPr>
          <p:cNvSpPr/>
          <p:nvPr/>
        </p:nvSpPr>
        <p:spPr>
          <a:xfrm>
            <a:off x="3519933" y="2048504"/>
            <a:ext cx="2011680" cy="2540093"/>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5" name="Shape 10">
            <a:extLst>
              <a:ext uri="{FF2B5EF4-FFF2-40B4-BE49-F238E27FC236}">
                <a16:creationId xmlns:a16="http://schemas.microsoft.com/office/drawing/2014/main" id="{342FBA73-7352-0A43-992E-3BB45978239C}"/>
              </a:ext>
            </a:extLst>
          </p:cNvPr>
          <p:cNvSpPr/>
          <p:nvPr/>
        </p:nvSpPr>
        <p:spPr>
          <a:xfrm>
            <a:off x="6455289" y="2054768"/>
            <a:ext cx="2011680" cy="2540093"/>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7" name="Shape 34">
            <a:extLst>
              <a:ext uri="{FF2B5EF4-FFF2-40B4-BE49-F238E27FC236}">
                <a16:creationId xmlns:a16="http://schemas.microsoft.com/office/drawing/2014/main" id="{C6E5CE71-8DB5-CC1C-D0D5-F836502DFF51}"/>
              </a:ext>
            </a:extLst>
          </p:cNvPr>
          <p:cNvSpPr/>
          <p:nvPr/>
        </p:nvSpPr>
        <p:spPr>
          <a:xfrm>
            <a:off x="2716895" y="2734430"/>
            <a:ext cx="682668" cy="904379"/>
          </a:xfrm>
          <a:prstGeom prst="rightArrow">
            <a:avLst/>
          </a:prstGeom>
          <a:solidFill>
            <a:srgbClr val="BBD3CE"/>
          </a:solidFill>
          <a:ln w="12700">
            <a:solidFill>
              <a:srgbClr val="BBD3CE"/>
            </a:solidFill>
            <a:prstDash val="solid"/>
          </a:ln>
        </p:spPr>
        <p:txBody>
          <a:bodyPr/>
          <a:lstStyle/>
          <a:p>
            <a:endParaRPr lang="ko-KR" altLang="en-US"/>
          </a:p>
        </p:txBody>
      </p:sp>
      <p:sp>
        <p:nvSpPr>
          <p:cNvPr id="19" name="Shape 34">
            <a:extLst>
              <a:ext uri="{FF2B5EF4-FFF2-40B4-BE49-F238E27FC236}">
                <a16:creationId xmlns:a16="http://schemas.microsoft.com/office/drawing/2014/main" id="{6E1C769C-7DDA-54DF-F60D-66A8C26EC2DA}"/>
              </a:ext>
            </a:extLst>
          </p:cNvPr>
          <p:cNvSpPr/>
          <p:nvPr/>
        </p:nvSpPr>
        <p:spPr>
          <a:xfrm>
            <a:off x="5699781" y="2757852"/>
            <a:ext cx="682668" cy="904379"/>
          </a:xfrm>
          <a:prstGeom prst="rightArrow">
            <a:avLst/>
          </a:prstGeom>
          <a:solidFill>
            <a:srgbClr val="BBD3CE"/>
          </a:solidFill>
          <a:ln w="12700">
            <a:solidFill>
              <a:srgbClr val="BBD3CE"/>
            </a:solidFill>
            <a:prstDash val="solid"/>
          </a:ln>
        </p:spPr>
        <p:txBody>
          <a:bodyPr/>
          <a:lstStyle/>
          <a:p>
            <a:endParaRPr lang="ko-KR" altLang="en-US"/>
          </a:p>
        </p:txBody>
      </p:sp>
      <p:pic>
        <p:nvPicPr>
          <p:cNvPr id="21" name="Picture 2" descr="카카오톡 로고(.ai) 일러스트 다운로드 | 로고, 앱, 아이콘">
            <a:extLst>
              <a:ext uri="{FF2B5EF4-FFF2-40B4-BE49-F238E27FC236}">
                <a16:creationId xmlns:a16="http://schemas.microsoft.com/office/drawing/2014/main" id="{7F300635-C9E5-8AB5-9AF2-744E7B2370DD}"/>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286216" y="1782469"/>
            <a:ext cx="477859" cy="477859"/>
          </a:xfrm>
          <a:prstGeom prst="rect">
            <a:avLst/>
          </a:prstGeom>
          <a:noFill/>
          <a:extLst>
            <a:ext uri="{909E8E84-426E-40DD-AFC4-6F175D3DCCD1}">
              <a14:hiddenFill xmlns:a14="http://schemas.microsoft.com/office/drawing/2010/main">
                <a:solidFill>
                  <a:srgbClr val="FFFFFF"/>
                </a:solidFill>
              </a14:hiddenFill>
            </a:ext>
          </a:extLst>
        </p:spPr>
      </p:pic>
      <p:pic>
        <p:nvPicPr>
          <p:cNvPr id="23" name="그림 22">
            <a:extLst>
              <a:ext uri="{FF2B5EF4-FFF2-40B4-BE49-F238E27FC236}">
                <a16:creationId xmlns:a16="http://schemas.microsoft.com/office/drawing/2014/main" id="{5562145A-680E-22A9-85AF-ECB41556ADCF}"/>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207484" y="1812560"/>
            <a:ext cx="477860" cy="467779"/>
          </a:xfrm>
          <a:prstGeom prst="rect">
            <a:avLst/>
          </a:prstGeom>
        </p:spPr>
      </p:pic>
      <p:sp>
        <p:nvSpPr>
          <p:cNvPr id="25" name="Text 4">
            <a:extLst>
              <a:ext uri="{FF2B5EF4-FFF2-40B4-BE49-F238E27FC236}">
                <a16:creationId xmlns:a16="http://schemas.microsoft.com/office/drawing/2014/main" id="{76755957-9C64-77B1-30F2-3DAC1B7B99C2}"/>
              </a:ext>
            </a:extLst>
          </p:cNvPr>
          <p:cNvSpPr/>
          <p:nvPr/>
        </p:nvSpPr>
        <p:spPr>
          <a:xfrm>
            <a:off x="728962" y="3210041"/>
            <a:ext cx="1726139" cy="1302704"/>
          </a:xfrm>
          <a:prstGeom prst="rect">
            <a:avLst/>
          </a:prstGeom>
          <a:noFill/>
          <a:ln/>
        </p:spPr>
        <p:txBody>
          <a:bodyPr wrap="square" lIns="0" tIns="0" rIns="0" bIns="0" rtlCol="0" anchor="ctr"/>
          <a:lstStyle/>
          <a:p>
            <a:pPr marL="0" indent="0">
              <a:buNone/>
            </a:pPr>
            <a:r>
              <a:rPr lang="ko-KR" altLang="en-US" sz="1200" dirty="0">
                <a:solidFill>
                  <a:srgbClr val="1F2933"/>
                </a:solidFill>
                <a:latin typeface="맑은 고딕" pitchFamily="34" charset="0"/>
                <a:ea typeface="맑은 고딕" pitchFamily="34" charset="-122"/>
                <a:cs typeface="맑은 고딕" pitchFamily="34" charset="-120"/>
              </a:rPr>
              <a:t>여행정보는</a:t>
            </a:r>
            <a:endParaRPr lang="en-US" altLang="ko-KR" sz="1200"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200" dirty="0">
                <a:solidFill>
                  <a:srgbClr val="1F2933"/>
                </a:solidFill>
                <a:latin typeface="맑은 고딕" pitchFamily="34" charset="0"/>
                <a:ea typeface="맑은 고딕" pitchFamily="34" charset="-122"/>
                <a:cs typeface="맑은 고딕" pitchFamily="34" charset="-120"/>
              </a:rPr>
              <a:t>영상으로　봐야</a:t>
            </a:r>
            <a:endParaRPr lang="en-US" altLang="ko-KR" sz="1200"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200" dirty="0">
                <a:solidFill>
                  <a:srgbClr val="1F2933"/>
                </a:solidFill>
                <a:latin typeface="맑은 고딕" pitchFamily="34" charset="0"/>
                <a:ea typeface="맑은 고딕" pitchFamily="34" charset="-122"/>
              </a:rPr>
              <a:t>내　스타일을</a:t>
            </a:r>
            <a:endParaRPr lang="en-US" altLang="ko-KR" sz="1200" dirty="0">
              <a:solidFill>
                <a:srgbClr val="1F2933"/>
              </a:solidFill>
              <a:latin typeface="맑은 고딕" pitchFamily="34" charset="0"/>
              <a:ea typeface="맑은 고딕" pitchFamily="34" charset="-122"/>
            </a:endParaRPr>
          </a:p>
          <a:p>
            <a:pPr marL="0" indent="0">
              <a:buNone/>
            </a:pPr>
            <a:r>
              <a:rPr lang="ko-KR" altLang="en-US" sz="1200" dirty="0">
                <a:solidFill>
                  <a:srgbClr val="1F2933"/>
                </a:solidFill>
                <a:latin typeface="맑은 고딕" pitchFamily="34" charset="0"/>
                <a:ea typeface="맑은 고딕" pitchFamily="34" charset="-122"/>
              </a:rPr>
              <a:t>제대로　찾지　않겠어？</a:t>
            </a:r>
            <a:endParaRPr lang="en-US" sz="1200" dirty="0"/>
          </a:p>
        </p:txBody>
      </p:sp>
      <p:sp>
        <p:nvSpPr>
          <p:cNvPr id="27" name="Text 4">
            <a:extLst>
              <a:ext uri="{FF2B5EF4-FFF2-40B4-BE49-F238E27FC236}">
                <a16:creationId xmlns:a16="http://schemas.microsoft.com/office/drawing/2014/main" id="{83B37BBB-0A93-E017-C84C-99478D709EDF}"/>
              </a:ext>
            </a:extLst>
          </p:cNvPr>
          <p:cNvSpPr/>
          <p:nvPr/>
        </p:nvSpPr>
        <p:spPr>
          <a:xfrm>
            <a:off x="754943" y="2192109"/>
            <a:ext cx="1646133" cy="1102237"/>
          </a:xfrm>
          <a:prstGeom prst="rect">
            <a:avLst/>
          </a:prstGeom>
          <a:noFill/>
          <a:ln/>
        </p:spPr>
        <p:txBody>
          <a:bodyPr wrap="square" lIns="0" tIns="0" rIns="0" bIns="0" rtlCol="0" anchor="ctr"/>
          <a:lstStyle/>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일단　시작은　</a:t>
            </a:r>
            <a:endParaRPr lang="en-US" altLang="ko-KR" sz="1600" b="1"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여행　</a:t>
            </a:r>
            <a:r>
              <a:rPr lang="ko-KR" altLang="en-US" sz="1600" b="1" dirty="0" err="1">
                <a:solidFill>
                  <a:srgbClr val="1F2933"/>
                </a:solidFill>
                <a:latin typeface="맑은 고딕" pitchFamily="34" charset="0"/>
                <a:ea typeface="맑은 고딕" pitchFamily="34" charset="-122"/>
                <a:cs typeface="맑은 고딕" pitchFamily="34" charset="-120"/>
              </a:rPr>
              <a:t>유튜버들의</a:t>
            </a:r>
            <a:endParaRPr lang="en-US" altLang="ko-KR" sz="1600" b="1"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카페　추천　영상</a:t>
            </a:r>
            <a:endParaRPr lang="en-US" altLang="ko-KR" sz="1600" b="1" dirty="0">
              <a:solidFill>
                <a:srgbClr val="1F2933"/>
              </a:solidFill>
              <a:latin typeface="맑은 고딕" pitchFamily="34" charset="0"/>
              <a:ea typeface="맑은 고딕" pitchFamily="34" charset="-122"/>
              <a:cs typeface="맑은 고딕" pitchFamily="34" charset="-120"/>
            </a:endParaRPr>
          </a:p>
        </p:txBody>
      </p:sp>
      <p:sp>
        <p:nvSpPr>
          <p:cNvPr id="32" name="Text 4">
            <a:extLst>
              <a:ext uri="{FF2B5EF4-FFF2-40B4-BE49-F238E27FC236}">
                <a16:creationId xmlns:a16="http://schemas.microsoft.com/office/drawing/2014/main" id="{228A9566-73C9-12F7-7A85-E8479812DFF8}"/>
              </a:ext>
            </a:extLst>
          </p:cNvPr>
          <p:cNvSpPr/>
          <p:nvPr/>
        </p:nvSpPr>
        <p:spPr>
          <a:xfrm>
            <a:off x="3717618" y="2200470"/>
            <a:ext cx="1646133" cy="1102237"/>
          </a:xfrm>
          <a:prstGeom prst="rect">
            <a:avLst/>
          </a:prstGeom>
          <a:noFill/>
          <a:ln/>
        </p:spPr>
        <p:txBody>
          <a:bodyPr wrap="square" lIns="0" tIns="0" rIns="0" bIns="0" rtlCol="0" anchor="ctr"/>
          <a:lstStyle/>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카카오　평점으로　</a:t>
            </a:r>
            <a:endParaRPr lang="en-US" altLang="ko-KR" sz="1600" b="1"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진짜　좋은　카페</a:t>
            </a:r>
            <a:endParaRPr lang="en-US" altLang="ko-KR" sz="1600" b="1"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선별하고</a:t>
            </a:r>
            <a:endParaRPr lang="en-US" altLang="ko-KR" sz="1600" b="1" dirty="0">
              <a:solidFill>
                <a:srgbClr val="1F2933"/>
              </a:solidFill>
              <a:latin typeface="맑은 고딕" pitchFamily="34" charset="0"/>
              <a:ea typeface="맑은 고딕" pitchFamily="34" charset="-122"/>
              <a:cs typeface="맑은 고딕" pitchFamily="34" charset="-120"/>
            </a:endParaRPr>
          </a:p>
        </p:txBody>
      </p:sp>
      <p:sp>
        <p:nvSpPr>
          <p:cNvPr id="34" name="Text 4">
            <a:extLst>
              <a:ext uri="{FF2B5EF4-FFF2-40B4-BE49-F238E27FC236}">
                <a16:creationId xmlns:a16="http://schemas.microsoft.com/office/drawing/2014/main" id="{8F283682-12C2-37F4-0AF2-B35A78278D8D}"/>
              </a:ext>
            </a:extLst>
          </p:cNvPr>
          <p:cNvSpPr/>
          <p:nvPr/>
        </p:nvSpPr>
        <p:spPr>
          <a:xfrm>
            <a:off x="6650588" y="2280865"/>
            <a:ext cx="1646133" cy="1102237"/>
          </a:xfrm>
          <a:prstGeom prst="rect">
            <a:avLst/>
          </a:prstGeom>
          <a:noFill/>
          <a:ln/>
        </p:spPr>
        <p:txBody>
          <a:bodyPr wrap="square" lIns="0" tIns="0" rIns="0" bIns="0" rtlCol="0" anchor="ctr"/>
          <a:lstStyle/>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블로그와　댓글로　영업시간　체크　및　</a:t>
            </a:r>
            <a:r>
              <a:rPr lang="ko-KR" altLang="en-US" sz="1600" b="1" dirty="0" err="1">
                <a:solidFill>
                  <a:srgbClr val="1F2933"/>
                </a:solidFill>
                <a:latin typeface="맑은 고딕" pitchFamily="34" charset="0"/>
                <a:ea typeface="맑은 고딕" pitchFamily="34" charset="-122"/>
                <a:cs typeface="맑은 고딕" pitchFamily="34" charset="-120"/>
              </a:rPr>
              <a:t>찐후기</a:t>
            </a:r>
            <a:r>
              <a:rPr lang="ko-KR" altLang="en-US" sz="1600" b="1" dirty="0">
                <a:solidFill>
                  <a:srgbClr val="1F2933"/>
                </a:solidFill>
                <a:latin typeface="맑은 고딕" pitchFamily="34" charset="0"/>
                <a:ea typeface="맑은 고딕" pitchFamily="34" charset="-122"/>
                <a:cs typeface="맑은 고딕" pitchFamily="34" charset="-120"/>
              </a:rPr>
              <a:t>　체크</a:t>
            </a:r>
            <a:endParaRPr lang="en-US" altLang="ko-KR" sz="1600" b="1" dirty="0">
              <a:solidFill>
                <a:srgbClr val="1F2933"/>
              </a:solidFill>
              <a:latin typeface="맑은 고딕" pitchFamily="34" charset="0"/>
              <a:ea typeface="맑은 고딕" pitchFamily="34" charset="-122"/>
              <a:cs typeface="맑은 고딕" pitchFamily="34" charset="-120"/>
            </a:endParaRPr>
          </a:p>
        </p:txBody>
      </p:sp>
      <p:sp>
        <p:nvSpPr>
          <p:cNvPr id="36" name="Text 4">
            <a:extLst>
              <a:ext uri="{FF2B5EF4-FFF2-40B4-BE49-F238E27FC236}">
                <a16:creationId xmlns:a16="http://schemas.microsoft.com/office/drawing/2014/main" id="{72D04797-E6FA-E095-22F5-58DCE71F53C2}"/>
              </a:ext>
            </a:extLst>
          </p:cNvPr>
          <p:cNvSpPr/>
          <p:nvPr/>
        </p:nvSpPr>
        <p:spPr>
          <a:xfrm>
            <a:off x="3694005" y="3242186"/>
            <a:ext cx="1726139" cy="1302704"/>
          </a:xfrm>
          <a:prstGeom prst="rect">
            <a:avLst/>
          </a:prstGeom>
          <a:noFill/>
          <a:ln/>
        </p:spPr>
        <p:txBody>
          <a:bodyPr wrap="square" lIns="0" tIns="0" rIns="0" bIns="0" rtlCol="0" anchor="ctr"/>
          <a:lstStyle/>
          <a:p>
            <a:pPr marL="0" indent="0">
              <a:buNone/>
            </a:pPr>
            <a:r>
              <a:rPr lang="ko-KR" altLang="en-US" sz="1200" dirty="0">
                <a:solidFill>
                  <a:srgbClr val="1F2933"/>
                </a:solidFill>
                <a:latin typeface="맑은 고딕" pitchFamily="34" charset="0"/>
                <a:ea typeface="맑은 고딕" pitchFamily="34" charset="-122"/>
                <a:cs typeface="맑은 고딕" pitchFamily="34" charset="-120"/>
              </a:rPr>
              <a:t>짜기로　유명한　카카오　평점으로　실패　확률　줄이고　</a:t>
            </a:r>
            <a:r>
              <a:rPr lang="ko-KR" altLang="en-US" sz="1200" dirty="0" err="1">
                <a:solidFill>
                  <a:srgbClr val="1F2933"/>
                </a:solidFill>
                <a:latin typeface="맑은 고딕" pitchFamily="34" charset="0"/>
                <a:ea typeface="맑은 고딕" pitchFamily="34" charset="-122"/>
                <a:cs typeface="맑은 고딕" pitchFamily="34" charset="-120"/>
              </a:rPr>
              <a:t>맵에서</a:t>
            </a:r>
            <a:r>
              <a:rPr lang="ko-KR" altLang="en-US" sz="1200" dirty="0">
                <a:solidFill>
                  <a:srgbClr val="1F2933"/>
                </a:solidFill>
                <a:latin typeface="맑은 고딕" pitchFamily="34" charset="0"/>
                <a:ea typeface="맑은 고딕" pitchFamily="34" charset="-122"/>
                <a:cs typeface="맑은 고딕" pitchFamily="34" charset="-120"/>
              </a:rPr>
              <a:t>　카페　위치도　체크　</a:t>
            </a:r>
            <a:endParaRPr lang="en-US" sz="1200" dirty="0"/>
          </a:p>
        </p:txBody>
      </p:sp>
      <p:sp>
        <p:nvSpPr>
          <p:cNvPr id="38" name="Text 4">
            <a:extLst>
              <a:ext uri="{FF2B5EF4-FFF2-40B4-BE49-F238E27FC236}">
                <a16:creationId xmlns:a16="http://schemas.microsoft.com/office/drawing/2014/main" id="{D30094FA-155D-E14A-4F34-90907A9C2808}"/>
              </a:ext>
            </a:extLst>
          </p:cNvPr>
          <p:cNvSpPr/>
          <p:nvPr/>
        </p:nvSpPr>
        <p:spPr>
          <a:xfrm>
            <a:off x="6637866" y="3333499"/>
            <a:ext cx="1726139" cy="1302704"/>
          </a:xfrm>
          <a:prstGeom prst="rect">
            <a:avLst/>
          </a:prstGeom>
          <a:noFill/>
          <a:ln/>
        </p:spPr>
        <p:txBody>
          <a:bodyPr wrap="square" lIns="0" tIns="0" rIns="0" bIns="0" rtlCol="0" anchor="ctr"/>
          <a:lstStyle/>
          <a:p>
            <a:pPr marL="0" indent="0">
              <a:buNone/>
            </a:pPr>
            <a:r>
              <a:rPr lang="ko-KR" altLang="en-US" sz="1200" dirty="0" err="1">
                <a:solidFill>
                  <a:srgbClr val="1F2933"/>
                </a:solidFill>
                <a:latin typeface="맑은 고딕" pitchFamily="34" charset="0"/>
                <a:ea typeface="맑은 고딕" pitchFamily="34" charset="-122"/>
                <a:cs typeface="맑은 고딕" pitchFamily="34" charset="-120"/>
              </a:rPr>
              <a:t>휴업／폐업한건</a:t>
            </a:r>
            <a:r>
              <a:rPr lang="ko-KR" altLang="en-US" sz="1200" dirty="0">
                <a:solidFill>
                  <a:srgbClr val="1F2933"/>
                </a:solidFill>
                <a:latin typeface="맑은 고딕" pitchFamily="34" charset="0"/>
                <a:ea typeface="맑은 고딕" pitchFamily="34" charset="-122"/>
                <a:cs typeface="맑은 고딕" pitchFamily="34" charset="-120"/>
              </a:rPr>
              <a:t>　아닌지，</a:t>
            </a:r>
            <a:endParaRPr lang="en-US" altLang="ko-KR" sz="1200"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200" dirty="0" err="1">
                <a:solidFill>
                  <a:srgbClr val="1F2933"/>
                </a:solidFill>
                <a:latin typeface="맑은 고딕" pitchFamily="34" charset="0"/>
                <a:ea typeface="맑은 고딕" pitchFamily="34" charset="-122"/>
                <a:cs typeface="맑은 고딕" pitchFamily="34" charset="-120"/>
              </a:rPr>
              <a:t>몇시에</a:t>
            </a:r>
            <a:r>
              <a:rPr lang="ko-KR" altLang="en-US" sz="1200" dirty="0">
                <a:solidFill>
                  <a:srgbClr val="1F2933"/>
                </a:solidFill>
                <a:latin typeface="맑은 고딕" pitchFamily="34" charset="0"/>
                <a:ea typeface="맑은 고딕" pitchFamily="34" charset="-122"/>
                <a:cs typeface="맑은 고딕" pitchFamily="34" charset="-120"/>
              </a:rPr>
              <a:t>　여는지，</a:t>
            </a:r>
            <a:endParaRPr lang="en-US" altLang="ko-KR" sz="1200"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200" dirty="0">
                <a:solidFill>
                  <a:srgbClr val="1F2933"/>
                </a:solidFill>
                <a:latin typeface="맑은 고딕" pitchFamily="34" charset="0"/>
                <a:ea typeface="맑은 고딕" pitchFamily="34" charset="-122"/>
                <a:cs typeface="맑은 고딕" pitchFamily="34" charset="-120"/>
              </a:rPr>
              <a:t>일반인들의　찐　방문　후기까지　체크해야</a:t>
            </a:r>
            <a:endParaRPr lang="en-US" altLang="ko-KR" sz="1200"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200" dirty="0">
                <a:solidFill>
                  <a:srgbClr val="1F2933"/>
                </a:solidFill>
                <a:latin typeface="맑은 고딕" pitchFamily="34" charset="0"/>
                <a:ea typeface="맑은 고딕" pitchFamily="34" charset="-122"/>
              </a:rPr>
              <a:t>맘이　놓인다　</a:t>
            </a:r>
            <a:r>
              <a:rPr lang="ko-KR" altLang="en-US" sz="1200" dirty="0" err="1">
                <a:solidFill>
                  <a:srgbClr val="1F2933"/>
                </a:solidFill>
                <a:latin typeface="맑은 고딕" pitchFamily="34" charset="0"/>
                <a:ea typeface="맑은 고딕" pitchFamily="34" charset="-122"/>
              </a:rPr>
              <a:t>ㅠ．ㅠ</a:t>
            </a:r>
            <a:endParaRPr lang="en-US" sz="1200" dirty="0"/>
          </a:p>
        </p:txBody>
      </p:sp>
    </p:spTree>
    <p:extLst>
      <p:ext uri="{BB962C8B-B14F-4D97-AF65-F5344CB8AC3E}">
        <p14:creationId xmlns:p14="http://schemas.microsoft.com/office/powerpoint/2010/main" val="742232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A038B-B2C6-2600-8BA5-FE284C87D30E}"/>
            </a:ext>
          </a:extLst>
        </p:cNvPr>
        <p:cNvGrpSpPr/>
        <p:nvPr/>
      </p:nvGrpSpPr>
      <p:grpSpPr>
        <a:xfrm>
          <a:off x="0" y="0"/>
          <a:ext cx="0" cy="0"/>
          <a:chOff x="0" y="0"/>
          <a:chExt cx="0" cy="0"/>
        </a:xfrm>
      </p:grpSpPr>
      <p:pic>
        <p:nvPicPr>
          <p:cNvPr id="5" name="그림 4">
            <a:extLst>
              <a:ext uri="{FF2B5EF4-FFF2-40B4-BE49-F238E27FC236}">
                <a16:creationId xmlns:a16="http://schemas.microsoft.com/office/drawing/2014/main" id="{C4753E9E-6ECC-7DE4-0DB7-F2DEAEEAD53E}"/>
              </a:ext>
            </a:extLst>
          </p:cNvPr>
          <p:cNvPicPr>
            <a:picLocks noChangeAspect="1"/>
          </p:cNvPicPr>
          <p:nvPr/>
        </p:nvPicPr>
        <p:blipFill>
          <a:blip r:embed="rId3"/>
          <a:stretch>
            <a:fillRect/>
          </a:stretch>
        </p:blipFill>
        <p:spPr>
          <a:xfrm>
            <a:off x="0" y="-59473"/>
            <a:ext cx="9144000" cy="6075335"/>
          </a:xfrm>
          <a:prstGeom prst="rect">
            <a:avLst/>
          </a:prstGeom>
        </p:spPr>
      </p:pic>
      <p:sp>
        <p:nvSpPr>
          <p:cNvPr id="2" name="Text 0">
            <a:extLst>
              <a:ext uri="{FF2B5EF4-FFF2-40B4-BE49-F238E27FC236}">
                <a16:creationId xmlns:a16="http://schemas.microsoft.com/office/drawing/2014/main" id="{BE3F5BAE-0E73-B1C1-350C-80E72F6D1D2D}"/>
              </a:ext>
            </a:extLst>
          </p:cNvPr>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PROBLEM</a:t>
            </a:r>
            <a:r>
              <a:rPr lang="ko-KR" altLang="en-US" sz="1100" b="1" kern="0" spc="200" dirty="0">
                <a:solidFill>
                  <a:srgbClr val="168A7E"/>
                </a:solidFill>
                <a:latin typeface="맑은 고딕" pitchFamily="34" charset="0"/>
                <a:ea typeface="맑은 고딕" pitchFamily="34" charset="-122"/>
                <a:cs typeface="맑은 고딕" pitchFamily="34" charset="-120"/>
              </a:rPr>
              <a:t>　</a:t>
            </a:r>
            <a:r>
              <a:rPr lang="ko-KR" altLang="en-US" sz="1100" b="1" kern="0" spc="200" dirty="0">
                <a:solidFill>
                  <a:srgbClr val="168A7E"/>
                </a:solidFill>
                <a:latin typeface="맑은 고딕" pitchFamily="34" charset="0"/>
                <a:ea typeface="맑은 고딕" pitchFamily="34" charset="-122"/>
              </a:rPr>
              <a:t>ＤＥＦＩＮＥＤ</a:t>
            </a:r>
            <a:endParaRPr lang="en-US" sz="1100" b="1" kern="0" spc="200" dirty="0">
              <a:solidFill>
                <a:srgbClr val="168A7E"/>
              </a:solidFill>
              <a:latin typeface="맑은 고딕" pitchFamily="34" charset="0"/>
              <a:ea typeface="맑은 고딕" pitchFamily="34" charset="-122"/>
            </a:endParaRPr>
          </a:p>
        </p:txBody>
      </p:sp>
      <p:sp>
        <p:nvSpPr>
          <p:cNvPr id="7" name="Text 5">
            <a:extLst>
              <a:ext uri="{FF2B5EF4-FFF2-40B4-BE49-F238E27FC236}">
                <a16:creationId xmlns:a16="http://schemas.microsoft.com/office/drawing/2014/main" id="{B474A081-641D-39DF-0D8A-16673CA7D357}"/>
              </a:ext>
            </a:extLst>
          </p:cNvPr>
          <p:cNvSpPr/>
          <p:nvPr/>
        </p:nvSpPr>
        <p:spPr>
          <a:xfrm>
            <a:off x="1809959" y="1234440"/>
            <a:ext cx="6008162" cy="2674620"/>
          </a:xfrm>
          <a:prstGeom prst="rect">
            <a:avLst/>
          </a:prstGeom>
          <a:solidFill>
            <a:schemeClr val="tx1">
              <a:lumMod val="85000"/>
              <a:lumOff val="15000"/>
              <a:alpha val="60000"/>
            </a:schemeClr>
          </a:solidFill>
          <a:ln/>
        </p:spPr>
        <p:txBody>
          <a:bodyPr wrap="square" lIns="0" tIns="0" rIns="0" bIns="0" rtlCol="0" anchor="ctr"/>
          <a:lstStyle/>
          <a:p>
            <a:pPr marL="180975">
              <a:lnSpc>
                <a:spcPts val="1700"/>
              </a:lnSpc>
              <a:buNone/>
            </a:pPr>
            <a:r>
              <a:rPr lang="ko-KR" altLang="en-US" sz="2400" dirty="0">
                <a:solidFill>
                  <a:schemeClr val="bg1"/>
                </a:solidFill>
              </a:rPr>
              <a:t>　　</a:t>
            </a:r>
            <a:endParaRPr lang="en-US" altLang="ko-KR" sz="2400" dirty="0">
              <a:solidFill>
                <a:schemeClr val="bg1"/>
              </a:solidFill>
            </a:endParaRPr>
          </a:p>
          <a:p>
            <a:pPr marL="180975">
              <a:lnSpc>
                <a:spcPts val="1700"/>
              </a:lnSpc>
              <a:buNone/>
            </a:pPr>
            <a:r>
              <a:rPr lang="ko-KR" altLang="en-US" sz="3200" b="1" dirty="0">
                <a:solidFill>
                  <a:schemeClr val="bg1"/>
                </a:solidFill>
              </a:rPr>
              <a:t>　　제주　카페　정보，</a:t>
            </a:r>
            <a:endParaRPr lang="en-US" altLang="ko-KR" sz="3200" b="1" dirty="0">
              <a:solidFill>
                <a:schemeClr val="bg1"/>
              </a:solidFill>
            </a:endParaRPr>
          </a:p>
          <a:p>
            <a:pPr marL="180975">
              <a:lnSpc>
                <a:spcPts val="1700"/>
              </a:lnSpc>
              <a:buNone/>
            </a:pPr>
            <a:endParaRPr lang="en-US" altLang="ko-KR" sz="3200" b="1" dirty="0">
              <a:solidFill>
                <a:schemeClr val="bg1"/>
              </a:solidFill>
            </a:endParaRPr>
          </a:p>
          <a:p>
            <a:pPr marL="180975">
              <a:lnSpc>
                <a:spcPts val="1700"/>
              </a:lnSpc>
              <a:buNone/>
            </a:pPr>
            <a:endParaRPr lang="en-US" altLang="ko-KR" sz="3200" b="1" dirty="0">
              <a:solidFill>
                <a:schemeClr val="bg1"/>
              </a:solidFill>
            </a:endParaRPr>
          </a:p>
          <a:p>
            <a:pPr marL="180975">
              <a:lnSpc>
                <a:spcPts val="1700"/>
              </a:lnSpc>
              <a:buNone/>
            </a:pPr>
            <a:r>
              <a:rPr lang="ko-KR" altLang="en-US" sz="3200" b="1" dirty="0">
                <a:solidFill>
                  <a:schemeClr val="bg1"/>
                </a:solidFill>
              </a:rPr>
              <a:t>　</a:t>
            </a:r>
            <a:endParaRPr lang="en-US" altLang="ko-KR" sz="3200" b="1" dirty="0">
              <a:solidFill>
                <a:schemeClr val="bg1"/>
              </a:solidFill>
            </a:endParaRPr>
          </a:p>
          <a:p>
            <a:pPr marL="180975">
              <a:lnSpc>
                <a:spcPts val="1700"/>
              </a:lnSpc>
              <a:buNone/>
            </a:pPr>
            <a:r>
              <a:rPr lang="ko-KR" altLang="en-US" sz="3200" b="1" dirty="0">
                <a:solidFill>
                  <a:schemeClr val="bg1"/>
                </a:solidFill>
              </a:rPr>
              <a:t>　　뭐가　문제일까？　</a:t>
            </a:r>
            <a:endParaRPr lang="en-US" sz="3200" b="1" dirty="0">
              <a:solidFill>
                <a:schemeClr val="bg1"/>
              </a:solidFill>
            </a:endParaRPr>
          </a:p>
        </p:txBody>
      </p:sp>
    </p:spTree>
    <p:extLst>
      <p:ext uri="{BB962C8B-B14F-4D97-AF65-F5344CB8AC3E}">
        <p14:creationId xmlns:p14="http://schemas.microsoft.com/office/powerpoint/2010/main" val="4278070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01  PROBLEM</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제주 카페를 찾을 때 마주치는 3대 장벽</a:t>
            </a:r>
            <a:endParaRPr lang="en-US" sz="2700" dirty="0"/>
          </a:p>
        </p:txBody>
      </p:sp>
      <p:sp>
        <p:nvSpPr>
          <p:cNvPr id="4" name="Shape 2"/>
          <p:cNvSpPr/>
          <p:nvPr/>
        </p:nvSpPr>
        <p:spPr>
          <a:xfrm>
            <a:off x="435342" y="1353249"/>
            <a:ext cx="2560320" cy="3200400"/>
          </a:xfrm>
          <a:prstGeom prst="roundRect">
            <a:avLst>
              <a:gd name="adj" fmla="val 4286"/>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Shape 3"/>
          <p:cNvSpPr/>
          <p:nvPr/>
        </p:nvSpPr>
        <p:spPr>
          <a:xfrm>
            <a:off x="758952" y="1572768"/>
            <a:ext cx="566928" cy="566928"/>
          </a:xfrm>
          <a:prstGeom prst="ellipse">
            <a:avLst/>
          </a:prstGeom>
          <a:solidFill>
            <a:srgbClr val="168A7E"/>
          </a:solidFill>
          <a:ln w="12700">
            <a:solidFill>
              <a:srgbClr val="168A7E"/>
            </a:solidFill>
            <a:prstDash val="solid"/>
          </a:ln>
        </p:spPr>
        <p:txBody>
          <a:bodyPr/>
          <a:lstStyle/>
          <a:p>
            <a:endParaRPr lang="ko-KR" altLang="en-US"/>
          </a:p>
        </p:txBody>
      </p:sp>
      <p:pic>
        <p:nvPicPr>
          <p:cNvPr id="6"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906353" y="1720169"/>
            <a:ext cx="272125" cy="272125"/>
          </a:xfrm>
          <a:prstGeom prst="rect">
            <a:avLst/>
          </a:prstGeom>
        </p:spPr>
      </p:pic>
      <p:sp>
        <p:nvSpPr>
          <p:cNvPr id="7" name="Text 4"/>
          <p:cNvSpPr/>
          <p:nvPr/>
        </p:nvSpPr>
        <p:spPr>
          <a:xfrm>
            <a:off x="758952" y="2286000"/>
            <a:ext cx="2057400" cy="320040"/>
          </a:xfrm>
          <a:prstGeom prst="rect">
            <a:avLst/>
          </a:prstGeom>
          <a:noFill/>
          <a:ln/>
        </p:spPr>
        <p:txBody>
          <a:bodyPr wrap="square" lIns="0" tIns="0" rIns="0" bIns="0" rtlCol="0" anchor="ctr"/>
          <a:lstStyle/>
          <a:p>
            <a:pPr marL="0" indent="0">
              <a:buNone/>
            </a:pPr>
            <a:r>
              <a:rPr lang="en-US" sz="1500" b="1" dirty="0">
                <a:solidFill>
                  <a:srgbClr val="1F2933"/>
                </a:solidFill>
                <a:latin typeface="맑은 고딕" pitchFamily="34" charset="0"/>
                <a:ea typeface="맑은 고딕" pitchFamily="34" charset="-122"/>
                <a:cs typeface="맑은 고딕" pitchFamily="34" charset="-120"/>
              </a:rPr>
              <a:t>광고에 오염된 정보</a:t>
            </a:r>
            <a:endParaRPr lang="en-US" sz="1500" dirty="0"/>
          </a:p>
        </p:txBody>
      </p:sp>
      <p:sp>
        <p:nvSpPr>
          <p:cNvPr id="8" name="Text 5"/>
          <p:cNvSpPr/>
          <p:nvPr/>
        </p:nvSpPr>
        <p:spPr>
          <a:xfrm>
            <a:off x="758952" y="2670048"/>
            <a:ext cx="2103120" cy="777240"/>
          </a:xfrm>
          <a:prstGeom prst="rect">
            <a:avLst/>
          </a:prstGeom>
          <a:noFill/>
          <a:ln/>
        </p:spPr>
        <p:txBody>
          <a:bodyPr wrap="square" lIns="0" tIns="0" rIns="0" bIns="0" rtlCol="0" anchor="ctr"/>
          <a:lstStyle/>
          <a:p>
            <a:pPr marL="0" indent="0">
              <a:lnSpc>
                <a:spcPts val="1700"/>
              </a:lnSpc>
              <a:buNone/>
            </a:pPr>
            <a:r>
              <a:rPr lang="en-US" sz="1100" dirty="0">
                <a:solidFill>
                  <a:srgbClr val="5F7175"/>
                </a:solidFill>
                <a:latin typeface="맑은 고딕" pitchFamily="34" charset="0"/>
                <a:ea typeface="맑은 고딕" pitchFamily="34" charset="-122"/>
                <a:cs typeface="맑은 고딕" pitchFamily="34" charset="-120"/>
              </a:rPr>
              <a:t>블로그 상위 노출은 협찬이 점령했다.</a:t>
            </a:r>
            <a:endParaRPr lang="en-US" sz="1100" dirty="0"/>
          </a:p>
          <a:p>
            <a:pPr marL="0" indent="0">
              <a:lnSpc>
                <a:spcPts val="1700"/>
              </a:lnSpc>
              <a:buNone/>
            </a:pPr>
            <a:r>
              <a:rPr lang="en-US" sz="1100" dirty="0">
                <a:solidFill>
                  <a:srgbClr val="5F7175"/>
                </a:solidFill>
                <a:latin typeface="맑은 고딕" pitchFamily="34" charset="0"/>
                <a:ea typeface="맑은 고딕" pitchFamily="34" charset="-122"/>
                <a:cs typeface="맑은 고딕" pitchFamily="34" charset="-120"/>
              </a:rPr>
              <a:t>무엇이 진짜 후기인지 구분할 방법이 없다.</a:t>
            </a:r>
            <a:endParaRPr lang="en-US" sz="1100" dirty="0"/>
          </a:p>
        </p:txBody>
      </p:sp>
      <p:sp>
        <p:nvSpPr>
          <p:cNvPr id="9" name="Shape 6"/>
          <p:cNvSpPr/>
          <p:nvPr/>
        </p:nvSpPr>
        <p:spPr>
          <a:xfrm>
            <a:off x="708848" y="3584448"/>
            <a:ext cx="2135938" cy="685800"/>
          </a:xfrm>
          <a:prstGeom prst="roundRect">
            <a:avLst>
              <a:gd name="adj" fmla="val 13333"/>
            </a:avLst>
          </a:prstGeom>
          <a:solidFill>
            <a:srgbClr val="E7F3F1"/>
          </a:solidFill>
          <a:ln w="12700">
            <a:solidFill>
              <a:srgbClr val="333333"/>
            </a:solidFill>
            <a:prstDash val="solid"/>
          </a:ln>
        </p:spPr>
        <p:txBody>
          <a:bodyPr/>
          <a:lstStyle/>
          <a:p>
            <a:endParaRPr lang="ko-KR" altLang="en-US"/>
          </a:p>
        </p:txBody>
      </p:sp>
      <p:sp>
        <p:nvSpPr>
          <p:cNvPr id="10" name="Text 7"/>
          <p:cNvSpPr/>
          <p:nvPr/>
        </p:nvSpPr>
        <p:spPr>
          <a:xfrm>
            <a:off x="806050" y="3639312"/>
            <a:ext cx="2026210" cy="320040"/>
          </a:xfrm>
          <a:prstGeom prst="rect">
            <a:avLst/>
          </a:prstGeom>
          <a:noFill/>
          <a:ln/>
        </p:spPr>
        <p:txBody>
          <a:bodyPr wrap="square" lIns="0" tIns="0" rIns="0" bIns="0" rtlCol="0" anchor="ctr"/>
          <a:lstStyle/>
          <a:p>
            <a:pPr marL="0" indent="0">
              <a:buNone/>
            </a:pPr>
            <a:r>
              <a:rPr lang="en-US" sz="1700" b="1" dirty="0">
                <a:solidFill>
                  <a:srgbClr val="0F5257"/>
                </a:solidFill>
                <a:latin typeface="맑은 고딕" pitchFamily="34" charset="0"/>
                <a:ea typeface="맑은 고딕" pitchFamily="34" charset="-122"/>
                <a:cs typeface="맑은 고딕" pitchFamily="34" charset="-120"/>
              </a:rPr>
              <a:t>1,064</a:t>
            </a:r>
            <a:r>
              <a:rPr lang="ko-KR" altLang="en-US" sz="1700" b="1" dirty="0">
                <a:solidFill>
                  <a:srgbClr val="0F5257"/>
                </a:solidFill>
                <a:latin typeface="맑은 고딕" pitchFamily="34" charset="0"/>
                <a:ea typeface="맑은 고딕" pitchFamily="34" charset="-122"/>
                <a:cs typeface="맑은 고딕" pitchFamily="34" charset="-120"/>
              </a:rPr>
              <a:t>곳</a:t>
            </a:r>
            <a:r>
              <a:rPr lang="ko-KR" altLang="en-US" sz="900" b="1" dirty="0">
                <a:solidFill>
                  <a:srgbClr val="0F5257"/>
                </a:solidFill>
                <a:latin typeface="맑은 고딕" pitchFamily="34" charset="0"/>
                <a:ea typeface="맑은 고딕" pitchFamily="34" charset="-122"/>
                <a:cs typeface="맑은 고딕" pitchFamily="34" charset="-120"/>
              </a:rPr>
              <a:t>　</a:t>
            </a:r>
            <a:r>
              <a:rPr lang="ko-KR" altLang="en-US" sz="1700" b="1" dirty="0" err="1">
                <a:solidFill>
                  <a:srgbClr val="0F5257"/>
                </a:solidFill>
                <a:latin typeface="맑은 고딕" pitchFamily="34" charset="0"/>
                <a:ea typeface="맑은 고딕" pitchFamily="34" charset="-122"/>
                <a:cs typeface="맑은 고딕" pitchFamily="34" charset="-120"/>
              </a:rPr>
              <a:t>ｉｎ</a:t>
            </a:r>
            <a:r>
              <a:rPr lang="ko-KR" altLang="en-US" sz="1000" b="1" dirty="0">
                <a:solidFill>
                  <a:srgbClr val="0F5257"/>
                </a:solidFill>
                <a:latin typeface="맑은 고딕" pitchFamily="34" charset="0"/>
                <a:ea typeface="맑은 고딕" pitchFamily="34" charset="-122"/>
                <a:cs typeface="맑은 고딕" pitchFamily="34" charset="-120"/>
              </a:rPr>
              <a:t>　</a:t>
            </a:r>
            <a:r>
              <a:rPr lang="ko-KR" altLang="en-US" sz="1700" b="1" dirty="0">
                <a:solidFill>
                  <a:srgbClr val="0F5257"/>
                </a:solidFill>
                <a:latin typeface="맑은 고딕" pitchFamily="34" charset="0"/>
                <a:ea typeface="맑은 고딕" pitchFamily="34" charset="-122"/>
                <a:cs typeface="맑은 고딕" pitchFamily="34" charset="-120"/>
              </a:rPr>
              <a:t>제주</a:t>
            </a:r>
            <a:endParaRPr lang="en-US" sz="1700" dirty="0"/>
          </a:p>
        </p:txBody>
      </p:sp>
      <p:sp>
        <p:nvSpPr>
          <p:cNvPr id="11" name="Text 8"/>
          <p:cNvSpPr/>
          <p:nvPr/>
        </p:nvSpPr>
        <p:spPr>
          <a:xfrm>
            <a:off x="780998" y="3959853"/>
            <a:ext cx="2048256" cy="256032"/>
          </a:xfrm>
          <a:prstGeom prst="rect">
            <a:avLst/>
          </a:prstGeom>
          <a:noFill/>
          <a:ln/>
        </p:spPr>
        <p:txBody>
          <a:bodyPr wrap="square" lIns="0" tIns="0" rIns="0" bIns="0" rtlCol="0" anchor="ctr"/>
          <a:lstStyle/>
          <a:p>
            <a:pPr marL="0" indent="0">
              <a:buNone/>
            </a:pPr>
            <a:r>
              <a:rPr lang="ko-KR" altLang="en-US" sz="900" dirty="0">
                <a:solidFill>
                  <a:srgbClr val="5F7175"/>
                </a:solidFill>
                <a:latin typeface="맑은 고딕" pitchFamily="34" charset="0"/>
                <a:ea typeface="맑은 고딕" pitchFamily="34" charset="-122"/>
                <a:cs typeface="맑은 고딕" pitchFamily="34" charset="-120"/>
              </a:rPr>
              <a:t>카페는　</a:t>
            </a:r>
            <a:r>
              <a:rPr lang="ko-KR" altLang="en-US" sz="900">
                <a:solidFill>
                  <a:srgbClr val="5F7175"/>
                </a:solidFill>
                <a:latin typeface="맑은 고딕" pitchFamily="34" charset="0"/>
                <a:ea typeface="맑은 고딕" pitchFamily="34" charset="-122"/>
                <a:cs typeface="맑은 고딕" pitchFamily="34" charset="-120"/>
              </a:rPr>
              <a:t>많지만　찐　맛집은　</a:t>
            </a:r>
            <a:r>
              <a:rPr lang="ko-KR" altLang="en-US" sz="900" dirty="0">
                <a:solidFill>
                  <a:srgbClr val="5F7175"/>
                </a:solidFill>
                <a:latin typeface="맑은 고딕" pitchFamily="34" charset="0"/>
                <a:ea typeface="맑은 고딕" pitchFamily="34" charset="-122"/>
                <a:cs typeface="맑은 고딕" pitchFamily="34" charset="-120"/>
              </a:rPr>
              <a:t>어디에？</a:t>
            </a:r>
            <a:endParaRPr lang="en-US" sz="900" dirty="0"/>
          </a:p>
        </p:txBody>
      </p:sp>
      <p:sp>
        <p:nvSpPr>
          <p:cNvPr id="12" name="Shape 9"/>
          <p:cNvSpPr/>
          <p:nvPr/>
        </p:nvSpPr>
        <p:spPr>
          <a:xfrm>
            <a:off x="3291840" y="1325880"/>
            <a:ext cx="2560320" cy="3200400"/>
          </a:xfrm>
          <a:prstGeom prst="roundRect">
            <a:avLst>
              <a:gd name="adj" fmla="val 4286"/>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3" name="Shape 10"/>
          <p:cNvSpPr/>
          <p:nvPr/>
        </p:nvSpPr>
        <p:spPr>
          <a:xfrm>
            <a:off x="3547872" y="1572768"/>
            <a:ext cx="566928" cy="566928"/>
          </a:xfrm>
          <a:prstGeom prst="ellipse">
            <a:avLst/>
          </a:prstGeom>
          <a:solidFill>
            <a:srgbClr val="168A7E"/>
          </a:solidFill>
          <a:ln w="12700">
            <a:solidFill>
              <a:srgbClr val="168A7E"/>
            </a:solidFill>
            <a:prstDash val="solid"/>
          </a:ln>
        </p:spPr>
        <p:txBody>
          <a:bodyPr/>
          <a:lstStyle/>
          <a:p>
            <a:endParaRPr lang="ko-KR" altLang="en-US"/>
          </a:p>
        </p:txBody>
      </p:sp>
      <p:pic>
        <p:nvPicPr>
          <p:cNvPr id="14"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3695273" y="1720169"/>
            <a:ext cx="272125" cy="272125"/>
          </a:xfrm>
          <a:prstGeom prst="rect">
            <a:avLst/>
          </a:prstGeom>
        </p:spPr>
      </p:pic>
      <p:sp>
        <p:nvSpPr>
          <p:cNvPr id="15" name="Text 11"/>
          <p:cNvSpPr/>
          <p:nvPr/>
        </p:nvSpPr>
        <p:spPr>
          <a:xfrm>
            <a:off x="3547872" y="2286000"/>
            <a:ext cx="2057400" cy="320040"/>
          </a:xfrm>
          <a:prstGeom prst="rect">
            <a:avLst/>
          </a:prstGeom>
          <a:noFill/>
          <a:ln/>
        </p:spPr>
        <p:txBody>
          <a:bodyPr wrap="square" lIns="0" tIns="0" rIns="0" bIns="0" rtlCol="0" anchor="ctr"/>
          <a:lstStyle/>
          <a:p>
            <a:pPr marL="0" indent="0">
              <a:buNone/>
            </a:pPr>
            <a:r>
              <a:rPr lang="ko-KR" altLang="en-US" sz="1500" b="1" dirty="0">
                <a:solidFill>
                  <a:srgbClr val="1F2933"/>
                </a:solidFill>
                <a:latin typeface="맑은 고딕" pitchFamily="34" charset="0"/>
                <a:ea typeface="맑은 고딕" pitchFamily="34" charset="-122"/>
                <a:cs typeface="맑은 고딕" pitchFamily="34" charset="-120"/>
              </a:rPr>
              <a:t>끊임없는　정보　변동</a:t>
            </a:r>
            <a:endParaRPr lang="en-US" sz="1500" dirty="0"/>
          </a:p>
        </p:txBody>
      </p:sp>
      <p:sp>
        <p:nvSpPr>
          <p:cNvPr id="16" name="Text 12"/>
          <p:cNvSpPr/>
          <p:nvPr/>
        </p:nvSpPr>
        <p:spPr>
          <a:xfrm>
            <a:off x="3547872" y="2670048"/>
            <a:ext cx="2103120" cy="777240"/>
          </a:xfrm>
          <a:prstGeom prst="rect">
            <a:avLst/>
          </a:prstGeom>
          <a:noFill/>
          <a:ln/>
        </p:spPr>
        <p:txBody>
          <a:bodyPr wrap="square" lIns="0" tIns="0" rIns="0" bIns="0" rtlCol="0" anchor="ctr"/>
          <a:lstStyle/>
          <a:p>
            <a:pPr marL="0" indent="0">
              <a:lnSpc>
                <a:spcPts val="1700"/>
              </a:lnSpc>
              <a:buNone/>
            </a:pPr>
            <a:r>
              <a:rPr lang="en-US" sz="1100" dirty="0">
                <a:solidFill>
                  <a:srgbClr val="5F7175"/>
                </a:solidFill>
                <a:latin typeface="맑은 고딕" pitchFamily="34" charset="0"/>
                <a:ea typeface="맑은 고딕" pitchFamily="34" charset="-122"/>
                <a:cs typeface="맑은 고딕" pitchFamily="34" charset="-120"/>
              </a:rPr>
              <a:t>폐업·이전·이름 변형이 계속된다.</a:t>
            </a:r>
            <a:endParaRPr lang="en-US" sz="1100" dirty="0"/>
          </a:p>
          <a:p>
            <a:pPr marL="0" indent="0">
              <a:lnSpc>
                <a:spcPts val="1700"/>
              </a:lnSpc>
              <a:buNone/>
            </a:pPr>
            <a:r>
              <a:rPr lang="en-US" sz="1100" dirty="0">
                <a:solidFill>
                  <a:srgbClr val="5F7175"/>
                </a:solidFill>
                <a:latin typeface="맑은 고딕" pitchFamily="34" charset="0"/>
                <a:ea typeface="맑은 고딕" pitchFamily="34" charset="-122"/>
                <a:cs typeface="맑은 고딕" pitchFamily="34" charset="-120"/>
              </a:rPr>
              <a:t>추천받은 카페가 이미 없을 수 있다.</a:t>
            </a:r>
            <a:endParaRPr lang="en-US" sz="1100" dirty="0"/>
          </a:p>
        </p:txBody>
      </p:sp>
      <p:sp>
        <p:nvSpPr>
          <p:cNvPr id="17" name="Shape 13"/>
          <p:cNvSpPr/>
          <p:nvPr/>
        </p:nvSpPr>
        <p:spPr>
          <a:xfrm>
            <a:off x="3547872" y="3584448"/>
            <a:ext cx="2103120" cy="685800"/>
          </a:xfrm>
          <a:prstGeom prst="roundRect">
            <a:avLst>
              <a:gd name="adj" fmla="val 13333"/>
            </a:avLst>
          </a:prstGeom>
          <a:solidFill>
            <a:srgbClr val="E7F3F1"/>
          </a:solidFill>
          <a:ln w="12700">
            <a:solidFill>
              <a:srgbClr val="333333"/>
            </a:solidFill>
            <a:prstDash val="solid"/>
          </a:ln>
        </p:spPr>
        <p:txBody>
          <a:bodyPr/>
          <a:lstStyle/>
          <a:p>
            <a:endParaRPr lang="ko-KR" altLang="en-US"/>
          </a:p>
        </p:txBody>
      </p:sp>
      <p:sp>
        <p:nvSpPr>
          <p:cNvPr id="18" name="Text 14"/>
          <p:cNvSpPr/>
          <p:nvPr/>
        </p:nvSpPr>
        <p:spPr>
          <a:xfrm>
            <a:off x="3657600" y="3639312"/>
            <a:ext cx="1828800" cy="320040"/>
          </a:xfrm>
          <a:prstGeom prst="rect">
            <a:avLst/>
          </a:prstGeom>
          <a:noFill/>
          <a:ln/>
        </p:spPr>
        <p:txBody>
          <a:bodyPr wrap="square" lIns="0" tIns="0" rIns="0" bIns="0" rtlCol="0" anchor="ctr"/>
          <a:lstStyle/>
          <a:p>
            <a:pPr marL="0" indent="0">
              <a:buNone/>
            </a:pPr>
            <a:r>
              <a:rPr lang="en-US" sz="1700" b="1" dirty="0">
                <a:solidFill>
                  <a:srgbClr val="0F5257"/>
                </a:solidFill>
                <a:latin typeface="맑은 고딕" pitchFamily="34" charset="0"/>
                <a:ea typeface="맑은 고딕" pitchFamily="34" charset="-122"/>
                <a:cs typeface="맑은 고딕" pitchFamily="34" charset="-120"/>
              </a:rPr>
              <a:t>122그룹</a:t>
            </a:r>
            <a:endParaRPr lang="en-US" sz="1700" dirty="0"/>
          </a:p>
        </p:txBody>
      </p:sp>
      <p:sp>
        <p:nvSpPr>
          <p:cNvPr id="19" name="Text 15"/>
          <p:cNvSpPr/>
          <p:nvPr/>
        </p:nvSpPr>
        <p:spPr>
          <a:xfrm>
            <a:off x="3657600" y="3972379"/>
            <a:ext cx="1828800" cy="256032"/>
          </a:xfrm>
          <a:prstGeom prst="rect">
            <a:avLst/>
          </a:prstGeom>
          <a:noFill/>
          <a:ln/>
        </p:spPr>
        <p:txBody>
          <a:bodyPr wrap="square" lIns="0" tIns="0" rIns="0" bIns="0" rtlCol="0" anchor="ctr"/>
          <a:lstStyle/>
          <a:p>
            <a:pPr marL="0" indent="0">
              <a:buNone/>
            </a:pPr>
            <a:r>
              <a:rPr lang="en-US" sz="900" dirty="0">
                <a:solidFill>
                  <a:srgbClr val="5F7175"/>
                </a:solidFill>
                <a:latin typeface="맑은 고딕" pitchFamily="34" charset="0"/>
                <a:ea typeface="맑은 고딕" pitchFamily="34" charset="-122"/>
                <a:cs typeface="맑은 고딕" pitchFamily="34" charset="-120"/>
              </a:rPr>
              <a:t>동일 카페 중복 등록</a:t>
            </a:r>
            <a:endParaRPr lang="en-US" sz="900" dirty="0"/>
          </a:p>
        </p:txBody>
      </p:sp>
      <p:sp>
        <p:nvSpPr>
          <p:cNvPr id="20" name="Shape 16"/>
          <p:cNvSpPr/>
          <p:nvPr/>
        </p:nvSpPr>
        <p:spPr>
          <a:xfrm>
            <a:off x="6080760" y="1325880"/>
            <a:ext cx="2560320" cy="3200400"/>
          </a:xfrm>
          <a:prstGeom prst="roundRect">
            <a:avLst>
              <a:gd name="adj" fmla="val 4286"/>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1" name="Shape 17"/>
          <p:cNvSpPr/>
          <p:nvPr/>
        </p:nvSpPr>
        <p:spPr>
          <a:xfrm>
            <a:off x="6336792" y="1572768"/>
            <a:ext cx="566928" cy="566928"/>
          </a:xfrm>
          <a:prstGeom prst="ellipse">
            <a:avLst/>
          </a:prstGeom>
          <a:solidFill>
            <a:srgbClr val="168A7E"/>
          </a:solidFill>
          <a:ln w="12700">
            <a:solidFill>
              <a:srgbClr val="168A7E"/>
            </a:solidFill>
            <a:prstDash val="solid"/>
          </a:ln>
        </p:spPr>
        <p:txBody>
          <a:bodyPr/>
          <a:lstStyle/>
          <a:p>
            <a:endParaRPr lang="ko-KR" altLang="en-US"/>
          </a:p>
        </p:txBody>
      </p:sp>
      <p:pic>
        <p:nvPicPr>
          <p:cNvPr id="22" name="Image 2" descr="preencoded.png"/>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6484193" y="1720169"/>
            <a:ext cx="272125" cy="272125"/>
          </a:xfrm>
          <a:prstGeom prst="rect">
            <a:avLst/>
          </a:prstGeom>
        </p:spPr>
      </p:pic>
      <p:sp>
        <p:nvSpPr>
          <p:cNvPr id="23" name="Text 18"/>
          <p:cNvSpPr/>
          <p:nvPr/>
        </p:nvSpPr>
        <p:spPr>
          <a:xfrm>
            <a:off x="6336792" y="2286000"/>
            <a:ext cx="2057400" cy="320040"/>
          </a:xfrm>
          <a:prstGeom prst="rect">
            <a:avLst/>
          </a:prstGeom>
          <a:noFill/>
          <a:ln/>
        </p:spPr>
        <p:txBody>
          <a:bodyPr wrap="square" lIns="0" tIns="0" rIns="0" bIns="0" rtlCol="0" anchor="ctr"/>
          <a:lstStyle/>
          <a:p>
            <a:pPr marL="0" indent="0">
              <a:buNone/>
            </a:pPr>
            <a:r>
              <a:rPr lang="ko-KR" altLang="en-US" sz="1500" b="1" dirty="0">
                <a:solidFill>
                  <a:srgbClr val="1F2933"/>
                </a:solidFill>
                <a:latin typeface="맑은 고딕" pitchFamily="34" charset="0"/>
                <a:ea typeface="맑은 고딕" pitchFamily="34" charset="-122"/>
                <a:cs typeface="맑은 고딕" pitchFamily="34" charset="-120"/>
              </a:rPr>
              <a:t>채널별　분산된　정보</a:t>
            </a:r>
            <a:endParaRPr lang="en-US" sz="1500" dirty="0"/>
          </a:p>
        </p:txBody>
      </p:sp>
      <p:sp>
        <p:nvSpPr>
          <p:cNvPr id="24" name="Text 19"/>
          <p:cNvSpPr/>
          <p:nvPr/>
        </p:nvSpPr>
        <p:spPr>
          <a:xfrm>
            <a:off x="6336792" y="2670048"/>
            <a:ext cx="2103120" cy="777240"/>
          </a:xfrm>
          <a:prstGeom prst="rect">
            <a:avLst/>
          </a:prstGeom>
          <a:noFill/>
          <a:ln/>
        </p:spPr>
        <p:txBody>
          <a:bodyPr wrap="square" lIns="0" tIns="0" rIns="0" bIns="0" rtlCol="0" anchor="ctr"/>
          <a:lstStyle/>
          <a:p>
            <a:pPr marL="0" indent="0">
              <a:lnSpc>
                <a:spcPts val="1700"/>
              </a:lnSpc>
              <a:buNone/>
            </a:pPr>
            <a:r>
              <a:rPr lang="ko-KR" altLang="en-US" sz="1100" dirty="0">
                <a:solidFill>
                  <a:srgbClr val="5F7175"/>
                </a:solidFill>
                <a:latin typeface="맑은 고딕" pitchFamily="34" charset="0"/>
                <a:ea typeface="맑은 고딕" pitchFamily="34" charset="-122"/>
                <a:cs typeface="맑은 고딕" pitchFamily="34" charset="-120"/>
              </a:rPr>
              <a:t>유튜브　＋　카카오＋　네이버</a:t>
            </a:r>
            <a:endParaRPr lang="en-US" altLang="ko-KR" sz="1100" dirty="0">
              <a:solidFill>
                <a:srgbClr val="5F7175"/>
              </a:solidFill>
              <a:latin typeface="맑은 고딕" pitchFamily="34" charset="0"/>
              <a:ea typeface="맑은 고딕" pitchFamily="34" charset="-122"/>
              <a:cs typeface="맑은 고딕" pitchFamily="34" charset="-120"/>
            </a:endParaRPr>
          </a:p>
          <a:p>
            <a:pPr marL="0" indent="0">
              <a:lnSpc>
                <a:spcPts val="1700"/>
              </a:lnSpc>
              <a:buNone/>
            </a:pPr>
            <a:r>
              <a:rPr lang="ko-KR" altLang="en-US" sz="1100" dirty="0">
                <a:solidFill>
                  <a:srgbClr val="5F7175"/>
                </a:solidFill>
                <a:latin typeface="맑은 고딕" pitchFamily="34" charset="0"/>
                <a:ea typeface="맑은 고딕" pitchFamily="34" charset="-122"/>
                <a:cs typeface="맑은 고딕" pitchFamily="34" charset="-120"/>
              </a:rPr>
              <a:t>구슬은　</a:t>
            </a:r>
            <a:r>
              <a:rPr lang="ko-KR" altLang="en-US" sz="1100" dirty="0" err="1">
                <a:solidFill>
                  <a:srgbClr val="5F7175"/>
                </a:solidFill>
                <a:latin typeface="맑은 고딕" pitchFamily="34" charset="0"/>
                <a:ea typeface="맑은 고딕" pitchFamily="34" charset="-122"/>
                <a:cs typeface="맑은 고딕" pitchFamily="34" charset="-120"/>
              </a:rPr>
              <a:t>서말인데</a:t>
            </a:r>
            <a:r>
              <a:rPr lang="ko-KR" altLang="en-US" sz="1100" dirty="0">
                <a:solidFill>
                  <a:srgbClr val="5F7175"/>
                </a:solidFill>
                <a:latin typeface="맑은 고딕" pitchFamily="34" charset="0"/>
                <a:ea typeface="맑은 고딕" pitchFamily="34" charset="-122"/>
                <a:cs typeface="맑은 고딕" pitchFamily="34" charset="-120"/>
              </a:rPr>
              <a:t>　이거　</a:t>
            </a:r>
            <a:r>
              <a:rPr lang="ko-KR" altLang="en-US" sz="1100" dirty="0" err="1">
                <a:solidFill>
                  <a:srgbClr val="5F7175"/>
                </a:solidFill>
                <a:latin typeface="맑은 고딕" pitchFamily="34" charset="0"/>
                <a:ea typeface="맑은 고딕" pitchFamily="34" charset="-122"/>
                <a:cs typeface="맑은 고딕" pitchFamily="34" charset="-120"/>
              </a:rPr>
              <a:t>꿰다간</a:t>
            </a:r>
            <a:r>
              <a:rPr lang="ko-KR" altLang="en-US" sz="1100" dirty="0">
                <a:solidFill>
                  <a:srgbClr val="5F7175"/>
                </a:solidFill>
                <a:latin typeface="맑은 고딕" pitchFamily="34" charset="0"/>
                <a:ea typeface="맑은 고딕" pitchFamily="34" charset="-122"/>
                <a:cs typeface="맑은 고딕" pitchFamily="34" charset="-120"/>
              </a:rPr>
              <a:t>　여행은　대체　언제？</a:t>
            </a:r>
            <a:endParaRPr lang="en-US" sz="1100" dirty="0"/>
          </a:p>
        </p:txBody>
      </p:sp>
      <p:sp>
        <p:nvSpPr>
          <p:cNvPr id="25" name="Shape 20"/>
          <p:cNvSpPr/>
          <p:nvPr/>
        </p:nvSpPr>
        <p:spPr>
          <a:xfrm>
            <a:off x="6336792" y="3584448"/>
            <a:ext cx="2048256" cy="685800"/>
          </a:xfrm>
          <a:prstGeom prst="roundRect">
            <a:avLst>
              <a:gd name="adj" fmla="val 13333"/>
            </a:avLst>
          </a:prstGeom>
          <a:solidFill>
            <a:srgbClr val="E7F3F1"/>
          </a:solidFill>
          <a:ln w="12700">
            <a:solidFill>
              <a:srgbClr val="333333"/>
            </a:solidFill>
            <a:prstDash val="solid"/>
          </a:ln>
        </p:spPr>
        <p:txBody>
          <a:bodyPr/>
          <a:lstStyle/>
          <a:p>
            <a:endParaRPr lang="ko-KR" altLang="en-US"/>
          </a:p>
        </p:txBody>
      </p:sp>
      <p:sp>
        <p:nvSpPr>
          <p:cNvPr id="26" name="Text 21"/>
          <p:cNvSpPr/>
          <p:nvPr/>
        </p:nvSpPr>
        <p:spPr>
          <a:xfrm>
            <a:off x="6446520" y="3639312"/>
            <a:ext cx="1828800" cy="320040"/>
          </a:xfrm>
          <a:prstGeom prst="rect">
            <a:avLst/>
          </a:prstGeom>
          <a:noFill/>
          <a:ln/>
        </p:spPr>
        <p:txBody>
          <a:bodyPr wrap="square" lIns="0" tIns="0" rIns="0" bIns="0" rtlCol="0" anchor="ctr"/>
          <a:lstStyle/>
          <a:p>
            <a:pPr marL="0" indent="0">
              <a:buNone/>
            </a:pPr>
            <a:r>
              <a:rPr lang="ko-KR" altLang="en-US" sz="1700" b="1" dirty="0">
                <a:solidFill>
                  <a:srgbClr val="0F5257"/>
                </a:solidFill>
                <a:latin typeface="맑은 고딕" pitchFamily="34" charset="0"/>
                <a:ea typeface="맑은 고딕" pitchFamily="34" charset="-122"/>
                <a:cs typeface="맑은 고딕" pitchFamily="34" charset="-120"/>
              </a:rPr>
              <a:t>최소　１５분</a:t>
            </a:r>
            <a:endParaRPr lang="en-US" sz="1700" dirty="0"/>
          </a:p>
        </p:txBody>
      </p:sp>
      <p:sp>
        <p:nvSpPr>
          <p:cNvPr id="27" name="Text 22"/>
          <p:cNvSpPr/>
          <p:nvPr/>
        </p:nvSpPr>
        <p:spPr>
          <a:xfrm>
            <a:off x="6433994" y="3984905"/>
            <a:ext cx="1828800" cy="256032"/>
          </a:xfrm>
          <a:prstGeom prst="rect">
            <a:avLst/>
          </a:prstGeom>
          <a:noFill/>
          <a:ln/>
        </p:spPr>
        <p:txBody>
          <a:bodyPr wrap="square" lIns="0" tIns="0" rIns="0" bIns="0" rtlCol="0" anchor="ctr"/>
          <a:lstStyle/>
          <a:p>
            <a:pPr marL="0" indent="0">
              <a:buNone/>
            </a:pPr>
            <a:r>
              <a:rPr lang="ko-KR" altLang="en-US" sz="900" dirty="0">
                <a:solidFill>
                  <a:srgbClr val="5F7175"/>
                </a:solidFill>
                <a:latin typeface="맑은 고딕" pitchFamily="34" charset="0"/>
                <a:ea typeface="맑은 고딕" pitchFamily="34" charset="-122"/>
                <a:cs typeface="맑은 고딕" pitchFamily="34" charset="-120"/>
              </a:rPr>
              <a:t>카페　정보　탐색과　교차　검증에</a:t>
            </a:r>
            <a:endParaRPr lang="en-US" altLang="ko-KR" sz="900" dirty="0">
              <a:solidFill>
                <a:srgbClr val="5F7175"/>
              </a:solidFill>
              <a:latin typeface="맑은 고딕" pitchFamily="34" charset="0"/>
              <a:ea typeface="맑은 고딕" pitchFamily="34" charset="-122"/>
              <a:cs typeface="맑은 고딕" pitchFamily="34" charset="-120"/>
            </a:endParaRPr>
          </a:p>
          <a:p>
            <a:pPr marL="0" indent="0">
              <a:buNone/>
            </a:pPr>
            <a:r>
              <a:rPr lang="ko-KR" altLang="en-US" sz="900" dirty="0">
                <a:solidFill>
                  <a:srgbClr val="5F7175"/>
                </a:solidFill>
                <a:latin typeface="맑은 고딕" pitchFamily="34" charset="0"/>
                <a:ea typeface="맑은 고딕" pitchFamily="34" charset="-122"/>
                <a:cs typeface="맑은 고딕" pitchFamily="34" charset="-120"/>
              </a:rPr>
              <a:t>시간과　토큰이　녹는다　</a:t>
            </a:r>
            <a:endParaRPr lang="en-US" sz="900" dirty="0"/>
          </a:p>
        </p:txBody>
      </p:sp>
      <p:sp>
        <p:nvSpPr>
          <p:cNvPr id="28" name="Text 23"/>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29" name="Text 24"/>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F4351-4970-BA5E-7124-8CAF8BE4621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9E266CD-3EDC-AB78-BE24-DD8F47A97AE7}"/>
              </a:ext>
            </a:extLst>
          </p:cNvPr>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01  SOLUTION</a:t>
            </a:r>
            <a:endParaRPr lang="en-US" sz="1100" dirty="0"/>
          </a:p>
        </p:txBody>
      </p:sp>
      <p:sp>
        <p:nvSpPr>
          <p:cNvPr id="3" name="Text 1">
            <a:extLst>
              <a:ext uri="{FF2B5EF4-FFF2-40B4-BE49-F238E27FC236}">
                <a16:creationId xmlns:a16="http://schemas.microsoft.com/office/drawing/2014/main" id="{A0F057E4-D885-9D7F-B512-AA8A96CEC85E}"/>
              </a:ext>
            </a:extLst>
          </p:cNvPr>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묻고, 고르고, 원문으로 증명한다</a:t>
            </a:r>
            <a:endParaRPr lang="en-US" sz="2700" dirty="0"/>
          </a:p>
        </p:txBody>
      </p:sp>
      <p:sp>
        <p:nvSpPr>
          <p:cNvPr id="4" name="Shape 2">
            <a:extLst>
              <a:ext uri="{FF2B5EF4-FFF2-40B4-BE49-F238E27FC236}">
                <a16:creationId xmlns:a16="http://schemas.microsoft.com/office/drawing/2014/main" id="{5C62B692-4BB0-F050-DCA9-E214ABD652D0}"/>
              </a:ext>
            </a:extLst>
          </p:cNvPr>
          <p:cNvSpPr/>
          <p:nvPr/>
        </p:nvSpPr>
        <p:spPr>
          <a:xfrm>
            <a:off x="502920" y="1298448"/>
            <a:ext cx="3931920" cy="566928"/>
          </a:xfrm>
          <a:prstGeom prst="roundRect">
            <a:avLst>
              <a:gd name="adj" fmla="val 50000"/>
            </a:avLst>
          </a:prstGeom>
          <a:solidFill>
            <a:srgbClr val="E7F3F1"/>
          </a:solidFill>
          <a:ln w="9525">
            <a:solidFill>
              <a:srgbClr val="C7E1DC"/>
            </a:solidFill>
            <a:prstDash val="solid"/>
          </a:ln>
        </p:spPr>
        <p:txBody>
          <a:bodyPr/>
          <a:lstStyle/>
          <a:p>
            <a:endParaRPr lang="ko-KR" altLang="en-US"/>
          </a:p>
        </p:txBody>
      </p:sp>
      <p:sp>
        <p:nvSpPr>
          <p:cNvPr id="5" name="Shape 3">
            <a:extLst>
              <a:ext uri="{FF2B5EF4-FFF2-40B4-BE49-F238E27FC236}">
                <a16:creationId xmlns:a16="http://schemas.microsoft.com/office/drawing/2014/main" id="{4ACEDC9F-89EC-9B0C-A6BE-0D18025A7FE4}"/>
              </a:ext>
            </a:extLst>
          </p:cNvPr>
          <p:cNvSpPr/>
          <p:nvPr/>
        </p:nvSpPr>
        <p:spPr>
          <a:xfrm>
            <a:off x="621792" y="1417320"/>
            <a:ext cx="329184" cy="329184"/>
          </a:xfrm>
          <a:prstGeom prst="ellipse">
            <a:avLst/>
          </a:prstGeom>
          <a:solidFill>
            <a:srgbClr val="168A7E"/>
          </a:solidFill>
          <a:ln w="12700">
            <a:solidFill>
              <a:srgbClr val="168A7E"/>
            </a:solidFill>
            <a:prstDash val="solid"/>
          </a:ln>
        </p:spPr>
        <p:txBody>
          <a:bodyPr/>
          <a:lstStyle/>
          <a:p>
            <a:endParaRPr lang="ko-KR" altLang="en-US"/>
          </a:p>
        </p:txBody>
      </p:sp>
      <p:pic>
        <p:nvPicPr>
          <p:cNvPr id="6" name="Image 0" descr="preencoded.png">
            <a:extLst>
              <a:ext uri="{FF2B5EF4-FFF2-40B4-BE49-F238E27FC236}">
                <a16:creationId xmlns:a16="http://schemas.microsoft.com/office/drawing/2014/main" id="{69A6BCCA-4849-4144-C577-933B54380152}"/>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707380" y="1502908"/>
            <a:ext cx="158008" cy="158008"/>
          </a:xfrm>
          <a:prstGeom prst="rect">
            <a:avLst/>
          </a:prstGeom>
        </p:spPr>
      </p:pic>
      <p:sp>
        <p:nvSpPr>
          <p:cNvPr id="7" name="Text 4">
            <a:extLst>
              <a:ext uri="{FF2B5EF4-FFF2-40B4-BE49-F238E27FC236}">
                <a16:creationId xmlns:a16="http://schemas.microsoft.com/office/drawing/2014/main" id="{7510BFF5-802D-6564-F5B3-8034652F90DA}"/>
              </a:ext>
            </a:extLst>
          </p:cNvPr>
          <p:cNvSpPr/>
          <p:nvPr/>
        </p:nvSpPr>
        <p:spPr>
          <a:xfrm>
            <a:off x="1051560" y="1298448"/>
            <a:ext cx="3291840" cy="566928"/>
          </a:xfrm>
          <a:prstGeom prst="rect">
            <a:avLst/>
          </a:prstGeom>
          <a:noFill/>
          <a:ln/>
        </p:spPr>
        <p:txBody>
          <a:bodyPr wrap="square" lIns="0" tIns="0" rIns="0" bIns="0" rtlCol="0" anchor="ctr"/>
          <a:lstStyle/>
          <a:p>
            <a:pPr marL="0" indent="0">
              <a:buNone/>
            </a:pPr>
            <a:r>
              <a:rPr lang="en-US" sz="1200" b="1" dirty="0">
                <a:solidFill>
                  <a:srgbClr val="0F5257"/>
                </a:solidFill>
                <a:latin typeface="맑은 고딕" pitchFamily="34" charset="0"/>
                <a:ea typeface="맑은 고딕" pitchFamily="34" charset="-122"/>
                <a:cs typeface="맑은 고딕" pitchFamily="34" charset="-120"/>
              </a:rPr>
              <a:t>“애월에서 노을 보기 좋은 조용한 카페”</a:t>
            </a:r>
            <a:endParaRPr lang="en-US" sz="1200" dirty="0"/>
          </a:p>
        </p:txBody>
      </p:sp>
      <p:sp>
        <p:nvSpPr>
          <p:cNvPr id="8" name="Text 5">
            <a:extLst>
              <a:ext uri="{FF2B5EF4-FFF2-40B4-BE49-F238E27FC236}">
                <a16:creationId xmlns:a16="http://schemas.microsoft.com/office/drawing/2014/main" id="{46B85E86-2675-D776-61EC-BE3744D56F3B}"/>
              </a:ext>
            </a:extLst>
          </p:cNvPr>
          <p:cNvSpPr/>
          <p:nvPr/>
        </p:nvSpPr>
        <p:spPr>
          <a:xfrm>
            <a:off x="502920" y="2011680"/>
            <a:ext cx="4023360" cy="777240"/>
          </a:xfrm>
          <a:prstGeom prst="rect">
            <a:avLst/>
          </a:prstGeom>
          <a:noFill/>
          <a:ln/>
        </p:spPr>
        <p:txBody>
          <a:bodyPr wrap="square" lIns="0" tIns="0" rIns="0" bIns="0" rtlCol="0" anchor="ctr"/>
          <a:lstStyle/>
          <a:p>
            <a:pPr marL="0" indent="0">
              <a:lnSpc>
                <a:spcPts val="2200"/>
              </a:lnSpc>
              <a:buNone/>
            </a:pPr>
            <a:r>
              <a:rPr lang="en-US" sz="1250" dirty="0">
                <a:solidFill>
                  <a:srgbClr val="5F7175"/>
                </a:solidFill>
                <a:latin typeface="맑은 고딕" pitchFamily="34" charset="0"/>
                <a:ea typeface="맑은 고딕" pitchFamily="34" charset="-122"/>
                <a:cs typeface="맑은 고딕" pitchFamily="34" charset="-120"/>
              </a:rPr>
              <a:t>실제로 그 조건에 맞는 카페를 고르고, </a:t>
            </a:r>
            <a:r>
              <a:rPr lang="en-US" sz="1250" b="1" dirty="0">
                <a:solidFill>
                  <a:srgbClr val="E8842B"/>
                </a:solidFill>
                <a:latin typeface="맑은 고딕" pitchFamily="34" charset="0"/>
                <a:ea typeface="맑은 고딕" pitchFamily="34" charset="-122"/>
                <a:cs typeface="맑은 고딕" pitchFamily="34" charset="-120"/>
              </a:rPr>
              <a:t>왜 그 카페인지</a:t>
            </a:r>
            <a:r>
              <a:rPr lang="en-US" sz="1250" dirty="0">
                <a:solidFill>
                  <a:srgbClr val="5F7175"/>
                </a:solidFill>
                <a:latin typeface="맑은 고딕" pitchFamily="34" charset="0"/>
                <a:ea typeface="맑은 고딕" pitchFamily="34" charset="-122"/>
                <a:cs typeface="맑은 고딕" pitchFamily="34" charset="-120"/>
              </a:rPr>
              <a:t>를</a:t>
            </a:r>
            <a:endParaRPr lang="en-US" sz="1250" dirty="0"/>
          </a:p>
          <a:p>
            <a:pPr marL="0" indent="0">
              <a:lnSpc>
                <a:spcPts val="2200"/>
              </a:lnSpc>
              <a:buNone/>
            </a:pPr>
            <a:r>
              <a:rPr lang="en-US" sz="1250" dirty="0">
                <a:solidFill>
                  <a:srgbClr val="5F7175"/>
                </a:solidFill>
                <a:latin typeface="맑은 고딕" pitchFamily="34" charset="0"/>
                <a:ea typeface="맑은 고딕" pitchFamily="34" charset="-122"/>
                <a:cs typeface="맑은 고딕" pitchFamily="34" charset="-120"/>
              </a:rPr>
              <a:t>유튜브 댓글 · 네이버 블로그 · 카카오 리뷰의 </a:t>
            </a:r>
            <a:endParaRPr lang="en-US" sz="1250" dirty="0"/>
          </a:p>
          <a:p>
            <a:pPr marL="0" indent="0">
              <a:lnSpc>
                <a:spcPts val="2200"/>
              </a:lnSpc>
              <a:buNone/>
            </a:pPr>
            <a:r>
              <a:rPr lang="en-US" sz="1250" b="1" dirty="0">
                <a:solidFill>
                  <a:srgbClr val="168A7E"/>
                </a:solidFill>
                <a:latin typeface="맑은 고딕" pitchFamily="34" charset="0"/>
                <a:ea typeface="맑은 고딕" pitchFamily="34" charset="-122"/>
                <a:cs typeface="맑은 고딕" pitchFamily="34" charset="-120"/>
              </a:rPr>
              <a:t>원문 인용</a:t>
            </a:r>
            <a:r>
              <a:rPr lang="en-US" sz="1250" dirty="0">
                <a:solidFill>
                  <a:srgbClr val="5F7175"/>
                </a:solidFill>
                <a:latin typeface="맑은 고딕" pitchFamily="34" charset="0"/>
                <a:ea typeface="맑은 고딕" pitchFamily="34" charset="-122"/>
                <a:cs typeface="맑은 고딕" pitchFamily="34" charset="-120"/>
              </a:rPr>
              <a:t>으로 증명합니다.</a:t>
            </a:r>
            <a:endParaRPr lang="en-US" sz="1250" dirty="0"/>
          </a:p>
        </p:txBody>
      </p:sp>
      <p:pic>
        <p:nvPicPr>
          <p:cNvPr id="9" name="Image 1" descr="preencoded.png">
            <a:extLst>
              <a:ext uri="{FF2B5EF4-FFF2-40B4-BE49-F238E27FC236}">
                <a16:creationId xmlns:a16="http://schemas.microsoft.com/office/drawing/2014/main" id="{77A1B8D0-B43B-4F33-9BC7-9BE0E1039C2E}"/>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87411" y="3019715"/>
            <a:ext cx="105339" cy="105339"/>
          </a:xfrm>
          <a:prstGeom prst="rect">
            <a:avLst/>
          </a:prstGeom>
        </p:spPr>
      </p:pic>
      <p:sp>
        <p:nvSpPr>
          <p:cNvPr id="10" name="Text 6">
            <a:extLst>
              <a:ext uri="{FF2B5EF4-FFF2-40B4-BE49-F238E27FC236}">
                <a16:creationId xmlns:a16="http://schemas.microsoft.com/office/drawing/2014/main" id="{7DBED418-609A-F78A-067A-8EB1DCB8635B}"/>
              </a:ext>
            </a:extLst>
          </p:cNvPr>
          <p:cNvSpPr/>
          <p:nvPr/>
        </p:nvSpPr>
        <p:spPr>
          <a:xfrm>
            <a:off x="841248" y="2926080"/>
            <a:ext cx="3749040" cy="292608"/>
          </a:xfrm>
          <a:prstGeom prst="rect">
            <a:avLst/>
          </a:prstGeom>
          <a:noFill/>
          <a:ln/>
        </p:spPr>
        <p:txBody>
          <a:bodyPr wrap="square" lIns="0" tIns="0" rIns="0" bIns="0" rtlCol="0" anchor="ctr"/>
          <a:lstStyle/>
          <a:p>
            <a:pPr marL="0" indent="0">
              <a:buNone/>
            </a:pPr>
            <a:r>
              <a:rPr lang="en-US" sz="1100" dirty="0">
                <a:solidFill>
                  <a:srgbClr val="1F2933"/>
                </a:solidFill>
                <a:latin typeface="맑은 고딕" pitchFamily="34" charset="0"/>
                <a:ea typeface="맑은 고딕" pitchFamily="34" charset="-122"/>
                <a:cs typeface="맑은 고딕" pitchFamily="34" charset="-120"/>
              </a:rPr>
              <a:t>좋은 말만 고르지 않는다 — 아쉬운 점을 나란히 표시</a:t>
            </a:r>
            <a:endParaRPr lang="en-US" sz="1100" dirty="0"/>
          </a:p>
        </p:txBody>
      </p:sp>
      <p:pic>
        <p:nvPicPr>
          <p:cNvPr id="11" name="Image 2" descr="preencoded.png">
            <a:extLst>
              <a:ext uri="{FF2B5EF4-FFF2-40B4-BE49-F238E27FC236}">
                <a16:creationId xmlns:a16="http://schemas.microsoft.com/office/drawing/2014/main" id="{7C5B6309-4110-186B-54D4-2154D8E37A6A}"/>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87411" y="3403763"/>
            <a:ext cx="105339" cy="105339"/>
          </a:xfrm>
          <a:prstGeom prst="rect">
            <a:avLst/>
          </a:prstGeom>
        </p:spPr>
      </p:pic>
      <p:sp>
        <p:nvSpPr>
          <p:cNvPr id="12" name="Text 7">
            <a:extLst>
              <a:ext uri="{FF2B5EF4-FFF2-40B4-BE49-F238E27FC236}">
                <a16:creationId xmlns:a16="http://schemas.microsoft.com/office/drawing/2014/main" id="{F476DCD8-7A87-EF1F-DD86-72309C2287AB}"/>
              </a:ext>
            </a:extLst>
          </p:cNvPr>
          <p:cNvSpPr/>
          <p:nvPr/>
        </p:nvSpPr>
        <p:spPr>
          <a:xfrm>
            <a:off x="841248" y="3310128"/>
            <a:ext cx="3749040" cy="292608"/>
          </a:xfrm>
          <a:prstGeom prst="rect">
            <a:avLst/>
          </a:prstGeom>
          <a:noFill/>
          <a:ln/>
        </p:spPr>
        <p:txBody>
          <a:bodyPr wrap="square" lIns="0" tIns="0" rIns="0" bIns="0" rtlCol="0" anchor="ctr"/>
          <a:lstStyle/>
          <a:p>
            <a:pPr marL="0" indent="0">
              <a:buNone/>
            </a:pPr>
            <a:r>
              <a:rPr lang="en-US" sz="1100" dirty="0">
                <a:solidFill>
                  <a:srgbClr val="1F2933"/>
                </a:solidFill>
                <a:latin typeface="맑은 고딕" pitchFamily="34" charset="0"/>
                <a:ea typeface="맑은 고딕" pitchFamily="34" charset="-122"/>
                <a:cs typeface="맑은 고딕" pitchFamily="34" charset="-120"/>
              </a:rPr>
              <a:t>지어낸 인용은 구조적으로 불가능 (코드가 원문 대조)</a:t>
            </a:r>
            <a:endParaRPr lang="en-US" sz="1100" dirty="0"/>
          </a:p>
        </p:txBody>
      </p:sp>
      <p:pic>
        <p:nvPicPr>
          <p:cNvPr id="13" name="Image 3" descr="preencoded.png">
            <a:extLst>
              <a:ext uri="{FF2B5EF4-FFF2-40B4-BE49-F238E27FC236}">
                <a16:creationId xmlns:a16="http://schemas.microsoft.com/office/drawing/2014/main" id="{C423698F-461F-3C77-690A-9761399A687A}"/>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87411" y="3787811"/>
            <a:ext cx="105339" cy="105339"/>
          </a:xfrm>
          <a:prstGeom prst="rect">
            <a:avLst/>
          </a:prstGeom>
        </p:spPr>
      </p:pic>
      <p:sp>
        <p:nvSpPr>
          <p:cNvPr id="14" name="Text 8">
            <a:extLst>
              <a:ext uri="{FF2B5EF4-FFF2-40B4-BE49-F238E27FC236}">
                <a16:creationId xmlns:a16="http://schemas.microsoft.com/office/drawing/2014/main" id="{AB46F672-7D22-2FAB-5BF9-372CD759BE78}"/>
              </a:ext>
            </a:extLst>
          </p:cNvPr>
          <p:cNvSpPr/>
          <p:nvPr/>
        </p:nvSpPr>
        <p:spPr>
          <a:xfrm>
            <a:off x="841248" y="3694176"/>
            <a:ext cx="3749040" cy="292608"/>
          </a:xfrm>
          <a:prstGeom prst="rect">
            <a:avLst/>
          </a:prstGeom>
          <a:noFill/>
          <a:ln/>
        </p:spPr>
        <p:txBody>
          <a:bodyPr wrap="square" lIns="0" tIns="0" rIns="0" bIns="0" rtlCol="0" anchor="ctr"/>
          <a:lstStyle/>
          <a:p>
            <a:pPr marL="0" indent="0">
              <a:buNone/>
            </a:pPr>
            <a:r>
              <a:rPr lang="en-US" sz="1100" dirty="0">
                <a:solidFill>
                  <a:srgbClr val="1F2933"/>
                </a:solidFill>
                <a:latin typeface="맑은 고딕" pitchFamily="34" charset="0"/>
                <a:ea typeface="맑은 고딕" pitchFamily="34" charset="-122"/>
                <a:cs typeface="맑은 고딕" pitchFamily="34" charset="-120"/>
              </a:rPr>
              <a:t>맞는 카페가 없으면 없다고 말한다 (정직한 실패)</a:t>
            </a:r>
            <a:endParaRPr lang="en-US" sz="1100" dirty="0"/>
          </a:p>
        </p:txBody>
      </p:sp>
      <p:sp>
        <p:nvSpPr>
          <p:cNvPr id="15" name="Shape 9">
            <a:extLst>
              <a:ext uri="{FF2B5EF4-FFF2-40B4-BE49-F238E27FC236}">
                <a16:creationId xmlns:a16="http://schemas.microsoft.com/office/drawing/2014/main" id="{A5AB7521-DB4D-3F1C-F40D-1EF84D6D8C3E}"/>
              </a:ext>
            </a:extLst>
          </p:cNvPr>
          <p:cNvSpPr/>
          <p:nvPr/>
        </p:nvSpPr>
        <p:spPr>
          <a:xfrm>
            <a:off x="4892040" y="1234440"/>
            <a:ext cx="3749040" cy="3310128"/>
          </a:xfrm>
          <a:prstGeom prst="roundRect">
            <a:avLst>
              <a:gd name="adj" fmla="val 3867"/>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6" name="Shape 10">
            <a:extLst>
              <a:ext uri="{FF2B5EF4-FFF2-40B4-BE49-F238E27FC236}">
                <a16:creationId xmlns:a16="http://schemas.microsoft.com/office/drawing/2014/main" id="{AA6177DD-F4F0-A2AB-F5EA-A1A73AC5BFCA}"/>
              </a:ext>
            </a:extLst>
          </p:cNvPr>
          <p:cNvSpPr/>
          <p:nvPr/>
        </p:nvSpPr>
        <p:spPr>
          <a:xfrm>
            <a:off x="5074920" y="1417320"/>
            <a:ext cx="3383280" cy="822960"/>
          </a:xfrm>
          <a:prstGeom prst="roundRect">
            <a:avLst>
              <a:gd name="adj" fmla="val 11111"/>
            </a:avLst>
          </a:prstGeom>
          <a:solidFill>
            <a:srgbClr val="E7F3F1"/>
          </a:solidFill>
          <a:ln w="12700">
            <a:solidFill>
              <a:srgbClr val="333333"/>
            </a:solidFill>
            <a:prstDash val="solid"/>
          </a:ln>
        </p:spPr>
        <p:txBody>
          <a:bodyPr/>
          <a:lstStyle/>
          <a:p>
            <a:endParaRPr lang="ko-KR" altLang="en-US"/>
          </a:p>
        </p:txBody>
      </p:sp>
      <p:sp>
        <p:nvSpPr>
          <p:cNvPr id="17" name="Text 11">
            <a:extLst>
              <a:ext uri="{FF2B5EF4-FFF2-40B4-BE49-F238E27FC236}">
                <a16:creationId xmlns:a16="http://schemas.microsoft.com/office/drawing/2014/main" id="{44161395-DE57-E3BC-18A9-DEDC6BCF3FBC}"/>
              </a:ext>
            </a:extLst>
          </p:cNvPr>
          <p:cNvSpPr/>
          <p:nvPr/>
        </p:nvSpPr>
        <p:spPr>
          <a:xfrm>
            <a:off x="5212080" y="1463040"/>
            <a:ext cx="2011680" cy="365760"/>
          </a:xfrm>
          <a:prstGeom prst="rect">
            <a:avLst/>
          </a:prstGeom>
          <a:noFill/>
          <a:ln/>
        </p:spPr>
        <p:txBody>
          <a:bodyPr wrap="square" lIns="0" tIns="0" rIns="0" bIns="0" rtlCol="0" anchor="ctr"/>
          <a:lstStyle/>
          <a:p>
            <a:pPr marL="0" indent="0">
              <a:buNone/>
            </a:pPr>
            <a:r>
              <a:rPr lang="en-US" sz="1500" b="1" dirty="0">
                <a:solidFill>
                  <a:srgbClr val="1F2933"/>
                </a:solidFill>
                <a:latin typeface="맑은 고딕" pitchFamily="34" charset="0"/>
                <a:ea typeface="맑은 고딕" pitchFamily="34" charset="-122"/>
                <a:cs typeface="맑은 고딕" pitchFamily="34" charset="-120"/>
              </a:rPr>
              <a:t>바다다</a:t>
            </a:r>
            <a:endParaRPr lang="en-US" sz="1500" dirty="0"/>
          </a:p>
        </p:txBody>
      </p:sp>
      <p:sp>
        <p:nvSpPr>
          <p:cNvPr id="18" name="Text 12">
            <a:extLst>
              <a:ext uri="{FF2B5EF4-FFF2-40B4-BE49-F238E27FC236}">
                <a16:creationId xmlns:a16="http://schemas.microsoft.com/office/drawing/2014/main" id="{0AD8DD3B-269E-37C9-AEE2-50EADC74559E}"/>
              </a:ext>
            </a:extLst>
          </p:cNvPr>
          <p:cNvSpPr/>
          <p:nvPr/>
        </p:nvSpPr>
        <p:spPr>
          <a:xfrm>
            <a:off x="5212080" y="1810512"/>
            <a:ext cx="2194560" cy="274320"/>
          </a:xfrm>
          <a:prstGeom prst="rect">
            <a:avLst/>
          </a:prstGeom>
          <a:noFill/>
          <a:ln/>
        </p:spPr>
        <p:txBody>
          <a:bodyPr wrap="square" lIns="0" tIns="0" rIns="0" bIns="0" rtlCol="0" anchor="ctr"/>
          <a:lstStyle/>
          <a:p>
            <a:pPr marL="0" indent="0">
              <a:buNone/>
            </a:pPr>
            <a:r>
              <a:rPr lang="en-US" sz="1000" dirty="0">
                <a:solidFill>
                  <a:srgbClr val="5F7175"/>
                </a:solidFill>
                <a:latin typeface="맑은 고딕" pitchFamily="34" charset="0"/>
                <a:ea typeface="맑은 고딕" pitchFamily="34" charset="-122"/>
                <a:cs typeface="맑은 고딕" pitchFamily="34" charset="-120"/>
              </a:rPr>
              <a:t>애월 · 오션뷰 · 노을</a:t>
            </a:r>
            <a:endParaRPr lang="en-US" sz="1000" dirty="0"/>
          </a:p>
        </p:txBody>
      </p:sp>
      <p:pic>
        <p:nvPicPr>
          <p:cNvPr id="19" name="Image 4" descr="preencoded.png">
            <a:extLst>
              <a:ext uri="{FF2B5EF4-FFF2-40B4-BE49-F238E27FC236}">
                <a16:creationId xmlns:a16="http://schemas.microsoft.com/office/drawing/2014/main" id="{31871FDC-EAE4-F6A5-F955-5A554D7C1EC0}"/>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751552" y="1588496"/>
            <a:ext cx="96561" cy="96561"/>
          </a:xfrm>
          <a:prstGeom prst="rect">
            <a:avLst/>
          </a:prstGeom>
        </p:spPr>
      </p:pic>
      <p:sp>
        <p:nvSpPr>
          <p:cNvPr id="20" name="Text 13">
            <a:extLst>
              <a:ext uri="{FF2B5EF4-FFF2-40B4-BE49-F238E27FC236}">
                <a16:creationId xmlns:a16="http://schemas.microsoft.com/office/drawing/2014/main" id="{9739A7F0-8A1C-4989-0EE0-6ACBF34FF20C}"/>
              </a:ext>
            </a:extLst>
          </p:cNvPr>
          <p:cNvSpPr/>
          <p:nvPr/>
        </p:nvSpPr>
        <p:spPr>
          <a:xfrm>
            <a:off x="6720840" y="1828800"/>
            <a:ext cx="1600200" cy="256032"/>
          </a:xfrm>
          <a:prstGeom prst="rect">
            <a:avLst/>
          </a:prstGeom>
          <a:noFill/>
          <a:ln/>
        </p:spPr>
        <p:txBody>
          <a:bodyPr wrap="square" lIns="0" tIns="0" rIns="0" bIns="0" rtlCol="0" anchor="ctr"/>
          <a:lstStyle/>
          <a:p>
            <a:pPr marL="0" indent="0" algn="r">
              <a:buNone/>
            </a:pPr>
            <a:r>
              <a:rPr lang="en-US" sz="900" dirty="0">
                <a:solidFill>
                  <a:srgbClr val="5F7175"/>
                </a:solidFill>
                <a:latin typeface="맑은 고딕" pitchFamily="34" charset="0"/>
                <a:ea typeface="맑은 고딕" pitchFamily="34" charset="-122"/>
                <a:cs typeface="맑은 고딕" pitchFamily="34" charset="-120"/>
              </a:rPr>
              <a:t>4.3  ·  블로거 21명</a:t>
            </a:r>
            <a:endParaRPr lang="en-US" sz="900" dirty="0"/>
          </a:p>
        </p:txBody>
      </p:sp>
      <p:sp>
        <p:nvSpPr>
          <p:cNvPr id="21" name="Text 14">
            <a:extLst>
              <a:ext uri="{FF2B5EF4-FFF2-40B4-BE49-F238E27FC236}">
                <a16:creationId xmlns:a16="http://schemas.microsoft.com/office/drawing/2014/main" id="{992B1DBC-BD10-C369-431E-F2B3343B751C}"/>
              </a:ext>
            </a:extLst>
          </p:cNvPr>
          <p:cNvSpPr/>
          <p:nvPr/>
        </p:nvSpPr>
        <p:spPr>
          <a:xfrm>
            <a:off x="5074920" y="2359152"/>
            <a:ext cx="1828800" cy="237744"/>
          </a:xfrm>
          <a:prstGeom prst="rect">
            <a:avLst/>
          </a:prstGeom>
          <a:noFill/>
          <a:ln/>
        </p:spPr>
        <p:txBody>
          <a:bodyPr wrap="square" lIns="0" tIns="0" rIns="0" bIns="0" rtlCol="0" anchor="ctr"/>
          <a:lstStyle/>
          <a:p>
            <a:pPr marL="0" indent="0">
              <a:buNone/>
            </a:pPr>
            <a:r>
              <a:rPr lang="en-US" sz="1000" b="1" dirty="0">
                <a:solidFill>
                  <a:srgbClr val="168A7E"/>
                </a:solidFill>
                <a:latin typeface="맑은 고딕" pitchFamily="34" charset="0"/>
                <a:ea typeface="맑은 고딕" pitchFamily="34" charset="-122"/>
                <a:cs typeface="맑은 고딕" pitchFamily="34" charset="-120"/>
              </a:rPr>
              <a:t>좋았던 점</a:t>
            </a:r>
            <a:endParaRPr lang="en-US" sz="1000" dirty="0"/>
          </a:p>
        </p:txBody>
      </p:sp>
      <p:sp>
        <p:nvSpPr>
          <p:cNvPr id="22" name="Shape 15">
            <a:extLst>
              <a:ext uri="{FF2B5EF4-FFF2-40B4-BE49-F238E27FC236}">
                <a16:creationId xmlns:a16="http://schemas.microsoft.com/office/drawing/2014/main" id="{E823A411-B406-1FDC-9772-8EC3EC280056}"/>
              </a:ext>
            </a:extLst>
          </p:cNvPr>
          <p:cNvSpPr/>
          <p:nvPr/>
        </p:nvSpPr>
        <p:spPr>
          <a:xfrm>
            <a:off x="5074920" y="2615184"/>
            <a:ext cx="3383280" cy="566928"/>
          </a:xfrm>
          <a:prstGeom prst="roundRect">
            <a:avLst>
              <a:gd name="adj" fmla="val 12903"/>
            </a:avLst>
          </a:prstGeom>
          <a:solidFill>
            <a:srgbClr val="F4FAF9"/>
          </a:solidFill>
          <a:ln w="9525">
            <a:solidFill>
              <a:srgbClr val="DCE6E3"/>
            </a:solidFill>
            <a:prstDash val="solid"/>
          </a:ln>
        </p:spPr>
        <p:txBody>
          <a:bodyPr/>
          <a:lstStyle/>
          <a:p>
            <a:endParaRPr lang="ko-KR" altLang="en-US"/>
          </a:p>
        </p:txBody>
      </p:sp>
      <p:pic>
        <p:nvPicPr>
          <p:cNvPr id="23" name="Image 5" descr="preencoded.png">
            <a:extLst>
              <a:ext uri="{FF2B5EF4-FFF2-40B4-BE49-F238E27FC236}">
                <a16:creationId xmlns:a16="http://schemas.microsoft.com/office/drawing/2014/main" id="{97B4E0EA-95C8-A497-871F-66BAAFCDA6B8}"/>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5227808" y="2777216"/>
            <a:ext cx="96561" cy="96561"/>
          </a:xfrm>
          <a:prstGeom prst="rect">
            <a:avLst/>
          </a:prstGeom>
        </p:spPr>
      </p:pic>
      <p:sp>
        <p:nvSpPr>
          <p:cNvPr id="24" name="Text 16">
            <a:extLst>
              <a:ext uri="{FF2B5EF4-FFF2-40B4-BE49-F238E27FC236}">
                <a16:creationId xmlns:a16="http://schemas.microsoft.com/office/drawing/2014/main" id="{E77A566A-D436-CDCF-E597-34A0C23F5AD1}"/>
              </a:ext>
            </a:extLst>
          </p:cNvPr>
          <p:cNvSpPr/>
          <p:nvPr/>
        </p:nvSpPr>
        <p:spPr>
          <a:xfrm>
            <a:off x="5440680" y="2651760"/>
            <a:ext cx="2926080" cy="274320"/>
          </a:xfrm>
          <a:prstGeom prst="rect">
            <a:avLst/>
          </a:prstGeom>
          <a:noFill/>
          <a:ln/>
        </p:spPr>
        <p:txBody>
          <a:bodyPr wrap="square" lIns="0" tIns="0" rIns="0" bIns="0" rtlCol="0" anchor="ct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“창문 열면 바로 바다예요”</a:t>
            </a:r>
            <a:endParaRPr lang="en-US" sz="1050" dirty="0"/>
          </a:p>
        </p:txBody>
      </p:sp>
      <p:sp>
        <p:nvSpPr>
          <p:cNvPr id="25" name="Text 17">
            <a:extLst>
              <a:ext uri="{FF2B5EF4-FFF2-40B4-BE49-F238E27FC236}">
                <a16:creationId xmlns:a16="http://schemas.microsoft.com/office/drawing/2014/main" id="{3B0F4EA6-392A-841F-1BA6-5F65251165A4}"/>
              </a:ext>
            </a:extLst>
          </p:cNvPr>
          <p:cNvSpPr/>
          <p:nvPr/>
        </p:nvSpPr>
        <p:spPr>
          <a:xfrm>
            <a:off x="5440680" y="2889504"/>
            <a:ext cx="2926080" cy="219456"/>
          </a:xfrm>
          <a:prstGeom prst="rect">
            <a:avLst/>
          </a:prstGeom>
          <a:noFill/>
          <a:ln/>
        </p:spPr>
        <p:txBody>
          <a:bodyPr wrap="square" lIns="0" tIns="0" rIns="0" bIns="0" rtlCol="0" anchor="ctr"/>
          <a:lstStyle/>
          <a:p>
            <a:pPr marL="0" indent="0">
              <a:buNone/>
            </a:pPr>
            <a:r>
              <a:rPr lang="en-US" sz="850" dirty="0">
                <a:solidFill>
                  <a:srgbClr val="9AA9AC"/>
                </a:solidFill>
                <a:latin typeface="맑은 고딕" pitchFamily="34" charset="0"/>
                <a:ea typeface="맑은 고딕" pitchFamily="34" charset="-122"/>
                <a:cs typeface="맑은 고딕" pitchFamily="34" charset="-120"/>
              </a:rPr>
              <a:t>네이버 블로그 원문 인용</a:t>
            </a:r>
            <a:endParaRPr lang="en-US" sz="850" dirty="0"/>
          </a:p>
        </p:txBody>
      </p:sp>
      <p:sp>
        <p:nvSpPr>
          <p:cNvPr id="26" name="Text 18">
            <a:extLst>
              <a:ext uri="{FF2B5EF4-FFF2-40B4-BE49-F238E27FC236}">
                <a16:creationId xmlns:a16="http://schemas.microsoft.com/office/drawing/2014/main" id="{CD1D1907-0F39-A8F9-7365-356F7F289F22}"/>
              </a:ext>
            </a:extLst>
          </p:cNvPr>
          <p:cNvSpPr/>
          <p:nvPr/>
        </p:nvSpPr>
        <p:spPr>
          <a:xfrm>
            <a:off x="5074920" y="3255264"/>
            <a:ext cx="1828800" cy="237744"/>
          </a:xfrm>
          <a:prstGeom prst="rect">
            <a:avLst/>
          </a:prstGeom>
          <a:noFill/>
          <a:ln/>
        </p:spPr>
        <p:txBody>
          <a:bodyPr wrap="square" lIns="0" tIns="0" rIns="0" bIns="0" rtlCol="0" anchor="ctr"/>
          <a:lstStyle/>
          <a:p>
            <a:pPr marL="0" indent="0">
              <a:buNone/>
            </a:pPr>
            <a:r>
              <a:rPr lang="en-US" sz="1000" b="1" dirty="0">
                <a:solidFill>
                  <a:srgbClr val="E8842B"/>
                </a:solidFill>
                <a:latin typeface="맑은 고딕" pitchFamily="34" charset="0"/>
                <a:ea typeface="맑은 고딕" pitchFamily="34" charset="-122"/>
                <a:cs typeface="맑은 고딕" pitchFamily="34" charset="-120"/>
              </a:rPr>
              <a:t>아쉬운 점</a:t>
            </a:r>
            <a:endParaRPr lang="en-US" sz="1000" dirty="0"/>
          </a:p>
        </p:txBody>
      </p:sp>
      <p:sp>
        <p:nvSpPr>
          <p:cNvPr id="27" name="Shape 19">
            <a:extLst>
              <a:ext uri="{FF2B5EF4-FFF2-40B4-BE49-F238E27FC236}">
                <a16:creationId xmlns:a16="http://schemas.microsoft.com/office/drawing/2014/main" id="{477F1BD2-BCA4-81BA-A688-AC6D501E1E50}"/>
              </a:ext>
            </a:extLst>
          </p:cNvPr>
          <p:cNvSpPr/>
          <p:nvPr/>
        </p:nvSpPr>
        <p:spPr>
          <a:xfrm>
            <a:off x="5074920" y="3511296"/>
            <a:ext cx="3383280" cy="566928"/>
          </a:xfrm>
          <a:prstGeom prst="roundRect">
            <a:avLst>
              <a:gd name="adj" fmla="val 12903"/>
            </a:avLst>
          </a:prstGeom>
          <a:solidFill>
            <a:srgbClr val="FBEEE0"/>
          </a:solidFill>
          <a:ln w="9525">
            <a:solidFill>
              <a:srgbClr val="F0D9BF"/>
            </a:solidFill>
            <a:prstDash val="solid"/>
          </a:ln>
        </p:spPr>
        <p:txBody>
          <a:bodyPr/>
          <a:lstStyle/>
          <a:p>
            <a:endParaRPr lang="ko-KR" altLang="en-US"/>
          </a:p>
        </p:txBody>
      </p:sp>
      <p:pic>
        <p:nvPicPr>
          <p:cNvPr id="28" name="Image 6" descr="preencoded.png">
            <a:extLst>
              <a:ext uri="{FF2B5EF4-FFF2-40B4-BE49-F238E27FC236}">
                <a16:creationId xmlns:a16="http://schemas.microsoft.com/office/drawing/2014/main" id="{BE176938-579B-C5F6-5072-22F359F7949D}"/>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5227808" y="3673328"/>
            <a:ext cx="96561" cy="96561"/>
          </a:xfrm>
          <a:prstGeom prst="rect">
            <a:avLst/>
          </a:prstGeom>
        </p:spPr>
      </p:pic>
      <p:sp>
        <p:nvSpPr>
          <p:cNvPr id="29" name="Text 20">
            <a:extLst>
              <a:ext uri="{FF2B5EF4-FFF2-40B4-BE49-F238E27FC236}">
                <a16:creationId xmlns:a16="http://schemas.microsoft.com/office/drawing/2014/main" id="{15FF316D-CE1D-5074-7F4B-7133BECD0B4F}"/>
              </a:ext>
            </a:extLst>
          </p:cNvPr>
          <p:cNvSpPr/>
          <p:nvPr/>
        </p:nvSpPr>
        <p:spPr>
          <a:xfrm>
            <a:off x="5440680" y="3547872"/>
            <a:ext cx="2926080" cy="274320"/>
          </a:xfrm>
          <a:prstGeom prst="rect">
            <a:avLst/>
          </a:prstGeom>
          <a:noFill/>
          <a:ln/>
        </p:spPr>
        <p:txBody>
          <a:bodyPr wrap="square" lIns="0" tIns="0" rIns="0" bIns="0" rtlCol="0" anchor="ct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“주차 불편” — 3건 반복 언급</a:t>
            </a:r>
            <a:endParaRPr lang="en-US" sz="1050" dirty="0"/>
          </a:p>
        </p:txBody>
      </p:sp>
      <p:sp>
        <p:nvSpPr>
          <p:cNvPr id="30" name="Text 21">
            <a:extLst>
              <a:ext uri="{FF2B5EF4-FFF2-40B4-BE49-F238E27FC236}">
                <a16:creationId xmlns:a16="http://schemas.microsoft.com/office/drawing/2014/main" id="{EBC6BD95-9E13-417B-3835-E98524411FF1}"/>
              </a:ext>
            </a:extLst>
          </p:cNvPr>
          <p:cNvSpPr/>
          <p:nvPr/>
        </p:nvSpPr>
        <p:spPr>
          <a:xfrm>
            <a:off x="5440680" y="3785616"/>
            <a:ext cx="2926080" cy="219456"/>
          </a:xfrm>
          <a:prstGeom prst="rect">
            <a:avLst/>
          </a:prstGeom>
          <a:noFill/>
          <a:ln/>
        </p:spPr>
        <p:txBody>
          <a:bodyPr wrap="square" lIns="0" tIns="0" rIns="0" bIns="0" rtlCol="0" anchor="ctr"/>
          <a:lstStyle/>
          <a:p>
            <a:pPr marL="0" indent="0">
              <a:buNone/>
            </a:pPr>
            <a:r>
              <a:rPr lang="en-US" sz="850" dirty="0">
                <a:solidFill>
                  <a:srgbClr val="A08A6E"/>
                </a:solidFill>
                <a:latin typeface="맑은 고딕" pitchFamily="34" charset="0"/>
                <a:ea typeface="맑은 고딕" pitchFamily="34" charset="-122"/>
                <a:cs typeface="맑은 고딕" pitchFamily="34" charset="-120"/>
              </a:rPr>
              <a:t>쇼츠 댓글 · 카카오 리뷰 집계</a:t>
            </a:r>
            <a:endParaRPr lang="en-US" sz="850" dirty="0"/>
          </a:p>
        </p:txBody>
      </p:sp>
      <p:sp>
        <p:nvSpPr>
          <p:cNvPr id="31" name="Text 22">
            <a:extLst>
              <a:ext uri="{FF2B5EF4-FFF2-40B4-BE49-F238E27FC236}">
                <a16:creationId xmlns:a16="http://schemas.microsoft.com/office/drawing/2014/main" id="{07F4A9DE-A267-2E22-9171-CCCB338A5415}"/>
              </a:ext>
            </a:extLst>
          </p:cNvPr>
          <p:cNvSpPr/>
          <p:nvPr/>
        </p:nvSpPr>
        <p:spPr>
          <a:xfrm>
            <a:off x="5074920" y="4160520"/>
            <a:ext cx="3383280" cy="256032"/>
          </a:xfrm>
          <a:prstGeom prst="rect">
            <a:avLst/>
          </a:prstGeom>
          <a:noFill/>
          <a:ln/>
        </p:spPr>
        <p:txBody>
          <a:bodyPr wrap="square" lIns="0" tIns="0" rIns="0" bIns="0" rtlCol="0" anchor="ctr"/>
          <a:lstStyle/>
          <a:p>
            <a:pPr marL="0" indent="0">
              <a:buNone/>
            </a:pPr>
            <a:r>
              <a:rPr lang="en-US" sz="850" dirty="0">
                <a:solidFill>
                  <a:srgbClr val="5F7175"/>
                </a:solidFill>
                <a:latin typeface="맑은 고딕" pitchFamily="34" charset="0"/>
                <a:ea typeface="맑은 고딕" pitchFamily="34" charset="-122"/>
                <a:cs typeface="맑은 고딕" pitchFamily="34" charset="-120"/>
              </a:rPr>
              <a:t>검색 깔때기  전체 1,064 → 애월 87 → 노을 12 → 상위 5</a:t>
            </a:r>
            <a:endParaRPr lang="en-US" sz="850" dirty="0"/>
          </a:p>
        </p:txBody>
      </p:sp>
      <p:sp>
        <p:nvSpPr>
          <p:cNvPr id="32" name="Text 23">
            <a:extLst>
              <a:ext uri="{FF2B5EF4-FFF2-40B4-BE49-F238E27FC236}">
                <a16:creationId xmlns:a16="http://schemas.microsoft.com/office/drawing/2014/main" id="{778E59AB-E066-93D4-F4BC-73E596F3E1EC}"/>
              </a:ext>
            </a:extLst>
          </p:cNvPr>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3" name="Text 24">
            <a:extLst>
              <a:ext uri="{FF2B5EF4-FFF2-40B4-BE49-F238E27FC236}">
                <a16:creationId xmlns:a16="http://schemas.microsoft.com/office/drawing/2014/main" id="{25D83999-7C38-5D4E-585F-4B9A32AF1E7D}"/>
              </a:ext>
            </a:extLst>
          </p:cNvPr>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03</a:t>
            </a:r>
            <a:endParaRPr lang="en-US" sz="1100" dirty="0"/>
          </a:p>
        </p:txBody>
      </p:sp>
    </p:spTree>
    <p:extLst>
      <p:ext uri="{BB962C8B-B14F-4D97-AF65-F5344CB8AC3E}">
        <p14:creationId xmlns:p14="http://schemas.microsoft.com/office/powerpoint/2010/main" val="7845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02  DIFFERENTIATION</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ko-KR" altLang="en-US" sz="2700" b="1" dirty="0">
                <a:solidFill>
                  <a:srgbClr val="1F2933"/>
                </a:solidFill>
                <a:latin typeface="맑은 고딕" pitchFamily="34" charset="0"/>
                <a:ea typeface="맑은 고딕" pitchFamily="34" charset="-122"/>
                <a:cs typeface="맑은 고딕" pitchFamily="34" charset="-120"/>
              </a:rPr>
              <a:t>일반적인</a:t>
            </a:r>
            <a:r>
              <a:rPr lang="en-US" sz="2700" b="1" dirty="0">
                <a:solidFill>
                  <a:srgbClr val="1F2933"/>
                </a:solidFill>
                <a:latin typeface="맑은 고딕" pitchFamily="34" charset="0"/>
                <a:ea typeface="맑은 고딕" pitchFamily="34" charset="-122"/>
                <a:cs typeface="맑은 고딕" pitchFamily="34" charset="-120"/>
              </a:rPr>
              <a:t> RAG와 무엇이 다른가</a:t>
            </a:r>
            <a:endParaRPr lang="en-US" sz="2700" dirty="0"/>
          </a:p>
        </p:txBody>
      </p:sp>
      <p:graphicFrame>
        <p:nvGraphicFramePr>
          <p:cNvPr id="5" name="Table 0"/>
          <p:cNvGraphicFramePr>
            <a:graphicFrameLocks noGrp="1"/>
          </p:cNvGraphicFramePr>
          <p:nvPr>
            <p:extLst>
              <p:ext uri="{D42A27DB-BD31-4B8C-83A1-F6EECF244321}">
                <p14:modId xmlns:p14="http://schemas.microsoft.com/office/powerpoint/2010/main" val="884777428"/>
              </p:ext>
            </p:extLst>
          </p:nvPr>
        </p:nvGraphicFramePr>
        <p:xfrm>
          <a:off x="502920" y="1298448"/>
          <a:ext cx="8138160" cy="3008376"/>
        </p:xfrm>
        <a:graphic>
          <a:graphicData uri="http://schemas.openxmlformats.org/drawingml/2006/table">
            <a:tbl>
              <a:tblPr/>
              <a:tblGrid>
                <a:gridCol w="17373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429768">
                <a:tc>
                  <a:txBody>
                    <a:bodyP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비교 항목</a:t>
                      </a:r>
                      <a:endParaRPr lang="en-US" sz="12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44686B"/>
                    </a:solidFill>
                  </a:tcPr>
                </a:tc>
                <a:tc>
                  <a:txBody>
                    <a:bodyPr/>
                    <a:lstStyle/>
                    <a:p>
                      <a:pPr marL="0" indent="0" algn="ctr">
                        <a:buNone/>
                      </a:pPr>
                      <a:r>
                        <a:rPr lang="ko-KR" altLang="en-US" sz="1200" b="1" dirty="0">
                          <a:solidFill>
                            <a:srgbClr val="FFFFFF"/>
                          </a:solidFill>
                          <a:latin typeface="맑은 고딕" pitchFamily="34" charset="0"/>
                          <a:ea typeface="맑은 고딕" pitchFamily="34" charset="-122"/>
                          <a:cs typeface="맑은 고딕" pitchFamily="34" charset="-120"/>
                        </a:rPr>
                        <a:t>일반</a:t>
                      </a:r>
                      <a:r>
                        <a:rPr lang="en-US" sz="1200" b="1" dirty="0">
                          <a:solidFill>
                            <a:srgbClr val="FFFFFF"/>
                          </a:solidFill>
                          <a:latin typeface="맑은 고딕" pitchFamily="34" charset="0"/>
                          <a:ea typeface="맑은 고딕" pitchFamily="34" charset="-122"/>
                          <a:cs typeface="맑은 고딕" pitchFamily="34" charset="-120"/>
                        </a:rPr>
                        <a:t> RAG</a:t>
                      </a:r>
                      <a:endParaRPr lang="en-US" sz="12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8FA3A6"/>
                    </a:solidFill>
                  </a:tcPr>
                </a:tc>
                <a:tc>
                  <a:txBody>
                    <a:bodyP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카페인제주</a:t>
                      </a:r>
                      <a:endParaRPr lang="en-US" sz="12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168A7E"/>
                    </a:solidFill>
                  </a:tcPr>
                </a:tc>
                <a:extLst>
                  <a:ext uri="{0D108BD9-81ED-4DB2-BD59-A6C34878D82A}">
                    <a16:rowId xmlns:a16="http://schemas.microsoft.com/office/drawing/2014/main" val="10000"/>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임베딩의 역할</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문서 전체를 </a:t>
                      </a:r>
                      <a:r>
                        <a:rPr lang="en-US" sz="1050" dirty="0" err="1">
                          <a:solidFill>
                            <a:srgbClr val="1F2933"/>
                          </a:solidFill>
                          <a:latin typeface="맑은 고딕" pitchFamily="34" charset="0"/>
                          <a:ea typeface="맑은 고딕" pitchFamily="34" charset="-122"/>
                          <a:cs typeface="맑은 고딕" pitchFamily="34" charset="-120"/>
                        </a:rPr>
                        <a:t>임베딩</a:t>
                      </a:r>
                      <a:r>
                        <a:rPr lang="en-US" sz="1050" dirty="0">
                          <a:solidFill>
                            <a:srgbClr val="1F2933"/>
                          </a:solidFill>
                          <a:latin typeface="맑은 고딕" pitchFamily="34" charset="0"/>
                          <a:ea typeface="맑은 고딕" pitchFamily="34" charset="-122"/>
                          <a:cs typeface="맑은 고딕" pitchFamily="34" charset="-120"/>
                        </a:rPr>
                        <a:t> →</a:t>
                      </a:r>
                      <a:r>
                        <a:rPr lang="ko-KR" altLang="en-US" sz="1050" dirty="0">
                          <a:solidFill>
                            <a:srgbClr val="1F2933"/>
                          </a:solidFill>
                          <a:latin typeface="맑은 고딕" pitchFamily="34" charset="0"/>
                          <a:ea typeface="맑은 고딕" pitchFamily="34" charset="-122"/>
                          <a:cs typeface="맑은 고딕" pitchFamily="34" charset="-120"/>
                        </a:rPr>
                        <a:t>　</a:t>
                      </a:r>
                      <a:r>
                        <a:rPr lang="en-US" sz="1050" dirty="0" err="1">
                          <a:solidFill>
                            <a:srgbClr val="1F2933"/>
                          </a:solidFill>
                          <a:latin typeface="맑은 고딕" pitchFamily="34" charset="0"/>
                          <a:ea typeface="맑은 고딕" pitchFamily="34" charset="-122"/>
                          <a:cs typeface="맑은 고딕" pitchFamily="34" charset="-120"/>
                        </a:rPr>
                        <a:t>유사도</a:t>
                      </a:r>
                      <a:r>
                        <a:rPr lang="en-US" sz="1050" dirty="0">
                          <a:solidFill>
                            <a:srgbClr val="1F2933"/>
                          </a:solidFill>
                          <a:latin typeface="맑은 고딕" pitchFamily="34" charset="0"/>
                          <a:ea typeface="맑은 고딕" pitchFamily="34" charset="-122"/>
                          <a:cs typeface="맑은 고딕" pitchFamily="34" charset="-120"/>
                        </a:rPr>
                        <a:t> 순위</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사용자 언어 → 통제 어휘 번역기</a:t>
                      </a:r>
                      <a:endParaRPr lang="en-US" sz="1050" dirty="0">
                        <a:latin typeface="맑은 고딕" charset="0"/>
                        <a:ea typeface="맑은 고딕" charset="0"/>
                        <a:cs typeface="맑은 고딕" charset="0"/>
                      </a:endParaRPr>
                    </a:p>
                    <a:p>
                      <a:pPr marL="0" indent="0">
                        <a:buNone/>
                      </a:pPr>
                      <a:r>
                        <a:rPr lang="en-US" sz="1050" dirty="0">
                          <a:solidFill>
                            <a:srgbClr val="1F2933"/>
                          </a:solidFill>
                          <a:latin typeface="맑은 고딕" pitchFamily="34" charset="0"/>
                          <a:ea typeface="맑은 고딕" pitchFamily="34" charset="-122"/>
                          <a:cs typeface="맑은 고딕" pitchFamily="34" charset="-120"/>
                        </a:rPr>
                        <a:t>(임베딩 공간엔 태그 사전만)</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1"/>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순위의 근거</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점수 0.83 — 왜인지 설명 불가</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태그 충족 + 다수결 — 읽을 수 있음</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2"/>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인기 수치</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조회수·언급 총량을 그대로 반영</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LLM 입력에서 차단, 동점 정렬용만</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3"/>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근거 표시</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요약·의역 (환각 가능)</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원문 부분문자열 검증 통과분만</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4"/>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조건 불일치 시</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아무거나 상위 k개 반환</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정직한 실패 + 양보 라벨 부착</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5"/>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조인 키</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카페 이름 문자열</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카카오 place_id (영구 키)</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6"/>
                  </a:ext>
                </a:extLst>
              </a:tr>
            </a:tbl>
          </a:graphicData>
        </a:graphic>
      </p:graphicFrame>
      <p:sp>
        <p:nvSpPr>
          <p:cNvPr id="4" name="Text 2"/>
          <p:cNvSpPr/>
          <p:nvPr/>
        </p:nvSpPr>
        <p:spPr>
          <a:xfrm>
            <a:off x="502920" y="4370832"/>
            <a:ext cx="8138160" cy="274320"/>
          </a:xfrm>
          <a:prstGeom prst="rect">
            <a:avLst/>
          </a:prstGeom>
          <a:noFill/>
          <a:ln/>
        </p:spPr>
        <p:txBody>
          <a:bodyPr wrap="square" lIns="0" tIns="0" rIns="0" bIns="0" rtlCol="0" anchor="ctr"/>
          <a:lstStyle/>
          <a:p>
            <a:pPr marL="0" indent="0">
              <a:buNone/>
            </a:pPr>
            <a:r>
              <a:rPr lang="en-US" sz="1100" i="1" dirty="0">
                <a:solidFill>
                  <a:srgbClr val="168A7E"/>
                </a:solidFill>
                <a:latin typeface="맑은 고딕" pitchFamily="34" charset="0"/>
                <a:ea typeface="맑은 고딕" pitchFamily="34" charset="-122"/>
                <a:cs typeface="맑은 고딕" pitchFamily="34" charset="-120"/>
              </a:rPr>
              <a:t>핵심은 임베딩을 “찾는 도구”가 아니라 “번역하는 도구”로 강등시킨 것입니다.</a:t>
            </a:r>
            <a:endParaRPr lang="en-US" sz="1100" dirty="0"/>
          </a:p>
        </p:txBody>
      </p:sp>
      <p:sp>
        <p:nvSpPr>
          <p:cNvPr id="6" name="Text 3"/>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7" name="Text 4"/>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04</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03  ARCHITECTURE</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배치는 공장, 런타임은 창구</a:t>
            </a:r>
            <a:endParaRPr lang="en-US" sz="2700" dirty="0"/>
          </a:p>
        </p:txBody>
      </p:sp>
      <p:sp>
        <p:nvSpPr>
          <p:cNvPr id="4" name="Text 2"/>
          <p:cNvSpPr/>
          <p:nvPr/>
        </p:nvSpPr>
        <p:spPr>
          <a:xfrm>
            <a:off x="502920" y="1234440"/>
            <a:ext cx="1737360" cy="256032"/>
          </a:xfrm>
          <a:prstGeom prst="rect">
            <a:avLst/>
          </a:prstGeom>
          <a:noFill/>
          <a:ln/>
        </p:spPr>
        <p:txBody>
          <a:bodyPr wrap="square" lIns="0" tIns="0" rIns="0" bIns="0" rtlCol="0" anchor="ctr"/>
          <a:lstStyle/>
          <a:p>
            <a:pPr marL="0" indent="0">
              <a:buNone/>
            </a:pPr>
            <a:r>
              <a:rPr lang="en-US" sz="1150" b="1" dirty="0">
                <a:solidFill>
                  <a:srgbClr val="5F7175"/>
                </a:solidFill>
                <a:latin typeface="맑은 고딕" pitchFamily="34" charset="0"/>
                <a:ea typeface="맑은 고딕" pitchFamily="34" charset="-122"/>
                <a:cs typeface="맑은 고딕" pitchFamily="34" charset="-120"/>
              </a:rPr>
              <a:t>① 원천 데이터</a:t>
            </a:r>
            <a:endParaRPr lang="en-US" sz="1150" dirty="0"/>
          </a:p>
        </p:txBody>
      </p:sp>
      <p:sp>
        <p:nvSpPr>
          <p:cNvPr id="5" name="Text 3"/>
          <p:cNvSpPr/>
          <p:nvPr/>
        </p:nvSpPr>
        <p:spPr>
          <a:xfrm>
            <a:off x="502920" y="1481328"/>
            <a:ext cx="1737360" cy="219456"/>
          </a:xfrm>
          <a:prstGeom prst="rect">
            <a:avLst/>
          </a:prstGeom>
          <a:noFill/>
          <a:ln/>
        </p:spPr>
        <p:txBody>
          <a:bodyPr wrap="square" lIns="0" tIns="0" rIns="0" bIns="0" rtlCol="0" anchor="ctr"/>
          <a:lstStyle/>
          <a:p>
            <a:pPr marL="0" indent="0">
              <a:buNone/>
            </a:pPr>
            <a:r>
              <a:rPr lang="en-US" sz="850" dirty="0">
                <a:solidFill>
                  <a:srgbClr val="5F7175"/>
                </a:solidFill>
                <a:latin typeface="맑은 고딕" pitchFamily="34" charset="0"/>
                <a:ea typeface="맑은 고딕" pitchFamily="34" charset="-122"/>
                <a:cs typeface="맑은 고딕" pitchFamily="34" charset="-120"/>
              </a:rPr>
              <a:t>raw · 불변 보관</a:t>
            </a:r>
            <a:endParaRPr lang="en-US" sz="850" dirty="0"/>
          </a:p>
        </p:txBody>
      </p:sp>
      <p:sp>
        <p:nvSpPr>
          <p:cNvPr id="6" name="Text 4"/>
          <p:cNvSpPr/>
          <p:nvPr/>
        </p:nvSpPr>
        <p:spPr>
          <a:xfrm>
            <a:off x="2514600" y="1234440"/>
            <a:ext cx="2286000" cy="256032"/>
          </a:xfrm>
          <a:prstGeom prst="rect">
            <a:avLst/>
          </a:prstGeom>
          <a:noFill/>
          <a:ln/>
        </p:spPr>
        <p:txBody>
          <a:bodyPr wrap="square" lIns="0" tIns="0" rIns="0" bIns="0" rtlCol="0" anchor="ctr"/>
          <a:lstStyle/>
          <a:p>
            <a:pPr marL="0" indent="0">
              <a:buNone/>
            </a:pPr>
            <a:r>
              <a:rPr lang="en-US" sz="1150" b="1" dirty="0">
                <a:solidFill>
                  <a:srgbClr val="168A7E"/>
                </a:solidFill>
                <a:latin typeface="맑은 고딕" pitchFamily="34" charset="0"/>
                <a:ea typeface="맑은 고딕" pitchFamily="34" charset="-122"/>
                <a:cs typeface="맑은 고딕" pitchFamily="34" charset="-120"/>
              </a:rPr>
              <a:t>② 인덱싱 파이프라인 (배치)</a:t>
            </a:r>
            <a:endParaRPr lang="en-US" sz="1150" dirty="0"/>
          </a:p>
        </p:txBody>
      </p:sp>
      <p:sp>
        <p:nvSpPr>
          <p:cNvPr id="7" name="Text 5"/>
          <p:cNvSpPr/>
          <p:nvPr/>
        </p:nvSpPr>
        <p:spPr>
          <a:xfrm>
            <a:off x="2514600" y="1481328"/>
            <a:ext cx="2286000" cy="219456"/>
          </a:xfrm>
          <a:prstGeom prst="rect">
            <a:avLst/>
          </a:prstGeom>
          <a:noFill/>
          <a:ln/>
        </p:spPr>
        <p:txBody>
          <a:bodyPr wrap="square" lIns="0" tIns="0" rIns="0" bIns="0" rtlCol="0" anchor="ctr"/>
          <a:lstStyle/>
          <a:p>
            <a:pPr marL="0" indent="0">
              <a:buNone/>
            </a:pPr>
            <a:r>
              <a:rPr lang="en-US" sz="850" dirty="0">
                <a:solidFill>
                  <a:srgbClr val="5F7175"/>
                </a:solidFill>
                <a:latin typeface="맑은 고딕" pitchFamily="34" charset="0"/>
                <a:ea typeface="맑은 고딕" pitchFamily="34" charset="-122"/>
                <a:cs typeface="맑은 고딕" pitchFamily="34" charset="-120"/>
              </a:rPr>
              <a:t>pipeline/*.py · gpt-5-mini</a:t>
            </a:r>
            <a:endParaRPr lang="en-US" sz="850" dirty="0"/>
          </a:p>
        </p:txBody>
      </p:sp>
      <p:sp>
        <p:nvSpPr>
          <p:cNvPr id="8" name="Text 6"/>
          <p:cNvSpPr/>
          <p:nvPr/>
        </p:nvSpPr>
        <p:spPr>
          <a:xfrm>
            <a:off x="5074920" y="1234440"/>
            <a:ext cx="1691640" cy="256032"/>
          </a:xfrm>
          <a:prstGeom prst="rect">
            <a:avLst/>
          </a:prstGeom>
          <a:noFill/>
          <a:ln/>
        </p:spPr>
        <p:txBody>
          <a:bodyPr wrap="square" lIns="0" tIns="0" rIns="0" bIns="0" rtlCol="0" anchor="ctr"/>
          <a:lstStyle/>
          <a:p>
            <a:pPr marL="0" indent="0">
              <a:buNone/>
            </a:pPr>
            <a:r>
              <a:rPr lang="en-US" sz="1150" b="1" dirty="0">
                <a:solidFill>
                  <a:srgbClr val="168A7E"/>
                </a:solidFill>
                <a:latin typeface="맑은 고딕" pitchFamily="34" charset="0"/>
                <a:ea typeface="맑은 고딕" pitchFamily="34" charset="-122"/>
                <a:cs typeface="맑은 고딕" pitchFamily="34" charset="-120"/>
              </a:rPr>
              <a:t>③ 저장소</a:t>
            </a:r>
            <a:endParaRPr lang="en-US" sz="1150" dirty="0"/>
          </a:p>
        </p:txBody>
      </p:sp>
      <p:sp>
        <p:nvSpPr>
          <p:cNvPr id="9" name="Text 7"/>
          <p:cNvSpPr/>
          <p:nvPr/>
        </p:nvSpPr>
        <p:spPr>
          <a:xfrm>
            <a:off x="5074920" y="1481328"/>
            <a:ext cx="1691640" cy="219456"/>
          </a:xfrm>
          <a:prstGeom prst="rect">
            <a:avLst/>
          </a:prstGeom>
          <a:noFill/>
          <a:ln/>
        </p:spPr>
        <p:txBody>
          <a:bodyPr wrap="square" lIns="0" tIns="0" rIns="0" bIns="0" rtlCol="0" anchor="ctr"/>
          <a:lstStyle/>
          <a:p>
            <a:pPr marL="0" indent="0">
              <a:buNone/>
            </a:pPr>
            <a:r>
              <a:rPr lang="en-US" sz="850" dirty="0">
                <a:solidFill>
                  <a:srgbClr val="5F7175"/>
                </a:solidFill>
                <a:latin typeface="맑은 고딕" pitchFamily="34" charset="0"/>
                <a:ea typeface="맑은 고딕" pitchFamily="34" charset="-122"/>
                <a:cs typeface="맑은 고딕" pitchFamily="34" charset="-120"/>
              </a:rPr>
              <a:t>층(layer) 분리</a:t>
            </a:r>
            <a:endParaRPr lang="en-US" sz="850" dirty="0"/>
          </a:p>
        </p:txBody>
      </p:sp>
      <p:sp>
        <p:nvSpPr>
          <p:cNvPr id="10" name="Text 8"/>
          <p:cNvSpPr/>
          <p:nvPr/>
        </p:nvSpPr>
        <p:spPr>
          <a:xfrm>
            <a:off x="7086600" y="1234440"/>
            <a:ext cx="1554480" cy="256032"/>
          </a:xfrm>
          <a:prstGeom prst="rect">
            <a:avLst/>
          </a:prstGeom>
          <a:noFill/>
          <a:ln/>
        </p:spPr>
        <p:txBody>
          <a:bodyPr wrap="square" lIns="0" tIns="0" rIns="0" bIns="0" rtlCol="0" anchor="ctr"/>
          <a:lstStyle/>
          <a:p>
            <a:pPr marL="0" indent="0">
              <a:buNone/>
            </a:pPr>
            <a:r>
              <a:rPr lang="en-US" sz="1150" b="1" dirty="0">
                <a:solidFill>
                  <a:srgbClr val="E8842B"/>
                </a:solidFill>
                <a:latin typeface="맑은 고딕" pitchFamily="34" charset="0"/>
                <a:ea typeface="맑은 고딕" pitchFamily="34" charset="-122"/>
                <a:cs typeface="맑은 고딕" pitchFamily="34" charset="-120"/>
              </a:rPr>
              <a:t>④ 서빙 (런타임)</a:t>
            </a:r>
            <a:endParaRPr lang="en-US" sz="1150" dirty="0"/>
          </a:p>
        </p:txBody>
      </p:sp>
      <p:sp>
        <p:nvSpPr>
          <p:cNvPr id="11" name="Text 9"/>
          <p:cNvSpPr/>
          <p:nvPr/>
        </p:nvSpPr>
        <p:spPr>
          <a:xfrm>
            <a:off x="7086600" y="1481328"/>
            <a:ext cx="1554480" cy="219456"/>
          </a:xfrm>
          <a:prstGeom prst="rect">
            <a:avLst/>
          </a:prstGeom>
          <a:noFill/>
          <a:ln/>
        </p:spPr>
        <p:txBody>
          <a:bodyPr wrap="square" lIns="0" tIns="0" rIns="0" bIns="0" rtlCol="0" anchor="ctr"/>
          <a:lstStyle/>
          <a:p>
            <a:pPr marL="0" indent="0">
              <a:buNone/>
            </a:pPr>
            <a:r>
              <a:rPr lang="en-US" sz="850" dirty="0">
                <a:solidFill>
                  <a:srgbClr val="5F7175"/>
                </a:solidFill>
                <a:latin typeface="맑은 고딕" pitchFamily="34" charset="0"/>
                <a:ea typeface="맑은 고딕" pitchFamily="34" charset="-122"/>
                <a:cs typeface="맑은 고딕" pitchFamily="34" charset="-120"/>
              </a:rPr>
              <a:t>FastAPI + web</a:t>
            </a:r>
            <a:endParaRPr lang="en-US" sz="850" dirty="0"/>
          </a:p>
        </p:txBody>
      </p:sp>
      <p:sp>
        <p:nvSpPr>
          <p:cNvPr id="12" name="Shape 10"/>
          <p:cNvSpPr/>
          <p:nvPr/>
        </p:nvSpPr>
        <p:spPr>
          <a:xfrm>
            <a:off x="502920" y="1810512"/>
            <a:ext cx="1737360" cy="548640"/>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3" name="Text 11"/>
          <p:cNvSpPr/>
          <p:nvPr/>
        </p:nvSpPr>
        <p:spPr>
          <a:xfrm>
            <a:off x="557784" y="1810512"/>
            <a:ext cx="1627632" cy="548640"/>
          </a:xfrm>
          <a:prstGeom prst="rect">
            <a:avLst/>
          </a:prstGeom>
          <a:noFill/>
          <a:ln/>
        </p:spPr>
        <p:txBody>
          <a:bodyPr wrap="square" lIns="0" tIns="0" rIns="0" bIns="0" rtlCol="0" anchor="ctr"/>
          <a:lstStyle/>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유튜브 API</a:t>
            </a:r>
            <a:endParaRPr lang="en-US" sz="880" dirty="0"/>
          </a:p>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영상 · 쇼츠 · 댓글</a:t>
            </a:r>
            <a:endParaRPr lang="en-US" sz="880" dirty="0"/>
          </a:p>
        </p:txBody>
      </p:sp>
      <p:sp>
        <p:nvSpPr>
          <p:cNvPr id="14" name="Shape 12"/>
          <p:cNvSpPr/>
          <p:nvPr/>
        </p:nvSpPr>
        <p:spPr>
          <a:xfrm>
            <a:off x="502920" y="2468880"/>
            <a:ext cx="1737360" cy="548640"/>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5" name="Text 13"/>
          <p:cNvSpPr/>
          <p:nvPr/>
        </p:nvSpPr>
        <p:spPr>
          <a:xfrm>
            <a:off x="557784" y="2468880"/>
            <a:ext cx="1627632" cy="548640"/>
          </a:xfrm>
          <a:prstGeom prst="rect">
            <a:avLst/>
          </a:prstGeom>
          <a:noFill/>
          <a:ln/>
        </p:spPr>
        <p:txBody>
          <a:bodyPr wrap="square" lIns="0" tIns="0" rIns="0" bIns="0" rtlCol="0" anchor="ctr"/>
          <a:lstStyle/>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네이버 API</a:t>
            </a:r>
            <a:endParaRPr lang="en-US" sz="880" dirty="0"/>
          </a:p>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블로그 · 지역검색</a:t>
            </a:r>
            <a:endParaRPr lang="en-US" sz="880" dirty="0"/>
          </a:p>
        </p:txBody>
      </p:sp>
      <p:sp>
        <p:nvSpPr>
          <p:cNvPr id="16" name="Shape 14"/>
          <p:cNvSpPr/>
          <p:nvPr/>
        </p:nvSpPr>
        <p:spPr>
          <a:xfrm>
            <a:off x="502920" y="3127248"/>
            <a:ext cx="1737360" cy="548640"/>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7" name="Text 15"/>
          <p:cNvSpPr/>
          <p:nvPr/>
        </p:nvSpPr>
        <p:spPr>
          <a:xfrm>
            <a:off x="557784" y="3127248"/>
            <a:ext cx="1627632" cy="548640"/>
          </a:xfrm>
          <a:prstGeom prst="rect">
            <a:avLst/>
          </a:prstGeom>
          <a:noFill/>
          <a:ln/>
        </p:spPr>
        <p:txBody>
          <a:bodyPr wrap="square" lIns="0" tIns="0" rIns="0" bIns="0" rtlCol="0" anchor="ctr"/>
          <a:lstStyle/>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카카오 API</a:t>
            </a:r>
            <a:endParaRPr lang="en-US" sz="880" dirty="0"/>
          </a:p>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place_id · 좌표 · 리뷰</a:t>
            </a:r>
            <a:endParaRPr lang="en-US" sz="880" dirty="0"/>
          </a:p>
        </p:txBody>
      </p:sp>
      <p:sp>
        <p:nvSpPr>
          <p:cNvPr id="18" name="Shape 16"/>
          <p:cNvSpPr/>
          <p:nvPr/>
        </p:nvSpPr>
        <p:spPr>
          <a:xfrm>
            <a:off x="502920" y="3785616"/>
            <a:ext cx="1737360" cy="548640"/>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9" name="Text 17"/>
          <p:cNvSpPr/>
          <p:nvPr/>
        </p:nvSpPr>
        <p:spPr>
          <a:xfrm>
            <a:off x="557784" y="3785616"/>
            <a:ext cx="1627632" cy="548640"/>
          </a:xfrm>
          <a:prstGeom prst="rect">
            <a:avLst/>
          </a:prstGeom>
          <a:noFill/>
          <a:ln/>
        </p:spPr>
        <p:txBody>
          <a:bodyPr wrap="square" lIns="0" tIns="0" rIns="0" bIns="0" rtlCol="0" anchor="ctr"/>
          <a:lstStyle/>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동료 하이브리드 시드</a:t>
            </a:r>
            <a:endParaRPr lang="en-US" sz="880" dirty="0"/>
          </a:p>
        </p:txBody>
      </p:sp>
      <p:sp>
        <p:nvSpPr>
          <p:cNvPr id="20" name="Shape 18"/>
          <p:cNvSpPr/>
          <p:nvPr/>
        </p:nvSpPr>
        <p:spPr>
          <a:xfrm>
            <a:off x="2514600" y="1810512"/>
            <a:ext cx="2286000" cy="548640"/>
          </a:xfrm>
          <a:prstGeom prst="roundRect">
            <a:avLst>
              <a:gd name="adj" fmla="val 13333"/>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1" name="Text 19"/>
          <p:cNvSpPr/>
          <p:nvPr/>
        </p:nvSpPr>
        <p:spPr>
          <a:xfrm>
            <a:off x="2569464" y="1810512"/>
            <a:ext cx="2176272" cy="548640"/>
          </a:xfrm>
          <a:prstGeom prst="rect">
            <a:avLst/>
          </a:prstGeom>
          <a:noFill/>
          <a:ln/>
        </p:spPr>
        <p:txBody>
          <a:bodyPr wrap="square" lIns="0" tIns="0" rIns="0" bIns="0" rtlCol="0" anchor="ctr"/>
          <a:lstStyle/>
          <a:p>
            <a:pPr marL="0" indent="0" algn="ctr">
              <a:lnSpc>
                <a:spcPts val="1300"/>
              </a:lnSpc>
              <a:buNone/>
            </a:pPr>
            <a:r>
              <a:rPr lang="en-US" sz="900" dirty="0">
                <a:solidFill>
                  <a:srgbClr val="0F5257"/>
                </a:solidFill>
                <a:latin typeface="맑은 고딕" pitchFamily="34" charset="0"/>
                <a:ea typeface="맑은 고딕" pitchFamily="34" charset="-122"/>
                <a:cs typeface="맑은 고딕" pitchFamily="34" charset="-120"/>
              </a:rPr>
              <a:t>collect / extract  ·  Pass1 정제</a:t>
            </a:r>
            <a:endParaRPr lang="en-US" sz="900" dirty="0"/>
          </a:p>
        </p:txBody>
      </p:sp>
      <p:sp>
        <p:nvSpPr>
          <p:cNvPr id="22" name="Shape 20"/>
          <p:cNvSpPr/>
          <p:nvPr/>
        </p:nvSpPr>
        <p:spPr>
          <a:xfrm>
            <a:off x="2514600" y="2468880"/>
            <a:ext cx="2286000" cy="548640"/>
          </a:xfrm>
          <a:prstGeom prst="roundRect">
            <a:avLst>
              <a:gd name="adj" fmla="val 13333"/>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3" name="Text 21"/>
          <p:cNvSpPr/>
          <p:nvPr/>
        </p:nvSpPr>
        <p:spPr>
          <a:xfrm>
            <a:off x="2569464" y="2468880"/>
            <a:ext cx="2176272" cy="548640"/>
          </a:xfrm>
          <a:prstGeom prst="rect">
            <a:avLst/>
          </a:prstGeom>
          <a:noFill/>
          <a:ln/>
        </p:spPr>
        <p:txBody>
          <a:bodyPr wrap="square" lIns="0" tIns="0" rIns="0" bIns="0" rtlCol="0" anchor="ctr"/>
          <a:lstStyle/>
          <a:p>
            <a:pPr marL="0" indent="0" algn="ctr">
              <a:lnSpc>
                <a:spcPts val="1300"/>
              </a:lnSpc>
              <a:buNone/>
            </a:pPr>
            <a:r>
              <a:rPr lang="en-US" sz="900" dirty="0">
                <a:solidFill>
                  <a:srgbClr val="0F5257"/>
                </a:solidFill>
                <a:latin typeface="맑은 고딕" pitchFamily="34" charset="0"/>
                <a:ea typeface="맑은 고딕" pitchFamily="34" charset="-122"/>
                <a:cs typeface="맑은 고딕" pitchFamily="34" charset="-120"/>
              </a:rPr>
              <a:t>naver_refine  →  summary_blog</a:t>
            </a:r>
            <a:endParaRPr lang="en-US" sz="900" dirty="0"/>
          </a:p>
        </p:txBody>
      </p:sp>
      <p:sp>
        <p:nvSpPr>
          <p:cNvPr id="24" name="Shape 22"/>
          <p:cNvSpPr/>
          <p:nvPr/>
        </p:nvSpPr>
        <p:spPr>
          <a:xfrm>
            <a:off x="2514600" y="3127248"/>
            <a:ext cx="2286000" cy="548640"/>
          </a:xfrm>
          <a:prstGeom prst="roundRect">
            <a:avLst>
              <a:gd name="adj" fmla="val 13333"/>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5" name="Text 23"/>
          <p:cNvSpPr/>
          <p:nvPr/>
        </p:nvSpPr>
        <p:spPr>
          <a:xfrm>
            <a:off x="2569464" y="3127248"/>
            <a:ext cx="2176272" cy="548640"/>
          </a:xfrm>
          <a:prstGeom prst="rect">
            <a:avLst/>
          </a:prstGeom>
          <a:noFill/>
          <a:ln/>
        </p:spPr>
        <p:txBody>
          <a:bodyPr wrap="square" lIns="0" tIns="0" rIns="0" bIns="0" rtlCol="0" anchor="ctr"/>
          <a:lstStyle/>
          <a:p>
            <a:pPr marL="0" indent="0" algn="ctr">
              <a:lnSpc>
                <a:spcPts val="1300"/>
              </a:lnSpc>
              <a:buNone/>
            </a:pPr>
            <a:r>
              <a:rPr lang="en-US" sz="900" dirty="0">
                <a:solidFill>
                  <a:srgbClr val="0F5257"/>
                </a:solidFill>
                <a:latin typeface="맑은 고딕" pitchFamily="34" charset="0"/>
                <a:ea typeface="맑은 고딕" pitchFamily="34" charset="-122"/>
                <a:cs typeface="맑은 고딕" pitchFamily="34" charset="-120"/>
              </a:rPr>
              <a:t>comments_refine  ·  kakao_place</a:t>
            </a:r>
            <a:endParaRPr lang="en-US" sz="900" dirty="0"/>
          </a:p>
        </p:txBody>
      </p:sp>
      <p:sp>
        <p:nvSpPr>
          <p:cNvPr id="26" name="Shape 24"/>
          <p:cNvSpPr/>
          <p:nvPr/>
        </p:nvSpPr>
        <p:spPr>
          <a:xfrm>
            <a:off x="2514600" y="3785616"/>
            <a:ext cx="2286000" cy="548640"/>
          </a:xfrm>
          <a:prstGeom prst="roundRect">
            <a:avLst>
              <a:gd name="adj" fmla="val 13333"/>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7" name="Text 25"/>
          <p:cNvSpPr/>
          <p:nvPr/>
        </p:nvSpPr>
        <p:spPr>
          <a:xfrm>
            <a:off x="2569464" y="3785616"/>
            <a:ext cx="2176272" cy="548640"/>
          </a:xfrm>
          <a:prstGeom prst="rect">
            <a:avLst/>
          </a:prstGeom>
          <a:noFill/>
          <a:ln/>
        </p:spPr>
        <p:txBody>
          <a:bodyPr wrap="square" lIns="0" tIns="0" rIns="0" bIns="0" rtlCol="0" anchor="ctr"/>
          <a:lstStyle/>
          <a:p>
            <a:pPr marL="0" indent="0" algn="ctr">
              <a:lnSpc>
                <a:spcPts val="1300"/>
              </a:lnSpc>
              <a:buNone/>
            </a:pPr>
            <a:r>
              <a:rPr lang="en-US" sz="900" dirty="0">
                <a:solidFill>
                  <a:srgbClr val="0F5257"/>
                </a:solidFill>
                <a:latin typeface="맑은 고딕" pitchFamily="34" charset="0"/>
                <a:ea typeface="맑은 고딕" pitchFamily="34" charset="-122"/>
                <a:cs typeface="맑은 고딕" pitchFamily="34" charset="-120"/>
              </a:rPr>
              <a:t>embed  ·  text-embedding-3-large</a:t>
            </a:r>
            <a:endParaRPr lang="en-US" sz="900" dirty="0"/>
          </a:p>
        </p:txBody>
      </p:sp>
      <p:sp>
        <p:nvSpPr>
          <p:cNvPr id="28" name="Shape 26"/>
          <p:cNvSpPr/>
          <p:nvPr/>
        </p:nvSpPr>
        <p:spPr>
          <a:xfrm>
            <a:off x="5074920" y="1810512"/>
            <a:ext cx="1691640" cy="1207008"/>
          </a:xfrm>
          <a:prstGeom prst="roundRect">
            <a:avLst>
              <a:gd name="adj" fmla="val 6061"/>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9" name="Text 27"/>
          <p:cNvSpPr/>
          <p:nvPr/>
        </p:nvSpPr>
        <p:spPr>
          <a:xfrm>
            <a:off x="5129784" y="1810512"/>
            <a:ext cx="1581912" cy="1207008"/>
          </a:xfrm>
          <a:prstGeom prst="rect">
            <a:avLst/>
          </a:prstGeom>
          <a:noFill/>
          <a:ln/>
        </p:spPr>
        <p:txBody>
          <a:bodyPr wrap="square" lIns="0" tIns="0" rIns="0" bIns="0" rtlCol="0" anchor="ctr"/>
          <a:lstStyle/>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Chroma  'smoke'</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검색 벡터</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(블로그 요약 + 시드)</a:t>
            </a:r>
            <a:endParaRPr lang="en-US" sz="900" dirty="0"/>
          </a:p>
        </p:txBody>
      </p:sp>
      <p:sp>
        <p:nvSpPr>
          <p:cNvPr id="30" name="Shape 28"/>
          <p:cNvSpPr/>
          <p:nvPr/>
        </p:nvSpPr>
        <p:spPr>
          <a:xfrm>
            <a:off x="5074920" y="3127248"/>
            <a:ext cx="1691640" cy="1207008"/>
          </a:xfrm>
          <a:prstGeom prst="roundRect">
            <a:avLst>
              <a:gd name="adj" fmla="val 6061"/>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31" name="Text 29"/>
          <p:cNvSpPr/>
          <p:nvPr/>
        </p:nvSpPr>
        <p:spPr>
          <a:xfrm>
            <a:off x="5129784" y="3127248"/>
            <a:ext cx="1581912" cy="1207008"/>
          </a:xfrm>
          <a:prstGeom prst="rect">
            <a:avLst/>
          </a:prstGeom>
          <a:noFill/>
          <a:ln/>
        </p:spPr>
        <p:txBody>
          <a:bodyPr wrap="square" lIns="0" tIns="0" rIns="0" bIns="0" rtlCol="0" anchor="ctr"/>
          <a:lstStyle/>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data/processed</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표시 · 반응 · 근거 · 라벨</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(임베딩 금지 층)</a:t>
            </a:r>
            <a:endParaRPr lang="en-US" sz="900" dirty="0"/>
          </a:p>
        </p:txBody>
      </p:sp>
      <p:sp>
        <p:nvSpPr>
          <p:cNvPr id="32" name="Shape 30"/>
          <p:cNvSpPr/>
          <p:nvPr/>
        </p:nvSpPr>
        <p:spPr>
          <a:xfrm>
            <a:off x="7086600" y="1810512"/>
            <a:ext cx="1554480" cy="1207008"/>
          </a:xfrm>
          <a:prstGeom prst="roundRect">
            <a:avLst>
              <a:gd name="adj" fmla="val 6061"/>
            </a:avLst>
          </a:prstGeom>
          <a:solidFill>
            <a:srgbClr val="FBEEE0"/>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33" name="Text 31"/>
          <p:cNvSpPr/>
          <p:nvPr/>
        </p:nvSpPr>
        <p:spPr>
          <a:xfrm>
            <a:off x="7141464" y="1810512"/>
            <a:ext cx="1444752" cy="1207008"/>
          </a:xfrm>
          <a:prstGeom prst="rect">
            <a:avLst/>
          </a:prstGeom>
          <a:noFill/>
          <a:ln/>
        </p:spPr>
        <p:txBody>
          <a:bodyPr wrap="square" lIns="0" tIns="0" rIns="0" bIns="0" rtlCol="0" anchor="ctr"/>
          <a:lstStyle/>
          <a:p>
            <a:pPr marL="0" indent="0" algn="ctr">
              <a:lnSpc>
                <a:spcPts val="1300"/>
              </a:lnSpc>
              <a:buNone/>
            </a:pPr>
            <a:r>
              <a:rPr lang="en-US" sz="900" dirty="0">
                <a:solidFill>
                  <a:srgbClr val="8A4E14"/>
                </a:solidFill>
                <a:latin typeface="맑은 고딕" pitchFamily="34" charset="0"/>
                <a:ea typeface="맑은 고딕" pitchFamily="34" charset="-122"/>
                <a:cs typeface="맑은 고딕" pitchFamily="34" charset="-120"/>
              </a:rPr>
              <a:t>server.py</a:t>
            </a:r>
            <a:endParaRPr lang="en-US" sz="900" dirty="0"/>
          </a:p>
          <a:p>
            <a:pPr marL="0" indent="0" algn="ctr">
              <a:lnSpc>
                <a:spcPts val="1300"/>
              </a:lnSpc>
              <a:buNone/>
            </a:pPr>
            <a:r>
              <a:rPr lang="en-US" sz="900" dirty="0">
                <a:solidFill>
                  <a:srgbClr val="8A4E14"/>
                </a:solidFill>
                <a:latin typeface="맑은 고딕" pitchFamily="34" charset="0"/>
                <a:ea typeface="맑은 고딕" pitchFamily="34" charset="-122"/>
                <a:cs typeface="맑은 고딕" pitchFamily="34" charset="-120"/>
              </a:rPr>
              <a:t>/search  /evidence</a:t>
            </a:r>
            <a:endParaRPr lang="en-US" sz="900" dirty="0"/>
          </a:p>
          <a:p>
            <a:pPr marL="0" indent="0" algn="ctr">
              <a:lnSpc>
                <a:spcPts val="1300"/>
              </a:lnSpc>
              <a:buNone/>
            </a:pPr>
            <a:r>
              <a:rPr lang="en-US" sz="900" dirty="0">
                <a:solidFill>
                  <a:srgbClr val="8A4E14"/>
                </a:solidFill>
                <a:latin typeface="맑은 고딕" pitchFamily="34" charset="0"/>
                <a:ea typeface="맑은 고딕" pitchFamily="34" charset="-122"/>
                <a:cs typeface="맑은 고딕" pitchFamily="34" charset="-120"/>
              </a:rPr>
              <a:t>/photos  /health</a:t>
            </a:r>
            <a:endParaRPr lang="en-US" sz="900" dirty="0"/>
          </a:p>
        </p:txBody>
      </p:sp>
      <p:sp>
        <p:nvSpPr>
          <p:cNvPr id="34" name="Shape 32"/>
          <p:cNvSpPr/>
          <p:nvPr/>
        </p:nvSpPr>
        <p:spPr>
          <a:xfrm>
            <a:off x="7086600" y="3127248"/>
            <a:ext cx="1554480" cy="1207008"/>
          </a:xfrm>
          <a:prstGeom prst="roundRect">
            <a:avLst>
              <a:gd name="adj" fmla="val 6061"/>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35" name="Text 33"/>
          <p:cNvSpPr/>
          <p:nvPr/>
        </p:nvSpPr>
        <p:spPr>
          <a:xfrm>
            <a:off x="7141464" y="3127248"/>
            <a:ext cx="1444752" cy="1207008"/>
          </a:xfrm>
          <a:prstGeom prst="rect">
            <a:avLst/>
          </a:prstGeom>
          <a:noFill/>
          <a:ln/>
        </p:spPr>
        <p:txBody>
          <a:bodyPr wrap="square" lIns="0" tIns="0" rIns="0" bIns="0" rtlCol="0" anchor="ctr"/>
          <a:lstStyle/>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web/index.html</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카카오맵 + 검색 UI</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mock 폴백 내장</a:t>
            </a:r>
            <a:endParaRPr lang="en-US" sz="900" dirty="0"/>
          </a:p>
        </p:txBody>
      </p:sp>
      <p:sp>
        <p:nvSpPr>
          <p:cNvPr id="36" name="Shape 34"/>
          <p:cNvSpPr/>
          <p:nvPr/>
        </p:nvSpPr>
        <p:spPr>
          <a:xfrm>
            <a:off x="2286000" y="2834640"/>
            <a:ext cx="182880" cy="164592"/>
          </a:xfrm>
          <a:prstGeom prst="rightArrow">
            <a:avLst/>
          </a:prstGeom>
          <a:solidFill>
            <a:srgbClr val="BBD3CE"/>
          </a:solidFill>
          <a:ln w="12700">
            <a:solidFill>
              <a:srgbClr val="BBD3CE"/>
            </a:solidFill>
            <a:prstDash val="solid"/>
          </a:ln>
        </p:spPr>
        <p:txBody>
          <a:bodyPr/>
          <a:lstStyle/>
          <a:p>
            <a:endParaRPr lang="ko-KR" altLang="en-US"/>
          </a:p>
        </p:txBody>
      </p:sp>
      <p:sp>
        <p:nvSpPr>
          <p:cNvPr id="37" name="Shape 35"/>
          <p:cNvSpPr/>
          <p:nvPr/>
        </p:nvSpPr>
        <p:spPr>
          <a:xfrm>
            <a:off x="4846320" y="2834640"/>
            <a:ext cx="182880" cy="164592"/>
          </a:xfrm>
          <a:prstGeom prst="rightArrow">
            <a:avLst/>
          </a:prstGeom>
          <a:solidFill>
            <a:srgbClr val="BBD3CE"/>
          </a:solidFill>
          <a:ln w="12700">
            <a:solidFill>
              <a:srgbClr val="BBD3CE"/>
            </a:solidFill>
            <a:prstDash val="solid"/>
          </a:ln>
        </p:spPr>
        <p:txBody>
          <a:bodyPr/>
          <a:lstStyle/>
          <a:p>
            <a:endParaRPr lang="ko-KR" altLang="en-US"/>
          </a:p>
        </p:txBody>
      </p:sp>
      <p:sp>
        <p:nvSpPr>
          <p:cNvPr id="38" name="Shape 36"/>
          <p:cNvSpPr/>
          <p:nvPr/>
        </p:nvSpPr>
        <p:spPr>
          <a:xfrm>
            <a:off x="6858000" y="2834640"/>
            <a:ext cx="182880" cy="164592"/>
          </a:xfrm>
          <a:prstGeom prst="rightArrow">
            <a:avLst/>
          </a:prstGeom>
          <a:solidFill>
            <a:srgbClr val="BBD3CE"/>
          </a:solidFill>
          <a:ln w="12700">
            <a:solidFill>
              <a:srgbClr val="BBD3CE"/>
            </a:solidFill>
            <a:prstDash val="solid"/>
          </a:ln>
        </p:spPr>
        <p:txBody>
          <a:bodyPr/>
          <a:lstStyle/>
          <a:p>
            <a:endParaRPr lang="ko-KR" altLang="en-US"/>
          </a:p>
        </p:txBody>
      </p:sp>
      <p:sp>
        <p:nvSpPr>
          <p:cNvPr id="39" name="Shape 37"/>
          <p:cNvSpPr/>
          <p:nvPr/>
        </p:nvSpPr>
        <p:spPr>
          <a:xfrm>
            <a:off x="502920" y="4443984"/>
            <a:ext cx="8138160" cy="420624"/>
          </a:xfrm>
          <a:prstGeom prst="roundRect">
            <a:avLst>
              <a:gd name="adj" fmla="val 21739"/>
            </a:avLst>
          </a:prstGeom>
          <a:solidFill>
            <a:srgbClr val="0F5257"/>
          </a:solidFill>
          <a:ln w="12700">
            <a:solidFill>
              <a:srgbClr val="333333"/>
            </a:solidFill>
            <a:prstDash val="solid"/>
          </a:ln>
        </p:spPr>
        <p:txBody>
          <a:bodyPr/>
          <a:lstStyle/>
          <a:p>
            <a:endParaRPr lang="ko-KR" altLang="en-US"/>
          </a:p>
        </p:txBody>
      </p:sp>
      <p:sp>
        <p:nvSpPr>
          <p:cNvPr id="40" name="Text 38"/>
          <p:cNvSpPr/>
          <p:nvPr/>
        </p:nvSpPr>
        <p:spPr>
          <a:xfrm>
            <a:off x="502920" y="4443984"/>
            <a:ext cx="8138160" cy="420624"/>
          </a:xfrm>
          <a:prstGeom prst="rect">
            <a:avLst/>
          </a:prstGeom>
          <a:noFill/>
          <a:ln/>
        </p:spPr>
        <p:txBody>
          <a:bodyPr wrap="square" lIns="0" tIns="0" rIns="0" bIns="0" rtlCol="0" anchor="ctr"/>
          <a:lstStyle/>
          <a:p>
            <a:pPr marL="0" indent="0" algn="ctr">
              <a:buNone/>
            </a:pPr>
            <a:r>
              <a:rPr lang="en-US" sz="1000" b="1" dirty="0">
                <a:solidFill>
                  <a:srgbClr val="CDE8E3"/>
                </a:solidFill>
                <a:latin typeface="맑은 고딕" pitchFamily="34" charset="0"/>
                <a:ea typeface="맑은 고딕" pitchFamily="34" charset="-122"/>
                <a:cs typeface="맑은 고딕" pitchFamily="34" charset="-120"/>
              </a:rPr>
              <a:t>설계 원칙  ·  키는 서버에만  ·  식별자는 코드가 운반  ·  반응·라벨은 임베딩 금지  ·  place_id = 영구 키</a:t>
            </a:r>
            <a:endParaRPr lang="en-US" sz="1000" dirty="0"/>
          </a:p>
        </p:txBody>
      </p:sp>
      <p:sp>
        <p:nvSpPr>
          <p:cNvPr id="41" name="Text 39"/>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42" name="Text 40"/>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05</a:t>
            </a:r>
            <a:endParaRPr lang="en-US" sz="1100" dirty="0"/>
          </a:p>
        </p:txBody>
      </p:sp>
      <p:pic>
        <p:nvPicPr>
          <p:cNvPr id="46" name="Picture 2" descr="카카오톡 로고(.ai) 일러스트 다운로드 | 로고, 앱, 아이콘">
            <a:extLst>
              <a:ext uri="{FF2B5EF4-FFF2-40B4-BE49-F238E27FC236}">
                <a16:creationId xmlns:a16="http://schemas.microsoft.com/office/drawing/2014/main" id="{D9039550-C238-F521-5386-452B9D83B4AA}"/>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05217" y="3240200"/>
            <a:ext cx="335104" cy="335104"/>
          </a:xfrm>
          <a:prstGeom prst="rect">
            <a:avLst/>
          </a:prstGeom>
          <a:noFill/>
          <a:extLst>
            <a:ext uri="{909E8E84-426E-40DD-AFC4-6F175D3DCCD1}">
              <a14:hiddenFill xmlns:a14="http://schemas.microsoft.com/office/drawing/2010/main">
                <a:solidFill>
                  <a:srgbClr val="FFFFFF"/>
                </a:solidFill>
              </a14:hiddenFill>
            </a:ext>
          </a:extLst>
        </p:spPr>
      </p:pic>
      <p:pic>
        <p:nvPicPr>
          <p:cNvPr id="48" name="그림 47">
            <a:extLst>
              <a:ext uri="{FF2B5EF4-FFF2-40B4-BE49-F238E27FC236}">
                <a16:creationId xmlns:a16="http://schemas.microsoft.com/office/drawing/2014/main" id="{F8349340-711A-6DD0-D617-58EE60CEF89D}"/>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a:fillRect/>
          </a:stretch>
        </p:blipFill>
        <p:spPr>
          <a:xfrm>
            <a:off x="386428" y="1907307"/>
            <a:ext cx="451174" cy="310897"/>
          </a:xfrm>
          <a:prstGeom prst="rect">
            <a:avLst/>
          </a:prstGeom>
        </p:spPr>
      </p:pic>
      <p:pic>
        <p:nvPicPr>
          <p:cNvPr id="50" name="그림 49">
            <a:extLst>
              <a:ext uri="{FF2B5EF4-FFF2-40B4-BE49-F238E27FC236}">
                <a16:creationId xmlns:a16="http://schemas.microsoft.com/office/drawing/2014/main" id="{453BF36E-D383-587D-6141-4717B3C1F335}"/>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399957" y="2572902"/>
            <a:ext cx="359153" cy="3515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04  DATA PIPELINE ①</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그물 던지기 — 수집에서 카페 명단까지</a:t>
            </a:r>
            <a:endParaRPr lang="en-US" sz="2700" dirty="0"/>
          </a:p>
        </p:txBody>
      </p:sp>
      <p:sp>
        <p:nvSpPr>
          <p:cNvPr id="4" name="Shape 2"/>
          <p:cNvSpPr/>
          <p:nvPr/>
        </p:nvSpPr>
        <p:spPr>
          <a:xfrm>
            <a:off x="502920" y="1371600"/>
            <a:ext cx="1874520" cy="1965960"/>
          </a:xfrm>
          <a:prstGeom prst="roundRect">
            <a:avLst>
              <a:gd name="adj" fmla="val 5854"/>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Text 3"/>
          <p:cNvSpPr/>
          <p:nvPr/>
        </p:nvSpPr>
        <p:spPr>
          <a:xfrm>
            <a:off x="640080" y="1536192"/>
            <a:ext cx="1600200" cy="502920"/>
          </a:xfrm>
          <a:prstGeom prst="rect">
            <a:avLst/>
          </a:prstGeom>
          <a:noFill/>
          <a:ln/>
        </p:spPr>
        <p:txBody>
          <a:bodyPr wrap="square" lIns="0" tIns="0" rIns="0" bIns="0" rtlCol="0" anchor="ctr"/>
          <a:lstStyle/>
          <a:p>
            <a:pPr marL="0" indent="0">
              <a:buNone/>
            </a:pPr>
            <a:r>
              <a:rPr lang="en-US" sz="2600" b="1" dirty="0">
                <a:solidFill>
                  <a:srgbClr val="168A7E"/>
                </a:solidFill>
                <a:latin typeface="맑은 고딕" pitchFamily="34" charset="0"/>
                <a:ea typeface="맑은 고딕" pitchFamily="34" charset="-122"/>
                <a:cs typeface="맑은 고딕" pitchFamily="34" charset="-120"/>
              </a:rPr>
              <a:t>41 + 18</a:t>
            </a:r>
            <a:endParaRPr lang="en-US" sz="2600" dirty="0"/>
          </a:p>
        </p:txBody>
      </p:sp>
      <p:sp>
        <p:nvSpPr>
          <p:cNvPr id="6" name="Text 4"/>
          <p:cNvSpPr/>
          <p:nvPr/>
        </p:nvSpPr>
        <p:spPr>
          <a:xfrm>
            <a:off x="640080" y="2057400"/>
            <a:ext cx="160020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키워드 격자</a:t>
            </a:r>
            <a:endParaRPr lang="en-US" sz="1100" dirty="0"/>
          </a:p>
        </p:txBody>
      </p:sp>
      <p:sp>
        <p:nvSpPr>
          <p:cNvPr id="7" name="Text 5"/>
          <p:cNvSpPr/>
          <p:nvPr/>
        </p:nvSpPr>
        <p:spPr>
          <a:xfrm>
            <a:off x="640080" y="2359152"/>
            <a:ext cx="1645920" cy="777240"/>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지역 × 주제 조합</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(제주 카페 · 애월 감성카페)</a:t>
            </a:r>
            <a:endParaRPr lang="en-US" sz="900" dirty="0"/>
          </a:p>
        </p:txBody>
      </p:sp>
      <p:sp>
        <p:nvSpPr>
          <p:cNvPr id="8" name="Shape 6"/>
          <p:cNvSpPr/>
          <p:nvPr/>
        </p:nvSpPr>
        <p:spPr>
          <a:xfrm>
            <a:off x="2414016" y="2286000"/>
            <a:ext cx="155448" cy="164592"/>
          </a:xfrm>
          <a:prstGeom prst="rightArrow">
            <a:avLst/>
          </a:prstGeom>
          <a:solidFill>
            <a:srgbClr val="BBD3CE"/>
          </a:solidFill>
          <a:ln w="12700">
            <a:solidFill>
              <a:srgbClr val="BBD3CE"/>
            </a:solidFill>
            <a:prstDash val="solid"/>
          </a:ln>
        </p:spPr>
        <p:txBody>
          <a:bodyPr/>
          <a:lstStyle/>
          <a:p>
            <a:endParaRPr lang="ko-KR" altLang="en-US"/>
          </a:p>
        </p:txBody>
      </p:sp>
      <p:sp>
        <p:nvSpPr>
          <p:cNvPr id="9" name="Shape 7"/>
          <p:cNvSpPr/>
          <p:nvPr/>
        </p:nvSpPr>
        <p:spPr>
          <a:xfrm>
            <a:off x="2606040" y="1371600"/>
            <a:ext cx="1874520" cy="1965960"/>
          </a:xfrm>
          <a:prstGeom prst="roundRect">
            <a:avLst>
              <a:gd name="adj" fmla="val 5854"/>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0" name="Text 8"/>
          <p:cNvSpPr/>
          <p:nvPr/>
        </p:nvSpPr>
        <p:spPr>
          <a:xfrm>
            <a:off x="2743200" y="1536192"/>
            <a:ext cx="1600200" cy="502920"/>
          </a:xfrm>
          <a:prstGeom prst="rect">
            <a:avLst/>
          </a:prstGeom>
          <a:noFill/>
          <a:ln/>
        </p:spPr>
        <p:txBody>
          <a:bodyPr wrap="square" lIns="0" tIns="0" rIns="0" bIns="0" rtlCol="0" anchor="ctr"/>
          <a:lstStyle/>
          <a:p>
            <a:pPr marL="0" indent="0">
              <a:buNone/>
            </a:pPr>
            <a:r>
              <a:rPr lang="en-US" sz="2600" b="1" dirty="0">
                <a:solidFill>
                  <a:srgbClr val="168A7E"/>
                </a:solidFill>
                <a:latin typeface="맑은 고딕" pitchFamily="34" charset="0"/>
                <a:ea typeface="맑은 고딕" pitchFamily="34" charset="-122"/>
                <a:cs typeface="맑은 고딕" pitchFamily="34" charset="-120"/>
              </a:rPr>
              <a:t>1,359</a:t>
            </a:r>
            <a:endParaRPr lang="en-US" sz="2600" dirty="0"/>
          </a:p>
        </p:txBody>
      </p:sp>
      <p:sp>
        <p:nvSpPr>
          <p:cNvPr id="11" name="Text 9"/>
          <p:cNvSpPr/>
          <p:nvPr/>
        </p:nvSpPr>
        <p:spPr>
          <a:xfrm>
            <a:off x="2743200" y="2057400"/>
            <a:ext cx="160020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유튜브 raw</a:t>
            </a:r>
            <a:endParaRPr lang="en-US" sz="1100" dirty="0"/>
          </a:p>
        </p:txBody>
      </p:sp>
      <p:sp>
        <p:nvSpPr>
          <p:cNvPr id="12" name="Text 10"/>
          <p:cNvSpPr/>
          <p:nvPr/>
        </p:nvSpPr>
        <p:spPr>
          <a:xfrm>
            <a:off x="2743200" y="2359152"/>
            <a:ext cx="1645920" cy="777240"/>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무손실 저장</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설명란 0자 영상도 보관</a:t>
            </a:r>
            <a:endParaRPr lang="en-US" sz="900" dirty="0"/>
          </a:p>
        </p:txBody>
      </p:sp>
      <p:sp>
        <p:nvSpPr>
          <p:cNvPr id="13" name="Shape 11"/>
          <p:cNvSpPr/>
          <p:nvPr/>
        </p:nvSpPr>
        <p:spPr>
          <a:xfrm>
            <a:off x="4517136" y="2286000"/>
            <a:ext cx="155448" cy="164592"/>
          </a:xfrm>
          <a:prstGeom prst="rightArrow">
            <a:avLst/>
          </a:prstGeom>
          <a:solidFill>
            <a:srgbClr val="BBD3CE"/>
          </a:solidFill>
          <a:ln w="12700">
            <a:solidFill>
              <a:srgbClr val="BBD3CE"/>
            </a:solidFill>
            <a:prstDash val="solid"/>
          </a:ln>
        </p:spPr>
        <p:txBody>
          <a:bodyPr/>
          <a:lstStyle/>
          <a:p>
            <a:endParaRPr lang="ko-KR" altLang="en-US"/>
          </a:p>
        </p:txBody>
      </p:sp>
      <p:sp>
        <p:nvSpPr>
          <p:cNvPr id="14" name="Shape 12"/>
          <p:cNvSpPr/>
          <p:nvPr/>
        </p:nvSpPr>
        <p:spPr>
          <a:xfrm>
            <a:off x="4709160" y="1371600"/>
            <a:ext cx="1874520" cy="1965960"/>
          </a:xfrm>
          <a:prstGeom prst="roundRect">
            <a:avLst>
              <a:gd name="adj" fmla="val 5854"/>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5" name="Text 13"/>
          <p:cNvSpPr/>
          <p:nvPr/>
        </p:nvSpPr>
        <p:spPr>
          <a:xfrm>
            <a:off x="4846320" y="1536192"/>
            <a:ext cx="1600200" cy="502920"/>
          </a:xfrm>
          <a:prstGeom prst="rect">
            <a:avLst/>
          </a:prstGeom>
          <a:noFill/>
          <a:ln/>
        </p:spPr>
        <p:txBody>
          <a:bodyPr wrap="square" lIns="0" tIns="0" rIns="0" bIns="0" rtlCol="0" anchor="ctr"/>
          <a:lstStyle/>
          <a:p>
            <a:pPr marL="0" indent="0">
              <a:buNone/>
            </a:pPr>
            <a:r>
              <a:rPr lang="en-US" sz="2600" b="1" dirty="0">
                <a:solidFill>
                  <a:srgbClr val="168A7E"/>
                </a:solidFill>
                <a:latin typeface="맑은 고딕" pitchFamily="34" charset="0"/>
                <a:ea typeface="맑은 고딕" pitchFamily="34" charset="-122"/>
                <a:cs typeface="맑은 고딕" pitchFamily="34" charset="-120"/>
              </a:rPr>
              <a:t>1,504</a:t>
            </a:r>
            <a:endParaRPr lang="en-US" sz="2600" dirty="0"/>
          </a:p>
        </p:txBody>
      </p:sp>
      <p:sp>
        <p:nvSpPr>
          <p:cNvPr id="16" name="Text 14"/>
          <p:cNvSpPr/>
          <p:nvPr/>
        </p:nvSpPr>
        <p:spPr>
          <a:xfrm>
            <a:off x="4846320" y="2057400"/>
            <a:ext cx="160020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카페 언급 (Pass 1)</a:t>
            </a:r>
            <a:endParaRPr lang="en-US" sz="1100" dirty="0"/>
          </a:p>
        </p:txBody>
      </p:sp>
      <p:sp>
        <p:nvSpPr>
          <p:cNvPr id="17" name="Text 15"/>
          <p:cNvSpPr/>
          <p:nvPr/>
        </p:nvSpPr>
        <p:spPr>
          <a:xfrm>
            <a:off x="4846320" y="2359152"/>
            <a:ext cx="1645920" cy="777240"/>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gpt-5-mini가 영상마다</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A/B 트랙으로 추출</a:t>
            </a:r>
            <a:endParaRPr lang="en-US" sz="900" dirty="0"/>
          </a:p>
        </p:txBody>
      </p:sp>
      <p:sp>
        <p:nvSpPr>
          <p:cNvPr id="18" name="Shape 16"/>
          <p:cNvSpPr/>
          <p:nvPr/>
        </p:nvSpPr>
        <p:spPr>
          <a:xfrm>
            <a:off x="6620256" y="2286000"/>
            <a:ext cx="155448" cy="164592"/>
          </a:xfrm>
          <a:prstGeom prst="rightArrow">
            <a:avLst/>
          </a:prstGeom>
          <a:solidFill>
            <a:srgbClr val="BBD3CE"/>
          </a:solidFill>
          <a:ln w="12700">
            <a:solidFill>
              <a:srgbClr val="BBD3CE"/>
            </a:solidFill>
            <a:prstDash val="solid"/>
          </a:ln>
        </p:spPr>
        <p:txBody>
          <a:bodyPr/>
          <a:lstStyle/>
          <a:p>
            <a:endParaRPr lang="ko-KR" altLang="en-US"/>
          </a:p>
        </p:txBody>
      </p:sp>
      <p:sp>
        <p:nvSpPr>
          <p:cNvPr id="19" name="Shape 17"/>
          <p:cNvSpPr/>
          <p:nvPr/>
        </p:nvSpPr>
        <p:spPr>
          <a:xfrm>
            <a:off x="6812280" y="1371600"/>
            <a:ext cx="1874520" cy="1965960"/>
          </a:xfrm>
          <a:prstGeom prst="roundRect">
            <a:avLst>
              <a:gd name="adj" fmla="val 5854"/>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0" name="Text 18"/>
          <p:cNvSpPr/>
          <p:nvPr/>
        </p:nvSpPr>
        <p:spPr>
          <a:xfrm>
            <a:off x="6949440" y="1536192"/>
            <a:ext cx="1600200" cy="502920"/>
          </a:xfrm>
          <a:prstGeom prst="rect">
            <a:avLst/>
          </a:prstGeom>
          <a:noFill/>
          <a:ln/>
        </p:spPr>
        <p:txBody>
          <a:bodyPr wrap="square" lIns="0" tIns="0" rIns="0" bIns="0" rtlCol="0" anchor="ctr"/>
          <a:lstStyle/>
          <a:p>
            <a:pPr marL="0" indent="0">
              <a:buNone/>
            </a:pPr>
            <a:r>
              <a:rPr lang="en-US" sz="2600" b="1" dirty="0">
                <a:solidFill>
                  <a:srgbClr val="0F5257"/>
                </a:solidFill>
                <a:latin typeface="맑은 고딕" pitchFamily="34" charset="0"/>
                <a:ea typeface="맑은 고딕" pitchFamily="34" charset="-122"/>
                <a:cs typeface="맑은 고딕" pitchFamily="34" charset="-120"/>
              </a:rPr>
              <a:t>1,064</a:t>
            </a:r>
            <a:endParaRPr lang="en-US" sz="2600" dirty="0"/>
          </a:p>
        </p:txBody>
      </p:sp>
      <p:sp>
        <p:nvSpPr>
          <p:cNvPr id="21" name="Text 19"/>
          <p:cNvSpPr/>
          <p:nvPr/>
        </p:nvSpPr>
        <p:spPr>
          <a:xfrm>
            <a:off x="6949440" y="2057400"/>
            <a:ext cx="160020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고유 카페 명단</a:t>
            </a:r>
            <a:endParaRPr lang="en-US" sz="1100" dirty="0"/>
          </a:p>
        </p:txBody>
      </p:sp>
      <p:sp>
        <p:nvSpPr>
          <p:cNvPr id="22" name="Text 20"/>
          <p:cNvSpPr/>
          <p:nvPr/>
        </p:nvSpPr>
        <p:spPr>
          <a:xfrm>
            <a:off x="6949440" y="2359152"/>
            <a:ext cx="1645920" cy="777240"/>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중복 제거 후</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파이프라인의 모집단</a:t>
            </a:r>
            <a:endParaRPr lang="en-US" sz="900" dirty="0"/>
          </a:p>
        </p:txBody>
      </p:sp>
      <p:sp>
        <p:nvSpPr>
          <p:cNvPr id="23" name="Shape 21"/>
          <p:cNvSpPr/>
          <p:nvPr/>
        </p:nvSpPr>
        <p:spPr>
          <a:xfrm>
            <a:off x="502920" y="3566160"/>
            <a:ext cx="3977640" cy="1051560"/>
          </a:xfrm>
          <a:prstGeom prst="roundRect">
            <a:avLst>
              <a:gd name="adj" fmla="val 10435"/>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pic>
        <p:nvPicPr>
          <p:cNvPr id="24"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752368" y="3797320"/>
            <a:ext cx="122895" cy="122895"/>
          </a:xfrm>
          <a:prstGeom prst="rect">
            <a:avLst/>
          </a:prstGeom>
        </p:spPr>
      </p:pic>
      <p:sp>
        <p:nvSpPr>
          <p:cNvPr id="25" name="Text 22"/>
          <p:cNvSpPr/>
          <p:nvPr/>
        </p:nvSpPr>
        <p:spPr>
          <a:xfrm>
            <a:off x="1024128" y="3703320"/>
            <a:ext cx="329184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실측으로 배운 함정</a:t>
            </a:r>
            <a:endParaRPr lang="en-US" sz="1100" dirty="0"/>
          </a:p>
        </p:txBody>
      </p:sp>
      <p:sp>
        <p:nvSpPr>
          <p:cNvPr id="26" name="Text 23"/>
          <p:cNvSpPr/>
          <p:nvPr/>
        </p:nvSpPr>
        <p:spPr>
          <a:xfrm>
            <a:off x="685800" y="3986784"/>
            <a:ext cx="3611880" cy="502920"/>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gpt-5-mini는 출력 토큰 한도가 좁으면 빈 응답을 돌려준다 (4000 + 추론 최소 설정 필수)</a:t>
            </a:r>
            <a:endParaRPr lang="en-US" sz="950" dirty="0"/>
          </a:p>
        </p:txBody>
      </p:sp>
      <p:sp>
        <p:nvSpPr>
          <p:cNvPr id="27" name="Shape 24"/>
          <p:cNvSpPr/>
          <p:nvPr/>
        </p:nvSpPr>
        <p:spPr>
          <a:xfrm>
            <a:off x="4663440" y="3566160"/>
            <a:ext cx="3977640" cy="1051560"/>
          </a:xfrm>
          <a:prstGeom prst="roundRect">
            <a:avLst>
              <a:gd name="adj" fmla="val 10435"/>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8" name="Shape 25"/>
          <p:cNvSpPr/>
          <p:nvPr/>
        </p:nvSpPr>
        <p:spPr>
          <a:xfrm>
            <a:off x="4846320" y="3730752"/>
            <a:ext cx="256032" cy="256032"/>
          </a:xfrm>
          <a:prstGeom prst="ellipse">
            <a:avLst/>
          </a:prstGeom>
          <a:solidFill>
            <a:srgbClr val="168A7E"/>
          </a:solidFill>
          <a:ln w="12700">
            <a:solidFill>
              <a:srgbClr val="168A7E"/>
            </a:solidFill>
            <a:prstDash val="solid"/>
          </a:ln>
        </p:spPr>
        <p:txBody>
          <a:bodyPr/>
          <a:lstStyle/>
          <a:p>
            <a:endParaRPr lang="ko-KR" altLang="en-US"/>
          </a:p>
        </p:txBody>
      </p:sp>
      <p:pic>
        <p:nvPicPr>
          <p:cNvPr id="29"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912888" y="3797320"/>
            <a:ext cx="122895" cy="122895"/>
          </a:xfrm>
          <a:prstGeom prst="rect">
            <a:avLst/>
          </a:prstGeom>
        </p:spPr>
      </p:pic>
      <p:sp>
        <p:nvSpPr>
          <p:cNvPr id="30" name="Text 26"/>
          <p:cNvSpPr/>
          <p:nvPr/>
        </p:nvSpPr>
        <p:spPr>
          <a:xfrm>
            <a:off x="5184648" y="3703320"/>
            <a:ext cx="329184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설계 판단</a:t>
            </a:r>
            <a:endParaRPr lang="en-US" sz="1100" dirty="0"/>
          </a:p>
        </p:txBody>
      </p:sp>
      <p:sp>
        <p:nvSpPr>
          <p:cNvPr id="31" name="Text 27"/>
          <p:cNvSpPr/>
          <p:nvPr/>
        </p:nvSpPr>
        <p:spPr>
          <a:xfrm>
            <a:off x="4846320" y="3986784"/>
            <a:ext cx="3611880" cy="502920"/>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정보 없는 데이터도 투표권은 있다 — 설명란이 비어도 “언급됐다”는 사실은 인기 신호로 남는다</a:t>
            </a:r>
            <a:endParaRPr lang="en-US" sz="950" dirty="0"/>
          </a:p>
        </p:txBody>
      </p:sp>
      <p:sp>
        <p:nvSpPr>
          <p:cNvPr id="32" name="Text 28"/>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3" name="Text 29"/>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04  DATA PIPELINE ②</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정보는 블로그에서, 감정은 댓글에서</a:t>
            </a:r>
            <a:endParaRPr lang="en-US" sz="2700" dirty="0"/>
          </a:p>
        </p:txBody>
      </p:sp>
      <p:sp>
        <p:nvSpPr>
          <p:cNvPr id="4" name="Shape 2"/>
          <p:cNvSpPr/>
          <p:nvPr/>
        </p:nvSpPr>
        <p:spPr>
          <a:xfrm>
            <a:off x="502920" y="1325880"/>
            <a:ext cx="4023360" cy="3200400"/>
          </a:xfrm>
          <a:prstGeom prst="roundRect">
            <a:avLst>
              <a:gd name="adj" fmla="val 3429"/>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Text 3"/>
          <p:cNvSpPr/>
          <p:nvPr/>
        </p:nvSpPr>
        <p:spPr>
          <a:xfrm>
            <a:off x="731520" y="1481328"/>
            <a:ext cx="3566160" cy="292608"/>
          </a:xfrm>
          <a:prstGeom prst="rect">
            <a:avLst/>
          </a:prstGeom>
          <a:noFill/>
          <a:ln/>
        </p:spPr>
        <p:txBody>
          <a:bodyPr wrap="square" lIns="0" tIns="0" rIns="0" bIns="0" rtlCol="0" anchor="ctr"/>
          <a:lstStyle/>
          <a:p>
            <a:pPr marL="0" indent="0">
              <a:buNone/>
            </a:pPr>
            <a:r>
              <a:rPr lang="en-US" sz="1300" b="1" dirty="0">
                <a:solidFill>
                  <a:srgbClr val="1F2933"/>
                </a:solidFill>
                <a:latin typeface="맑은 고딕" pitchFamily="34" charset="0"/>
                <a:ea typeface="맑은 고딕" pitchFamily="34" charset="-122"/>
                <a:cs typeface="맑은 고딕" pitchFamily="34" charset="-120"/>
              </a:rPr>
              <a:t>네이버 보강 — 정보 풍부도 반전</a:t>
            </a:r>
            <a:endParaRPr lang="en-US" sz="1300" dirty="0"/>
          </a:p>
        </p:txBody>
      </p:sp>
      <p:sp>
        <p:nvSpPr>
          <p:cNvPr id="6" name="Text 4"/>
          <p:cNvSpPr/>
          <p:nvPr/>
        </p:nvSpPr>
        <p:spPr>
          <a:xfrm>
            <a:off x="731520" y="1783080"/>
            <a:ext cx="3611880" cy="457200"/>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카페 1,064곳 전량에 블로그 후기 100건 + 지역검색 5건 크롤 (검색 실패 85곳 중 48곳은 이름 정규화로 구제)</a:t>
            </a:r>
            <a:endParaRPr lang="en-US" sz="950" dirty="0"/>
          </a:p>
        </p:txBody>
      </p:sp>
      <p:graphicFrame>
        <p:nvGraphicFramePr>
          <p:cNvPr id="7" name="Chart 0"/>
          <p:cNvGraphicFramePr/>
          <p:nvPr/>
        </p:nvGraphicFramePr>
        <p:xfrm>
          <a:off x="640080" y="2286000"/>
          <a:ext cx="3749040"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4663440" y="1325880"/>
            <a:ext cx="3977640" cy="3200400"/>
          </a:xfrm>
          <a:prstGeom prst="roundRect">
            <a:avLst>
              <a:gd name="adj" fmla="val 3429"/>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9" name="Shape 6"/>
          <p:cNvSpPr/>
          <p:nvPr/>
        </p:nvSpPr>
        <p:spPr>
          <a:xfrm>
            <a:off x="4864608" y="1490472"/>
            <a:ext cx="384048" cy="384048"/>
          </a:xfrm>
          <a:prstGeom prst="ellipse">
            <a:avLst/>
          </a:prstGeom>
          <a:solidFill>
            <a:srgbClr val="E8842B"/>
          </a:solidFill>
          <a:ln w="12700">
            <a:solidFill>
              <a:srgbClr val="E8842B"/>
            </a:solidFill>
            <a:prstDash val="solid"/>
          </a:ln>
        </p:spPr>
        <p:txBody>
          <a:bodyPr/>
          <a:lstStyle/>
          <a:p>
            <a:endParaRPr lang="ko-KR" altLang="en-US"/>
          </a:p>
        </p:txBody>
      </p:sp>
      <p:pic>
        <p:nvPicPr>
          <p:cNvPr id="10" name="Image 0"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964460" y="1590324"/>
            <a:ext cx="184343" cy="184343"/>
          </a:xfrm>
          <a:prstGeom prst="rect">
            <a:avLst/>
          </a:prstGeom>
        </p:spPr>
      </p:pic>
      <p:sp>
        <p:nvSpPr>
          <p:cNvPr id="11" name="Text 7"/>
          <p:cNvSpPr/>
          <p:nvPr/>
        </p:nvSpPr>
        <p:spPr>
          <a:xfrm>
            <a:off x="5349240" y="1490472"/>
            <a:ext cx="3108960" cy="384048"/>
          </a:xfrm>
          <a:prstGeom prst="rect">
            <a:avLst/>
          </a:prstGeom>
          <a:noFill/>
          <a:ln/>
        </p:spPr>
        <p:txBody>
          <a:bodyPr wrap="square" lIns="0" tIns="0" rIns="0" bIns="0" rtlCol="0" anchor="ctr"/>
          <a:lstStyle/>
          <a:p>
            <a:pPr marL="0" indent="0">
              <a:buNone/>
            </a:pPr>
            <a:r>
              <a:rPr lang="en-US" sz="1300" b="1" dirty="0">
                <a:solidFill>
                  <a:srgbClr val="1F2933"/>
                </a:solidFill>
                <a:latin typeface="맑은 고딕" pitchFamily="34" charset="0"/>
                <a:ea typeface="맑은 고딕" pitchFamily="34" charset="-122"/>
                <a:cs typeface="맑은 고딕" pitchFamily="34" charset="-120"/>
              </a:rPr>
              <a:t>댓글이라는 별도의 광맥</a:t>
            </a:r>
            <a:endParaRPr lang="en-US" sz="1300" dirty="0"/>
          </a:p>
        </p:txBody>
      </p:sp>
      <p:sp>
        <p:nvSpPr>
          <p:cNvPr id="12" name="Text 8"/>
          <p:cNvSpPr/>
          <p:nvPr/>
        </p:nvSpPr>
        <p:spPr>
          <a:xfrm>
            <a:off x="4864608" y="1938528"/>
            <a:ext cx="3566160" cy="457200"/>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쇼츠 댓글 1,467개 영상분. 블로그는 “이 카페가 무엇인가”를, 댓글은 “사람들이 어떻게 느끼는가”를 말한다.</a:t>
            </a:r>
            <a:endParaRPr lang="en-US" sz="950" dirty="0"/>
          </a:p>
        </p:txBody>
      </p:sp>
      <p:sp>
        <p:nvSpPr>
          <p:cNvPr id="13" name="Shape 9"/>
          <p:cNvSpPr/>
          <p:nvPr/>
        </p:nvSpPr>
        <p:spPr>
          <a:xfrm>
            <a:off x="4864608" y="2450592"/>
            <a:ext cx="1097280" cy="384048"/>
          </a:xfrm>
          <a:prstGeom prst="roundRect">
            <a:avLst>
              <a:gd name="adj" fmla="val 50000"/>
            </a:avLst>
          </a:prstGeom>
          <a:solidFill>
            <a:srgbClr val="FBEEE0"/>
          </a:solidFill>
          <a:ln w="12700">
            <a:solidFill>
              <a:srgbClr val="333333"/>
            </a:solidFill>
            <a:prstDash val="solid"/>
          </a:ln>
        </p:spPr>
        <p:txBody>
          <a:bodyPr/>
          <a:lstStyle/>
          <a:p>
            <a:endParaRPr lang="ko-KR" altLang="en-US"/>
          </a:p>
        </p:txBody>
      </p:sp>
      <p:sp>
        <p:nvSpPr>
          <p:cNvPr id="14" name="Text 10"/>
          <p:cNvSpPr/>
          <p:nvPr/>
        </p:nvSpPr>
        <p:spPr>
          <a:xfrm>
            <a:off x="4864608" y="2450592"/>
            <a:ext cx="1097280" cy="384048"/>
          </a:xfrm>
          <a:prstGeom prst="rect">
            <a:avLst/>
          </a:prstGeom>
          <a:noFill/>
          <a:ln/>
        </p:spPr>
        <p:txBody>
          <a:bodyPr wrap="square" lIns="0" tIns="0" rIns="0" bIns="0" rtlCol="0" anchor="ctr"/>
          <a:lstStyle/>
          <a:p>
            <a:pPr marL="0" indent="0" algn="ctr">
              <a:buNone/>
            </a:pPr>
            <a:r>
              <a:rPr lang="en-US" sz="850" dirty="0">
                <a:solidFill>
                  <a:srgbClr val="8A4E14"/>
                </a:solidFill>
                <a:latin typeface="맑은 고딕" pitchFamily="34" charset="0"/>
                <a:ea typeface="맑은 고딕" pitchFamily="34" charset="-122"/>
                <a:cs typeface="맑은 고딕" pitchFamily="34" charset="-120"/>
              </a:rPr>
              <a:t>“2층 무더움”</a:t>
            </a:r>
            <a:endParaRPr lang="en-US" sz="850" dirty="0"/>
          </a:p>
        </p:txBody>
      </p:sp>
      <p:sp>
        <p:nvSpPr>
          <p:cNvPr id="15" name="Shape 11"/>
          <p:cNvSpPr/>
          <p:nvPr/>
        </p:nvSpPr>
        <p:spPr>
          <a:xfrm>
            <a:off x="6071616" y="2450592"/>
            <a:ext cx="1097280" cy="384048"/>
          </a:xfrm>
          <a:prstGeom prst="roundRect">
            <a:avLst>
              <a:gd name="adj" fmla="val 50000"/>
            </a:avLst>
          </a:prstGeom>
          <a:solidFill>
            <a:srgbClr val="FBEEE0"/>
          </a:solidFill>
          <a:ln w="12700">
            <a:solidFill>
              <a:srgbClr val="333333"/>
            </a:solidFill>
            <a:prstDash val="solid"/>
          </a:ln>
        </p:spPr>
        <p:txBody>
          <a:bodyPr/>
          <a:lstStyle/>
          <a:p>
            <a:endParaRPr lang="ko-KR" altLang="en-US"/>
          </a:p>
        </p:txBody>
      </p:sp>
      <p:sp>
        <p:nvSpPr>
          <p:cNvPr id="16" name="Text 12"/>
          <p:cNvSpPr/>
          <p:nvPr/>
        </p:nvSpPr>
        <p:spPr>
          <a:xfrm>
            <a:off x="6071616" y="2450592"/>
            <a:ext cx="1097280" cy="384048"/>
          </a:xfrm>
          <a:prstGeom prst="rect">
            <a:avLst/>
          </a:prstGeom>
          <a:noFill/>
          <a:ln/>
        </p:spPr>
        <p:txBody>
          <a:bodyPr wrap="square" lIns="0" tIns="0" rIns="0" bIns="0" rtlCol="0" anchor="ctr"/>
          <a:lstStyle/>
          <a:p>
            <a:pPr marL="0" indent="0" algn="ctr">
              <a:buNone/>
            </a:pPr>
            <a:r>
              <a:rPr lang="en-US" sz="850" dirty="0">
                <a:solidFill>
                  <a:srgbClr val="8A4E14"/>
                </a:solidFill>
                <a:latin typeface="맑은 고딕" pitchFamily="34" charset="0"/>
                <a:ea typeface="맑은 고딕" pitchFamily="34" charset="-122"/>
                <a:cs typeface="맑은 고딕" pitchFamily="34" charset="-120"/>
              </a:rPr>
              <a:t>“에어컨 고장”</a:t>
            </a:r>
            <a:endParaRPr lang="en-US" sz="850" dirty="0"/>
          </a:p>
        </p:txBody>
      </p:sp>
      <p:sp>
        <p:nvSpPr>
          <p:cNvPr id="17" name="Shape 13"/>
          <p:cNvSpPr/>
          <p:nvPr/>
        </p:nvSpPr>
        <p:spPr>
          <a:xfrm>
            <a:off x="7278624" y="2450592"/>
            <a:ext cx="1097280" cy="384048"/>
          </a:xfrm>
          <a:prstGeom prst="roundRect">
            <a:avLst>
              <a:gd name="adj" fmla="val 50000"/>
            </a:avLst>
          </a:prstGeom>
          <a:solidFill>
            <a:srgbClr val="FBEEE0"/>
          </a:solidFill>
          <a:ln w="12700">
            <a:solidFill>
              <a:srgbClr val="333333"/>
            </a:solidFill>
            <a:prstDash val="solid"/>
          </a:ln>
        </p:spPr>
        <p:txBody>
          <a:bodyPr/>
          <a:lstStyle/>
          <a:p>
            <a:endParaRPr lang="ko-KR" altLang="en-US"/>
          </a:p>
        </p:txBody>
      </p:sp>
      <p:sp>
        <p:nvSpPr>
          <p:cNvPr id="18" name="Text 14"/>
          <p:cNvSpPr/>
          <p:nvPr/>
        </p:nvSpPr>
        <p:spPr>
          <a:xfrm>
            <a:off x="7278624" y="2450592"/>
            <a:ext cx="1097280" cy="384048"/>
          </a:xfrm>
          <a:prstGeom prst="rect">
            <a:avLst/>
          </a:prstGeom>
          <a:noFill/>
          <a:ln/>
        </p:spPr>
        <p:txBody>
          <a:bodyPr wrap="square" lIns="0" tIns="0" rIns="0" bIns="0" rtlCol="0" anchor="ctr"/>
          <a:lstStyle/>
          <a:p>
            <a:pPr marL="0" indent="0" algn="ctr">
              <a:buNone/>
            </a:pPr>
            <a:r>
              <a:rPr lang="en-US" sz="850" dirty="0">
                <a:solidFill>
                  <a:srgbClr val="8A4E14"/>
                </a:solidFill>
                <a:latin typeface="맑은 고딕" pitchFamily="34" charset="0"/>
                <a:ea typeface="맑은 고딕" pitchFamily="34" charset="-122"/>
                <a:cs typeface="맑은 고딕" pitchFamily="34" charset="-120"/>
              </a:rPr>
              <a:t>“자리 차지 심함”</a:t>
            </a:r>
            <a:endParaRPr lang="en-US" sz="850" dirty="0"/>
          </a:p>
        </p:txBody>
      </p:sp>
      <p:sp>
        <p:nvSpPr>
          <p:cNvPr id="19" name="Text 15"/>
          <p:cNvSpPr/>
          <p:nvPr/>
        </p:nvSpPr>
        <p:spPr>
          <a:xfrm>
            <a:off x="4864608" y="2862072"/>
            <a:ext cx="3566160" cy="237744"/>
          </a:xfrm>
          <a:prstGeom prst="rect">
            <a:avLst/>
          </a:prstGeom>
          <a:noFill/>
          <a:ln/>
        </p:spPr>
        <p:txBody>
          <a:bodyPr wrap="square" lIns="0" tIns="0" rIns="0" bIns="0" rtlCol="0" anchor="ctr"/>
          <a:lstStyle/>
          <a:p>
            <a:pPr marL="0" indent="0">
              <a:buNone/>
            </a:pPr>
            <a:r>
              <a:rPr lang="en-US" sz="850" i="1" dirty="0">
                <a:solidFill>
                  <a:srgbClr val="9AA9AC"/>
                </a:solidFill>
                <a:latin typeface="맑은 고딕" pitchFamily="34" charset="0"/>
                <a:ea typeface="맑은 고딕" pitchFamily="34" charset="-122"/>
                <a:cs typeface="맑은 고딕" pitchFamily="34" charset="-120"/>
              </a:rPr>
              <a:t>블로그에는 절대 나오지 않는 문장들</a:t>
            </a:r>
            <a:endParaRPr lang="en-US" sz="850" dirty="0"/>
          </a:p>
        </p:txBody>
      </p:sp>
      <p:sp>
        <p:nvSpPr>
          <p:cNvPr id="20" name="Shape 16"/>
          <p:cNvSpPr/>
          <p:nvPr/>
        </p:nvSpPr>
        <p:spPr>
          <a:xfrm>
            <a:off x="4864608" y="3200400"/>
            <a:ext cx="3566160" cy="1133856"/>
          </a:xfrm>
          <a:prstGeom prst="roundRect">
            <a:avLst>
              <a:gd name="adj" fmla="val 8065"/>
            </a:avLst>
          </a:prstGeom>
          <a:solidFill>
            <a:srgbClr val="E7F3F1"/>
          </a:solidFill>
          <a:ln w="12700">
            <a:solidFill>
              <a:srgbClr val="333333"/>
            </a:solidFill>
            <a:prstDash val="solid"/>
          </a:ln>
        </p:spPr>
        <p:txBody>
          <a:bodyPr/>
          <a:lstStyle/>
          <a:p>
            <a:endParaRPr lang="ko-KR" altLang="en-US"/>
          </a:p>
        </p:txBody>
      </p:sp>
      <p:sp>
        <p:nvSpPr>
          <p:cNvPr id="21" name="Text 17"/>
          <p:cNvSpPr/>
          <p:nvPr/>
        </p:nvSpPr>
        <p:spPr>
          <a:xfrm>
            <a:off x="5010912" y="3291840"/>
            <a:ext cx="3291840" cy="274320"/>
          </a:xfrm>
          <a:prstGeom prst="rect">
            <a:avLst/>
          </a:prstGeom>
          <a:noFill/>
          <a:ln/>
        </p:spPr>
        <p:txBody>
          <a:bodyPr wrap="square" lIns="0" tIns="0" rIns="0" bIns="0" rtlCol="0" anchor="ct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단, 반응은 임베딩에 넣지 않는다</a:t>
            </a:r>
            <a:endParaRPr lang="en-US" sz="1050" dirty="0"/>
          </a:p>
        </p:txBody>
      </p:sp>
      <p:sp>
        <p:nvSpPr>
          <p:cNvPr id="22" name="Text 18"/>
          <p:cNvSpPr/>
          <p:nvPr/>
        </p:nvSpPr>
        <p:spPr>
          <a:xfrm>
            <a:off x="5010912" y="3566160"/>
            <a:ext cx="3291840" cy="685800"/>
          </a:xfrm>
          <a:prstGeom prst="rect">
            <a:avLst/>
          </a:prstGeom>
          <a:noFill/>
          <a:ln/>
        </p:spPr>
        <p:txBody>
          <a:bodyPr wrap="square" lIns="0" tIns="0" rIns="0" bIns="0" rtlCol="0" anchor="ctr"/>
          <a:lstStyle/>
          <a:p>
            <a:pPr marL="0" indent="0">
              <a:lnSpc>
                <a:spcPts val="1400"/>
              </a:lnSpc>
              <a:buNone/>
            </a:pPr>
            <a:r>
              <a:rPr lang="en-US" sz="900" dirty="0">
                <a:solidFill>
                  <a:srgbClr val="3F5C5E"/>
                </a:solidFill>
                <a:latin typeface="맑은 고딕" pitchFamily="34" charset="0"/>
                <a:ea typeface="맑은 고딕" pitchFamily="34" charset="-122"/>
                <a:cs typeface="맑은 고딕" pitchFamily="34" charset="-120"/>
              </a:rPr>
              <a:t>감정 표현은 아무 검색어에나 걸리는 “만능 자석”이 된다. 귀속도 보수적으로 — 한 카페만 나온 영상이거나 본문에 카페명이 있을 때만 인정, 애매하면 버린다.</a:t>
            </a:r>
            <a:endParaRPr lang="en-US" sz="900" dirty="0"/>
          </a:p>
        </p:txBody>
      </p:sp>
      <p:sp>
        <p:nvSpPr>
          <p:cNvPr id="23" name="Text 19"/>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24" name="Text 20"/>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07</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04  DATA PIPELINE ③</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살아있는 카페만 남기는 3중 방어</a:t>
            </a:r>
            <a:endParaRPr lang="en-US" sz="2700" dirty="0"/>
          </a:p>
        </p:txBody>
      </p:sp>
      <p:sp>
        <p:nvSpPr>
          <p:cNvPr id="4" name="Shape 2"/>
          <p:cNvSpPr/>
          <p:nvPr/>
        </p:nvSpPr>
        <p:spPr>
          <a:xfrm>
            <a:off x="502920" y="1371600"/>
            <a:ext cx="1280160" cy="914400"/>
          </a:xfrm>
          <a:prstGeom prst="roundRect">
            <a:avLst>
              <a:gd name="adj" fmla="val 10000"/>
            </a:avLst>
          </a:prstGeom>
          <a:solidFill>
            <a:srgbClr val="E7F3F1"/>
          </a:solidFill>
          <a:ln w="12700">
            <a:solidFill>
              <a:srgbClr val="333333"/>
            </a:solidFill>
            <a:prstDash val="solid"/>
          </a:ln>
        </p:spPr>
        <p:txBody>
          <a:bodyPr/>
          <a:lstStyle/>
          <a:p>
            <a:endParaRPr lang="ko-KR" altLang="en-US"/>
          </a:p>
        </p:txBody>
      </p:sp>
      <p:sp>
        <p:nvSpPr>
          <p:cNvPr id="5" name="Text 3"/>
          <p:cNvSpPr/>
          <p:nvPr/>
        </p:nvSpPr>
        <p:spPr>
          <a:xfrm>
            <a:off x="576072" y="1463040"/>
            <a:ext cx="1133856" cy="274320"/>
          </a:xfrm>
          <a:prstGeom prst="rect">
            <a:avLst/>
          </a:prstGeom>
          <a:noFill/>
          <a:ln/>
        </p:spPr>
        <p:txBody>
          <a:bodyPr wrap="square" lIns="0" tIns="0" rIns="0" bIns="0" rtlCol="0" anchor="ctr"/>
          <a:lstStyle/>
          <a:p>
            <a:pPr marL="0" indent="0" algn="ctr">
              <a:buNone/>
            </a:pPr>
            <a:r>
              <a:rPr lang="en-US" sz="1050" b="1" dirty="0">
                <a:solidFill>
                  <a:srgbClr val="0F5257"/>
                </a:solidFill>
                <a:latin typeface="맑은 고딕" pitchFamily="34" charset="0"/>
                <a:ea typeface="맑은 고딕" pitchFamily="34" charset="-122"/>
                <a:cs typeface="맑은 고딕" pitchFamily="34" charset="-120"/>
              </a:rPr>
              <a:t>상호 확인</a:t>
            </a:r>
            <a:endParaRPr lang="en-US" sz="1050" dirty="0"/>
          </a:p>
        </p:txBody>
      </p:sp>
      <p:sp>
        <p:nvSpPr>
          <p:cNvPr id="6" name="Text 4"/>
          <p:cNvSpPr/>
          <p:nvPr/>
        </p:nvSpPr>
        <p:spPr>
          <a:xfrm>
            <a:off x="576072" y="1737360"/>
            <a:ext cx="1133856" cy="457200"/>
          </a:xfrm>
          <a:prstGeom prst="rect">
            <a:avLst/>
          </a:prstGeom>
          <a:noFill/>
          <a:ln/>
        </p:spPr>
        <p:txBody>
          <a:bodyPr wrap="square" lIns="0" tIns="0" rIns="0" bIns="0" rtlCol="0" anchor="ctr"/>
          <a:lstStyle/>
          <a:p>
            <a:pPr marL="0" indent="0" algn="ctr">
              <a:lnSpc>
                <a:spcPts val="1200"/>
              </a:lnSpc>
              <a:buNone/>
            </a:pPr>
            <a:r>
              <a:rPr lang="en-US" sz="820" dirty="0">
                <a:solidFill>
                  <a:srgbClr val="3F5C5E"/>
                </a:solidFill>
                <a:latin typeface="맑은 고딕" pitchFamily="34" charset="0"/>
                <a:ea typeface="맑은 고딕" pitchFamily="34" charset="-122"/>
                <a:cs typeface="맑은 고딕" pitchFamily="34" charset="-120"/>
              </a:rPr>
              <a:t>이름이 실제로 조회되는가</a:t>
            </a:r>
            <a:endParaRPr lang="en-US" sz="820" dirty="0"/>
          </a:p>
        </p:txBody>
      </p:sp>
      <p:sp>
        <p:nvSpPr>
          <p:cNvPr id="7" name="Shape 5"/>
          <p:cNvSpPr/>
          <p:nvPr/>
        </p:nvSpPr>
        <p:spPr>
          <a:xfrm>
            <a:off x="1920240" y="1371600"/>
            <a:ext cx="1280160" cy="914400"/>
          </a:xfrm>
          <a:prstGeom prst="roundRect">
            <a:avLst>
              <a:gd name="adj" fmla="val 10000"/>
            </a:avLst>
          </a:prstGeom>
          <a:solidFill>
            <a:srgbClr val="E7F3F1"/>
          </a:solidFill>
          <a:ln w="12700">
            <a:solidFill>
              <a:srgbClr val="333333"/>
            </a:solidFill>
            <a:prstDash val="solid"/>
          </a:ln>
        </p:spPr>
        <p:txBody>
          <a:bodyPr/>
          <a:lstStyle/>
          <a:p>
            <a:endParaRPr lang="ko-KR" altLang="en-US"/>
          </a:p>
        </p:txBody>
      </p:sp>
      <p:sp>
        <p:nvSpPr>
          <p:cNvPr id="8" name="Text 6"/>
          <p:cNvSpPr/>
          <p:nvPr/>
        </p:nvSpPr>
        <p:spPr>
          <a:xfrm>
            <a:off x="1993392" y="1463040"/>
            <a:ext cx="1133856" cy="274320"/>
          </a:xfrm>
          <a:prstGeom prst="rect">
            <a:avLst/>
          </a:prstGeom>
          <a:noFill/>
          <a:ln/>
        </p:spPr>
        <p:txBody>
          <a:bodyPr wrap="square" lIns="0" tIns="0" rIns="0" bIns="0" rtlCol="0" anchor="ctr"/>
          <a:lstStyle/>
          <a:p>
            <a:pPr marL="0" indent="0" algn="ctr">
              <a:buNone/>
            </a:pPr>
            <a:r>
              <a:rPr lang="en-US" sz="1050" b="1" dirty="0">
                <a:solidFill>
                  <a:srgbClr val="0F5257"/>
                </a:solidFill>
                <a:latin typeface="맑은 고딕" pitchFamily="34" charset="0"/>
                <a:ea typeface="맑은 고딕" pitchFamily="34" charset="-122"/>
                <a:cs typeface="맑은 고딕" pitchFamily="34" charset="-120"/>
              </a:rPr>
              <a:t>유효 후기</a:t>
            </a:r>
            <a:endParaRPr lang="en-US" sz="1050" dirty="0"/>
          </a:p>
        </p:txBody>
      </p:sp>
      <p:sp>
        <p:nvSpPr>
          <p:cNvPr id="9" name="Text 7"/>
          <p:cNvSpPr/>
          <p:nvPr/>
        </p:nvSpPr>
        <p:spPr>
          <a:xfrm>
            <a:off x="1993392" y="1737360"/>
            <a:ext cx="1133856" cy="457200"/>
          </a:xfrm>
          <a:prstGeom prst="rect">
            <a:avLst/>
          </a:prstGeom>
          <a:noFill/>
          <a:ln/>
        </p:spPr>
        <p:txBody>
          <a:bodyPr wrap="square" lIns="0" tIns="0" rIns="0" bIns="0" rtlCol="0" anchor="ctr"/>
          <a:lstStyle/>
          <a:p>
            <a:pPr marL="0" indent="0" algn="ctr">
              <a:lnSpc>
                <a:spcPts val="1200"/>
              </a:lnSpc>
              <a:buNone/>
            </a:pPr>
            <a:r>
              <a:rPr lang="en-US" sz="820" dirty="0">
                <a:solidFill>
                  <a:srgbClr val="3F5C5E"/>
                </a:solidFill>
                <a:latin typeface="맑은 고딕" pitchFamily="34" charset="0"/>
                <a:ea typeface="맑은 고딕" pitchFamily="34" charset="-122"/>
                <a:cs typeface="맑은 고딕" pitchFamily="34" charset="-120"/>
              </a:rPr>
              <a:t>2024년 이후 실방문 글이 있는가</a:t>
            </a:r>
            <a:endParaRPr lang="en-US" sz="820" dirty="0"/>
          </a:p>
        </p:txBody>
      </p:sp>
      <p:sp>
        <p:nvSpPr>
          <p:cNvPr id="10" name="Shape 8"/>
          <p:cNvSpPr/>
          <p:nvPr/>
        </p:nvSpPr>
        <p:spPr>
          <a:xfrm>
            <a:off x="3337560" y="1371600"/>
            <a:ext cx="1280160" cy="914400"/>
          </a:xfrm>
          <a:prstGeom prst="roundRect">
            <a:avLst>
              <a:gd name="adj" fmla="val 10000"/>
            </a:avLst>
          </a:prstGeom>
          <a:solidFill>
            <a:srgbClr val="E7F3F1"/>
          </a:solidFill>
          <a:ln w="12700">
            <a:solidFill>
              <a:srgbClr val="333333"/>
            </a:solidFill>
            <a:prstDash val="solid"/>
          </a:ln>
        </p:spPr>
        <p:txBody>
          <a:bodyPr/>
          <a:lstStyle/>
          <a:p>
            <a:endParaRPr lang="ko-KR" altLang="en-US"/>
          </a:p>
        </p:txBody>
      </p:sp>
      <p:sp>
        <p:nvSpPr>
          <p:cNvPr id="11" name="Text 9"/>
          <p:cNvSpPr/>
          <p:nvPr/>
        </p:nvSpPr>
        <p:spPr>
          <a:xfrm>
            <a:off x="3410712" y="1463040"/>
            <a:ext cx="1133856" cy="274320"/>
          </a:xfrm>
          <a:prstGeom prst="rect">
            <a:avLst/>
          </a:prstGeom>
          <a:noFill/>
          <a:ln/>
        </p:spPr>
        <p:txBody>
          <a:bodyPr wrap="square" lIns="0" tIns="0" rIns="0" bIns="0" rtlCol="0" anchor="ctr"/>
          <a:lstStyle/>
          <a:p>
            <a:pPr marL="0" indent="0" algn="ctr">
              <a:buNone/>
            </a:pPr>
            <a:r>
              <a:rPr lang="en-US" sz="1050" b="1" dirty="0">
                <a:solidFill>
                  <a:srgbClr val="0F5257"/>
                </a:solidFill>
                <a:latin typeface="맑은 고딕" pitchFamily="34" charset="0"/>
                <a:ea typeface="맑은 고딕" pitchFamily="34" charset="-122"/>
                <a:cs typeface="맑은 고딕" pitchFamily="34" charset="-120"/>
              </a:rPr>
              <a:t>공공 명부</a:t>
            </a:r>
            <a:endParaRPr lang="en-US" sz="1050" dirty="0"/>
          </a:p>
        </p:txBody>
      </p:sp>
      <p:sp>
        <p:nvSpPr>
          <p:cNvPr id="12" name="Text 10"/>
          <p:cNvSpPr/>
          <p:nvPr/>
        </p:nvSpPr>
        <p:spPr>
          <a:xfrm>
            <a:off x="3410712" y="1737360"/>
            <a:ext cx="1133856" cy="457200"/>
          </a:xfrm>
          <a:prstGeom prst="rect">
            <a:avLst/>
          </a:prstGeom>
          <a:noFill/>
          <a:ln/>
        </p:spPr>
        <p:txBody>
          <a:bodyPr wrap="square" lIns="0" tIns="0" rIns="0" bIns="0" rtlCol="0" anchor="ctr"/>
          <a:lstStyle/>
          <a:p>
            <a:pPr marL="0" indent="0" algn="ctr">
              <a:lnSpc>
                <a:spcPts val="1200"/>
              </a:lnSpc>
              <a:buNone/>
            </a:pPr>
            <a:r>
              <a:rPr lang="en-US" sz="820" dirty="0">
                <a:solidFill>
                  <a:srgbClr val="3F5C5E"/>
                </a:solidFill>
                <a:latin typeface="맑은 고딕" pitchFamily="34" charset="0"/>
                <a:ea typeface="맑은 고딕" pitchFamily="34" charset="-122"/>
                <a:cs typeface="맑은 고딕" pitchFamily="34" charset="-120"/>
              </a:rPr>
              <a:t>카페 registry에 등재돼 있는가</a:t>
            </a:r>
            <a:endParaRPr lang="en-US" sz="820" dirty="0"/>
          </a:p>
        </p:txBody>
      </p:sp>
      <p:sp>
        <p:nvSpPr>
          <p:cNvPr id="13" name="Text 11"/>
          <p:cNvSpPr/>
          <p:nvPr/>
        </p:nvSpPr>
        <p:spPr>
          <a:xfrm>
            <a:off x="502920" y="2395728"/>
            <a:ext cx="4114800" cy="274320"/>
          </a:xfrm>
          <a:prstGeom prst="rect">
            <a:avLst/>
          </a:prstGeom>
          <a:noFill/>
          <a:ln/>
        </p:spPr>
        <p:txBody>
          <a:bodyPr wrap="square" lIns="0" tIns="0" rIns="0" bIns="0" rtlCol="0" anchor="ctr"/>
          <a:lstStyle/>
          <a:p>
            <a:pPr marL="0" indent="0">
              <a:buNone/>
            </a:pPr>
            <a:r>
              <a:rPr lang="en-US" sz="1000" b="1" dirty="0">
                <a:solidFill>
                  <a:srgbClr val="168A7E"/>
                </a:solidFill>
                <a:latin typeface="맑은 고딕" pitchFamily="34" charset="0"/>
                <a:ea typeface="맑은 고딕" pitchFamily="34" charset="-122"/>
                <a:cs typeface="맑은 고딕" pitchFamily="34" charset="-120"/>
              </a:rPr>
              <a:t>3신호 교차 판정</a:t>
            </a:r>
            <a:endParaRPr lang="en-US" sz="1000" dirty="0"/>
          </a:p>
        </p:txBody>
      </p:sp>
      <p:sp>
        <p:nvSpPr>
          <p:cNvPr id="14" name="Shape 12"/>
          <p:cNvSpPr/>
          <p:nvPr/>
        </p:nvSpPr>
        <p:spPr>
          <a:xfrm>
            <a:off x="502920" y="2724912"/>
            <a:ext cx="1280160" cy="914400"/>
          </a:xfrm>
          <a:prstGeom prst="roundRect">
            <a:avLst>
              <a:gd name="adj" fmla="val 12000"/>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5" name="Text 13"/>
          <p:cNvSpPr/>
          <p:nvPr/>
        </p:nvSpPr>
        <p:spPr>
          <a:xfrm>
            <a:off x="576072" y="2816352"/>
            <a:ext cx="1133856" cy="457200"/>
          </a:xfrm>
          <a:prstGeom prst="rect">
            <a:avLst/>
          </a:prstGeom>
          <a:noFill/>
          <a:ln/>
        </p:spPr>
        <p:txBody>
          <a:bodyPr wrap="square" lIns="0" tIns="0" rIns="0" bIns="0" rtlCol="0" anchor="ctr"/>
          <a:lstStyle/>
          <a:p>
            <a:pPr marL="0" indent="0" algn="ctr">
              <a:buNone/>
            </a:pPr>
            <a:r>
              <a:rPr lang="en-US" sz="2200" b="1" dirty="0">
                <a:solidFill>
                  <a:srgbClr val="168A7E"/>
                </a:solidFill>
                <a:latin typeface="맑은 고딕" pitchFamily="34" charset="0"/>
                <a:ea typeface="맑은 고딕" pitchFamily="34" charset="-122"/>
                <a:cs typeface="맑은 고딕" pitchFamily="34" charset="-120"/>
              </a:rPr>
              <a:t>876</a:t>
            </a:r>
            <a:endParaRPr lang="en-US" sz="2200" dirty="0"/>
          </a:p>
        </p:txBody>
      </p:sp>
      <p:sp>
        <p:nvSpPr>
          <p:cNvPr id="16" name="Text 14"/>
          <p:cNvSpPr/>
          <p:nvPr/>
        </p:nvSpPr>
        <p:spPr>
          <a:xfrm>
            <a:off x="576072" y="3273552"/>
            <a:ext cx="1133856" cy="274320"/>
          </a:xfrm>
          <a:prstGeom prst="rect">
            <a:avLst/>
          </a:prstGeom>
          <a:noFill/>
          <a:ln/>
        </p:spPr>
        <p:txBody>
          <a:bodyPr wrap="square" lIns="0" tIns="0" rIns="0" bIns="0" rtlCol="0" anchor="ctr"/>
          <a:lstStyle/>
          <a:p>
            <a:pPr marL="0" indent="0" algn="ctr">
              <a:buNone/>
            </a:pPr>
            <a:r>
              <a:rPr lang="en-US" sz="1000" dirty="0">
                <a:solidFill>
                  <a:srgbClr val="5F7175"/>
                </a:solidFill>
                <a:latin typeface="맑은 고딕" pitchFamily="34" charset="0"/>
                <a:ea typeface="맑은 고딕" pitchFamily="34" charset="-122"/>
                <a:cs typeface="맑은 고딕" pitchFamily="34" charset="-120"/>
              </a:rPr>
              <a:t>유지</a:t>
            </a:r>
            <a:endParaRPr lang="en-US" sz="1000" dirty="0"/>
          </a:p>
        </p:txBody>
      </p:sp>
      <p:sp>
        <p:nvSpPr>
          <p:cNvPr id="17" name="Shape 15"/>
          <p:cNvSpPr/>
          <p:nvPr/>
        </p:nvSpPr>
        <p:spPr>
          <a:xfrm>
            <a:off x="1920240" y="2724912"/>
            <a:ext cx="1280160" cy="914400"/>
          </a:xfrm>
          <a:prstGeom prst="roundRect">
            <a:avLst>
              <a:gd name="adj" fmla="val 12000"/>
            </a:avLst>
          </a:prstGeom>
          <a:solidFill>
            <a:srgbClr val="FBEEE0"/>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8" name="Text 16"/>
          <p:cNvSpPr/>
          <p:nvPr/>
        </p:nvSpPr>
        <p:spPr>
          <a:xfrm>
            <a:off x="1993392" y="2816352"/>
            <a:ext cx="1133856" cy="457200"/>
          </a:xfrm>
          <a:prstGeom prst="rect">
            <a:avLst/>
          </a:prstGeom>
          <a:noFill/>
          <a:ln/>
        </p:spPr>
        <p:txBody>
          <a:bodyPr wrap="square" lIns="0" tIns="0" rIns="0" bIns="0" rtlCol="0" anchor="ctr"/>
          <a:lstStyle/>
          <a:p>
            <a:pPr marL="0" indent="0" algn="ctr">
              <a:buNone/>
            </a:pPr>
            <a:r>
              <a:rPr lang="en-US" sz="2200" b="1" dirty="0">
                <a:solidFill>
                  <a:srgbClr val="8A4E14"/>
                </a:solidFill>
                <a:latin typeface="맑은 고딕" pitchFamily="34" charset="0"/>
                <a:ea typeface="맑은 고딕" pitchFamily="34" charset="-122"/>
                <a:cs typeface="맑은 고딕" pitchFamily="34" charset="-120"/>
              </a:rPr>
              <a:t>134</a:t>
            </a:r>
            <a:endParaRPr lang="en-US" sz="2200" dirty="0"/>
          </a:p>
        </p:txBody>
      </p:sp>
      <p:sp>
        <p:nvSpPr>
          <p:cNvPr id="19" name="Text 17"/>
          <p:cNvSpPr/>
          <p:nvPr/>
        </p:nvSpPr>
        <p:spPr>
          <a:xfrm>
            <a:off x="1993392" y="3273552"/>
            <a:ext cx="1133856" cy="274320"/>
          </a:xfrm>
          <a:prstGeom prst="rect">
            <a:avLst/>
          </a:prstGeom>
          <a:noFill/>
          <a:ln/>
        </p:spPr>
        <p:txBody>
          <a:bodyPr wrap="square" lIns="0" tIns="0" rIns="0" bIns="0" rtlCol="0" anchor="ctr"/>
          <a:lstStyle/>
          <a:p>
            <a:pPr marL="0" indent="0" algn="ctr">
              <a:buNone/>
            </a:pPr>
            <a:r>
              <a:rPr lang="en-US" sz="1000" dirty="0">
                <a:solidFill>
                  <a:srgbClr val="5F7175"/>
                </a:solidFill>
                <a:latin typeface="맑은 고딕" pitchFamily="34" charset="0"/>
                <a:ea typeface="맑은 고딕" pitchFamily="34" charset="-122"/>
                <a:cs typeface="맑은 고딕" pitchFamily="34" charset="-120"/>
              </a:rPr>
              <a:t>보류</a:t>
            </a:r>
            <a:endParaRPr lang="en-US" sz="1000" dirty="0"/>
          </a:p>
        </p:txBody>
      </p:sp>
      <p:sp>
        <p:nvSpPr>
          <p:cNvPr id="20" name="Shape 18"/>
          <p:cNvSpPr/>
          <p:nvPr/>
        </p:nvSpPr>
        <p:spPr>
          <a:xfrm>
            <a:off x="3337560" y="2724912"/>
            <a:ext cx="1280160" cy="914400"/>
          </a:xfrm>
          <a:prstGeom prst="roundRect">
            <a:avLst>
              <a:gd name="adj" fmla="val 12000"/>
            </a:avLst>
          </a:prstGeom>
          <a:solidFill>
            <a:srgbClr val="EDF1F0"/>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1" name="Text 19"/>
          <p:cNvSpPr/>
          <p:nvPr/>
        </p:nvSpPr>
        <p:spPr>
          <a:xfrm>
            <a:off x="3410712" y="2816352"/>
            <a:ext cx="1133856" cy="457200"/>
          </a:xfrm>
          <a:prstGeom prst="rect">
            <a:avLst/>
          </a:prstGeom>
          <a:noFill/>
          <a:ln/>
        </p:spPr>
        <p:txBody>
          <a:bodyPr wrap="square" lIns="0" tIns="0" rIns="0" bIns="0" rtlCol="0" anchor="ctr"/>
          <a:lstStyle/>
          <a:p>
            <a:pPr marL="0" indent="0" algn="ctr">
              <a:buNone/>
            </a:pPr>
            <a:r>
              <a:rPr lang="en-US" sz="2200" b="1" dirty="0">
                <a:solidFill>
                  <a:srgbClr val="6B7B7E"/>
                </a:solidFill>
                <a:latin typeface="맑은 고딕" pitchFamily="34" charset="0"/>
                <a:ea typeface="맑은 고딕" pitchFamily="34" charset="-122"/>
                <a:cs typeface="맑은 고딕" pitchFamily="34" charset="-120"/>
              </a:rPr>
              <a:t>49</a:t>
            </a:r>
            <a:endParaRPr lang="en-US" sz="2200" dirty="0"/>
          </a:p>
        </p:txBody>
      </p:sp>
      <p:sp>
        <p:nvSpPr>
          <p:cNvPr id="22" name="Text 20"/>
          <p:cNvSpPr/>
          <p:nvPr/>
        </p:nvSpPr>
        <p:spPr>
          <a:xfrm>
            <a:off x="3410712" y="3273552"/>
            <a:ext cx="1133856" cy="274320"/>
          </a:xfrm>
          <a:prstGeom prst="rect">
            <a:avLst/>
          </a:prstGeom>
          <a:noFill/>
          <a:ln/>
        </p:spPr>
        <p:txBody>
          <a:bodyPr wrap="square" lIns="0" tIns="0" rIns="0" bIns="0" rtlCol="0" anchor="ctr"/>
          <a:lstStyle/>
          <a:p>
            <a:pPr marL="0" indent="0" algn="ctr">
              <a:buNone/>
            </a:pPr>
            <a:r>
              <a:rPr lang="en-US" sz="1000" dirty="0">
                <a:solidFill>
                  <a:srgbClr val="5F7175"/>
                </a:solidFill>
                <a:latin typeface="맑은 고딕" pitchFamily="34" charset="0"/>
                <a:ea typeface="맑은 고딕" pitchFamily="34" charset="-122"/>
                <a:cs typeface="맑은 고딕" pitchFamily="34" charset="-120"/>
              </a:rPr>
              <a:t>제외</a:t>
            </a:r>
            <a:endParaRPr lang="en-US" sz="1000" dirty="0"/>
          </a:p>
        </p:txBody>
      </p:sp>
      <p:sp>
        <p:nvSpPr>
          <p:cNvPr id="23" name="Text 21"/>
          <p:cNvSpPr/>
          <p:nvPr/>
        </p:nvSpPr>
        <p:spPr>
          <a:xfrm>
            <a:off x="502920" y="3794760"/>
            <a:ext cx="4114800" cy="731520"/>
          </a:xfrm>
          <a:prstGeom prst="rect">
            <a:avLst/>
          </a:prstGeom>
          <a:noFill/>
          <a:ln/>
        </p:spPr>
        <p:txBody>
          <a:bodyPr wrap="square" lIns="0" tIns="0" rIns="0" bIns="0" rtlCol="0" anchor="ctr"/>
          <a:lstStyle/>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보류 134곳 · 눈 검수 57곳 · 폐업 제보 42건은 자동 판정하지 않고 사람 검수 큐로 보낸다.</a:t>
            </a:r>
            <a:endParaRPr lang="en-US" sz="950" dirty="0"/>
          </a:p>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애매한 것을 애매하다고 표시하는 편이, 틀린 확신보다 낫다.</a:t>
            </a:r>
            <a:endParaRPr lang="en-US" sz="950" dirty="0"/>
          </a:p>
        </p:txBody>
      </p:sp>
      <p:sp>
        <p:nvSpPr>
          <p:cNvPr id="24" name="Shape 22"/>
          <p:cNvSpPr/>
          <p:nvPr/>
        </p:nvSpPr>
        <p:spPr>
          <a:xfrm>
            <a:off x="4892040" y="1325880"/>
            <a:ext cx="3749040" cy="3200400"/>
          </a:xfrm>
          <a:prstGeom prst="roundRect">
            <a:avLst>
              <a:gd name="adj" fmla="val 3429"/>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5" name="Text 23"/>
          <p:cNvSpPr/>
          <p:nvPr/>
        </p:nvSpPr>
        <p:spPr>
          <a:xfrm>
            <a:off x="5074920" y="1463040"/>
            <a:ext cx="3383280" cy="292608"/>
          </a:xfrm>
          <a:prstGeom prst="rect">
            <a:avLst/>
          </a:prstGeom>
          <a:noFill/>
          <a:ln/>
        </p:spPr>
        <p:txBody>
          <a:bodyPr wrap="square" lIns="0" tIns="0" rIns="0" bIns="0" rtlCol="0" anchor="ctr"/>
          <a:lstStyle/>
          <a:p>
            <a:pPr marL="0" indent="0">
              <a:buNone/>
            </a:pPr>
            <a:r>
              <a:rPr lang="en-US" sz="1200" b="1" dirty="0">
                <a:solidFill>
                  <a:srgbClr val="1F2933"/>
                </a:solidFill>
                <a:latin typeface="맑은 고딕" pitchFamily="34" charset="0"/>
                <a:ea typeface="맑은 고딕" pitchFamily="34" charset="-122"/>
                <a:cs typeface="맑은 고딕" pitchFamily="34" charset="-120"/>
              </a:rPr>
              <a:t>자동 폐업 검출 — 파이프라인의 자가 발견</a:t>
            </a:r>
            <a:endParaRPr lang="en-US" sz="1200" dirty="0"/>
          </a:p>
        </p:txBody>
      </p:sp>
      <p:sp>
        <p:nvSpPr>
          <p:cNvPr id="26" name="Text 24"/>
          <p:cNvSpPr/>
          <p:nvPr/>
        </p:nvSpPr>
        <p:spPr>
          <a:xfrm>
            <a:off x="5074920" y="1764792"/>
            <a:ext cx="3383280" cy="237744"/>
          </a:xfrm>
          <a:prstGeom prst="rect">
            <a:avLst/>
          </a:prstGeom>
          <a:noFill/>
          <a:ln/>
        </p:spPr>
        <p:txBody>
          <a:bodyPr wrap="square" lIns="0" tIns="0" rIns="0" bIns="0" rtlCol="0" anchor="ctr"/>
          <a:lstStyle/>
          <a:p>
            <a:pPr marL="0" indent="0">
              <a:buNone/>
            </a:pPr>
            <a:r>
              <a:rPr lang="en-US" sz="950" dirty="0">
                <a:solidFill>
                  <a:srgbClr val="5F7175"/>
                </a:solidFill>
                <a:latin typeface="맑은 고딕" pitchFamily="34" charset="0"/>
                <a:ea typeface="맑은 고딕" pitchFamily="34" charset="-122"/>
                <a:cs typeface="맑은 고딕" pitchFamily="34" charset="-120"/>
              </a:rPr>
              <a:t>블로그 정제 단계에서 폐업 단서 11곳 자동 검출</a:t>
            </a:r>
            <a:endParaRPr lang="en-US" sz="950" dirty="0"/>
          </a:p>
        </p:txBody>
      </p:sp>
      <p:sp>
        <p:nvSpPr>
          <p:cNvPr id="27" name="Shape 25"/>
          <p:cNvSpPr/>
          <p:nvPr/>
        </p:nvSpPr>
        <p:spPr>
          <a:xfrm>
            <a:off x="5074920" y="2084832"/>
            <a:ext cx="3383280" cy="1481328"/>
          </a:xfrm>
          <a:prstGeom prst="roundRect">
            <a:avLst>
              <a:gd name="adj" fmla="val 6173"/>
            </a:avLst>
          </a:prstGeom>
          <a:solidFill>
            <a:srgbClr val="F4FAF9"/>
          </a:solidFill>
          <a:ln w="9525">
            <a:solidFill>
              <a:srgbClr val="DCE6E3"/>
            </a:solidFill>
            <a:prstDash val="solid"/>
          </a:ln>
        </p:spPr>
        <p:txBody>
          <a:bodyPr/>
          <a:lstStyle/>
          <a:p>
            <a:endParaRPr lang="ko-KR" altLang="en-US"/>
          </a:p>
        </p:txBody>
      </p:sp>
      <p:sp>
        <p:nvSpPr>
          <p:cNvPr id="28" name="Text 26"/>
          <p:cNvSpPr/>
          <p:nvPr/>
        </p:nvSpPr>
        <p:spPr>
          <a:xfrm>
            <a:off x="5230368" y="2194560"/>
            <a:ext cx="3108960" cy="274320"/>
          </a:xfrm>
          <a:prstGeom prst="rect">
            <a:avLst/>
          </a:prstGeom>
          <a:noFill/>
          <a:ln/>
        </p:spPr>
        <p:txBody>
          <a:bodyPr wrap="square" lIns="0" tIns="0" rIns="0" bIns="0" rtlCol="0" anchor="ct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사례 — 카페 “오아시스80”</a:t>
            </a:r>
            <a:endParaRPr lang="en-US" sz="1050" dirty="0"/>
          </a:p>
        </p:txBody>
      </p:sp>
      <p:sp>
        <p:nvSpPr>
          <p:cNvPr id="29" name="Text 27"/>
          <p:cNvSpPr/>
          <p:nvPr/>
        </p:nvSpPr>
        <p:spPr>
          <a:xfrm>
            <a:off x="5230368" y="2487168"/>
            <a:ext cx="3108960" cy="960120"/>
          </a:xfrm>
          <a:prstGeom prst="rect">
            <a:avLst/>
          </a:prstGeom>
          <a:noFill/>
          <a:ln/>
        </p:spPr>
        <p:txBody>
          <a:bodyPr wrap="square" lIns="0" tIns="0" rIns="0" bIns="0" rtlCol="0" anchor="ctr"/>
          <a:lstStyle/>
          <a:p>
            <a:pPr marL="0" indent="0">
              <a:lnSpc>
                <a:spcPts val="1600"/>
              </a:lnSpc>
              <a:buNone/>
            </a:pPr>
            <a:r>
              <a:rPr lang="en-US" sz="950" dirty="0">
                <a:solidFill>
                  <a:srgbClr val="5F7175"/>
                </a:solidFill>
                <a:latin typeface="맑은 고딕" pitchFamily="34" charset="0"/>
                <a:ea typeface="맑은 고딕" pitchFamily="34" charset="-122"/>
                <a:cs typeface="맑은 고딕" pitchFamily="34" charset="-120"/>
              </a:rPr>
              <a:t>감성 태그가 붙어 있는데 댓글에는</a:t>
            </a:r>
            <a:endParaRPr lang="en-US" sz="950" dirty="0"/>
          </a:p>
          <a:p>
            <a:pPr marL="0" indent="0">
              <a:lnSpc>
                <a:spcPts val="1600"/>
              </a:lnSpc>
              <a:buNone/>
            </a:pPr>
            <a:r>
              <a:rPr lang="en-US" sz="950" b="1" dirty="0">
                <a:solidFill>
                  <a:srgbClr val="E8842B"/>
                </a:solidFill>
                <a:latin typeface="맑은 고딕" pitchFamily="34" charset="0"/>
                <a:ea typeface="맑은 고딕" pitchFamily="34" charset="-122"/>
                <a:cs typeface="맑은 고딕" pitchFamily="34" charset="-120"/>
              </a:rPr>
              <a:t>“폐건물인 줄”,  “짓다 만 듯”</a:t>
            </a:r>
            <a:endParaRPr lang="en-US" sz="950" dirty="0"/>
          </a:p>
          <a:p>
            <a:pPr marL="0" indent="0">
              <a:lnSpc>
                <a:spcPts val="1600"/>
              </a:lnSpc>
              <a:buNone/>
            </a:pPr>
            <a:r>
              <a:rPr lang="en-US" sz="950" dirty="0">
                <a:solidFill>
                  <a:srgbClr val="5F7175"/>
                </a:solidFill>
                <a:latin typeface="맑은 고딕" pitchFamily="34" charset="0"/>
                <a:ea typeface="맑은 고딕" pitchFamily="34" charset="-122"/>
                <a:cs typeface="맑은 고딕" pitchFamily="34" charset="-120"/>
              </a:rPr>
              <a:t>— 우리가 수동으로 찾아낸 문제를 파이프라인이 독립적으로 재발견했다.</a:t>
            </a:r>
            <a:endParaRPr lang="en-US" sz="950" dirty="0"/>
          </a:p>
        </p:txBody>
      </p:sp>
      <p:sp>
        <p:nvSpPr>
          <p:cNvPr id="30" name="Text 28"/>
          <p:cNvSpPr/>
          <p:nvPr/>
        </p:nvSpPr>
        <p:spPr>
          <a:xfrm>
            <a:off x="5074920" y="3703320"/>
            <a:ext cx="3429000" cy="640080"/>
          </a:xfrm>
          <a:prstGeom prst="rect">
            <a:avLst/>
          </a:prstGeom>
          <a:noFill/>
          <a:ln/>
        </p:spPr>
        <p:txBody>
          <a:bodyPr wrap="square" lIns="0" tIns="0" rIns="0" bIns="0" rtlCol="0" anchor="ctr"/>
          <a:lstStyle/>
          <a:p>
            <a:pPr marL="0" indent="0">
              <a:lnSpc>
                <a:spcPts val="1500"/>
              </a:lnSpc>
              <a:buNone/>
            </a:pPr>
            <a:r>
              <a:rPr lang="en-US" sz="950" i="1" dirty="0">
                <a:solidFill>
                  <a:srgbClr val="168A7E"/>
                </a:solidFill>
                <a:latin typeface="맑은 고딕" pitchFamily="34" charset="0"/>
                <a:ea typeface="맑은 고딕" pitchFamily="34" charset="-122"/>
                <a:cs typeface="맑은 고딕" pitchFamily="34" charset="-120"/>
              </a:rPr>
              <a:t>근거 극성 분리가 태그 품질 검사까지 겸한다 — “태그와 모순되는 증거” 목록이 부산물로 나온다.</a:t>
            </a:r>
            <a:endParaRPr lang="en-US" sz="950" dirty="0"/>
          </a:p>
        </p:txBody>
      </p:sp>
      <p:sp>
        <p:nvSpPr>
          <p:cNvPr id="31" name="Text 29"/>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2" name="Text 30"/>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08</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05  SEARCH QUALITY ①</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논쟁 대신 실측 — 검색 품질을 정한 실험들</a:t>
            </a:r>
            <a:endParaRPr lang="en-US" sz="2700" dirty="0"/>
          </a:p>
        </p:txBody>
      </p:sp>
      <p:sp>
        <p:nvSpPr>
          <p:cNvPr id="4" name="Shape 2"/>
          <p:cNvSpPr/>
          <p:nvPr/>
        </p:nvSpPr>
        <p:spPr>
          <a:xfrm>
            <a:off x="502920" y="1298448"/>
            <a:ext cx="8138160" cy="932688"/>
          </a:xfrm>
          <a:prstGeom prst="roundRect">
            <a:avLst>
              <a:gd name="adj" fmla="val 11765"/>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Shape 3"/>
          <p:cNvSpPr/>
          <p:nvPr/>
        </p:nvSpPr>
        <p:spPr>
          <a:xfrm>
            <a:off x="685800" y="1490472"/>
            <a:ext cx="548640" cy="548640"/>
          </a:xfrm>
          <a:prstGeom prst="ellipse">
            <a:avLst/>
          </a:prstGeom>
          <a:solidFill>
            <a:srgbClr val="168A7E"/>
          </a:solidFill>
          <a:ln w="12700">
            <a:solidFill>
              <a:srgbClr val="168A7E"/>
            </a:solidFill>
            <a:prstDash val="solid"/>
          </a:ln>
        </p:spPr>
        <p:txBody>
          <a:bodyPr/>
          <a:lstStyle/>
          <a:p>
            <a:endParaRPr lang="ko-KR" altLang="en-US"/>
          </a:p>
        </p:txBody>
      </p:sp>
      <p:pic>
        <p:nvPicPr>
          <p:cNvPr id="6"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828446" y="1633118"/>
            <a:ext cx="263347" cy="263347"/>
          </a:xfrm>
          <a:prstGeom prst="rect">
            <a:avLst/>
          </a:prstGeom>
        </p:spPr>
      </p:pic>
      <p:sp>
        <p:nvSpPr>
          <p:cNvPr id="7" name="Text 4"/>
          <p:cNvSpPr/>
          <p:nvPr/>
        </p:nvSpPr>
        <p:spPr>
          <a:xfrm>
            <a:off x="1371600" y="1408176"/>
            <a:ext cx="3200400" cy="292608"/>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임베딩 텍스트 3~4자 비교</a:t>
            </a:r>
            <a:endParaRPr lang="en-US" sz="1250" dirty="0"/>
          </a:p>
        </p:txBody>
      </p:sp>
      <p:sp>
        <p:nvSpPr>
          <p:cNvPr id="8" name="Text 5"/>
          <p:cNvSpPr/>
          <p:nvPr/>
        </p:nvSpPr>
        <p:spPr>
          <a:xfrm>
            <a:off x="1371600" y="1700784"/>
            <a:ext cx="4846320" cy="438912"/>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구조화 프로필 vs 자연어 요약을 같은 8문항으로 붙였다. 자연어 요약(blog)이 5승 → 서빙 코퍼스 hybrid 385 + blog 851 확정.</a:t>
            </a:r>
            <a:endParaRPr lang="en-US" sz="950" dirty="0"/>
          </a:p>
        </p:txBody>
      </p:sp>
      <p:sp>
        <p:nvSpPr>
          <p:cNvPr id="9" name="Shape 6"/>
          <p:cNvSpPr/>
          <p:nvPr/>
        </p:nvSpPr>
        <p:spPr>
          <a:xfrm>
            <a:off x="6400800" y="1527048"/>
            <a:ext cx="2103120" cy="475488"/>
          </a:xfrm>
          <a:prstGeom prst="roundRect">
            <a:avLst>
              <a:gd name="adj" fmla="val 19231"/>
            </a:avLst>
          </a:prstGeom>
          <a:solidFill>
            <a:srgbClr val="E7F3F1"/>
          </a:solidFill>
          <a:ln w="12700">
            <a:solidFill>
              <a:srgbClr val="333333"/>
            </a:solidFill>
            <a:prstDash val="solid"/>
          </a:ln>
        </p:spPr>
        <p:txBody>
          <a:bodyPr/>
          <a:lstStyle/>
          <a:p>
            <a:endParaRPr lang="ko-KR" altLang="en-US"/>
          </a:p>
        </p:txBody>
      </p:sp>
      <p:sp>
        <p:nvSpPr>
          <p:cNvPr id="10" name="Text 7"/>
          <p:cNvSpPr/>
          <p:nvPr/>
        </p:nvSpPr>
        <p:spPr>
          <a:xfrm>
            <a:off x="6400800" y="1527048"/>
            <a:ext cx="2103120" cy="475488"/>
          </a:xfrm>
          <a:prstGeom prst="rect">
            <a:avLst/>
          </a:prstGeom>
          <a:noFill/>
          <a:ln/>
        </p:spPr>
        <p:txBody>
          <a:bodyPr wrap="square" lIns="0" tIns="0" rIns="0" bIns="0" rtlCol="0" anchor="ctr"/>
          <a:lstStyle/>
          <a:p>
            <a:pPr marL="0" indent="0" algn="ctr">
              <a:buNone/>
            </a:pPr>
            <a:r>
              <a:rPr lang="en-US" sz="1200" b="1" dirty="0">
                <a:solidFill>
                  <a:srgbClr val="0F5257"/>
                </a:solidFill>
                <a:latin typeface="맑은 고딕" pitchFamily="34" charset="0"/>
                <a:ea typeface="맑은 고딕" pitchFamily="34" charset="-122"/>
                <a:cs typeface="맑은 고딕" pitchFamily="34" charset="-120"/>
              </a:rPr>
              <a:t>자연어 요약 5승</a:t>
            </a:r>
            <a:endParaRPr lang="en-US" sz="1200" dirty="0"/>
          </a:p>
        </p:txBody>
      </p:sp>
      <p:sp>
        <p:nvSpPr>
          <p:cNvPr id="11" name="Shape 8"/>
          <p:cNvSpPr/>
          <p:nvPr/>
        </p:nvSpPr>
        <p:spPr>
          <a:xfrm>
            <a:off x="502920" y="2359152"/>
            <a:ext cx="8138160" cy="932688"/>
          </a:xfrm>
          <a:prstGeom prst="roundRect">
            <a:avLst>
              <a:gd name="adj" fmla="val 11765"/>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2" name="Shape 9"/>
          <p:cNvSpPr/>
          <p:nvPr/>
        </p:nvSpPr>
        <p:spPr>
          <a:xfrm>
            <a:off x="685800" y="2551176"/>
            <a:ext cx="548640" cy="548640"/>
          </a:xfrm>
          <a:prstGeom prst="ellipse">
            <a:avLst/>
          </a:prstGeom>
          <a:solidFill>
            <a:srgbClr val="168A7E"/>
          </a:solidFill>
          <a:ln w="12700">
            <a:solidFill>
              <a:srgbClr val="168A7E"/>
            </a:solidFill>
            <a:prstDash val="solid"/>
          </a:ln>
        </p:spPr>
        <p:txBody>
          <a:bodyPr/>
          <a:lstStyle/>
          <a:p>
            <a:endParaRPr lang="ko-KR" altLang="en-US"/>
          </a:p>
        </p:txBody>
      </p:sp>
      <p:pic>
        <p:nvPicPr>
          <p:cNvPr id="13"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28446" y="2693822"/>
            <a:ext cx="263347" cy="263347"/>
          </a:xfrm>
          <a:prstGeom prst="rect">
            <a:avLst/>
          </a:prstGeom>
        </p:spPr>
      </p:pic>
      <p:sp>
        <p:nvSpPr>
          <p:cNvPr id="14" name="Text 10"/>
          <p:cNvSpPr/>
          <p:nvPr/>
        </p:nvSpPr>
        <p:spPr>
          <a:xfrm>
            <a:off x="1371600" y="2468880"/>
            <a:ext cx="3200400" cy="292608"/>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동료 시드 평가 (지역 정합)</a:t>
            </a:r>
            <a:endParaRPr lang="en-US" sz="1250" dirty="0"/>
          </a:p>
        </p:txBody>
      </p:sp>
      <p:sp>
        <p:nvSpPr>
          <p:cNvPr id="15" name="Text 11"/>
          <p:cNvSpPr/>
          <p:nvPr/>
        </p:nvSpPr>
        <p:spPr>
          <a:xfrm>
            <a:off x="1371600" y="2761488"/>
            <a:ext cx="4846320" cy="438912"/>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키워드 스팸이 섞인 데이터셋은 임베딩에서 배제하고 라벨층으로만 이식. “층을 옮기면 독이 약이 된다.”</a:t>
            </a:r>
            <a:endParaRPr lang="en-US" sz="950" dirty="0"/>
          </a:p>
        </p:txBody>
      </p:sp>
      <p:sp>
        <p:nvSpPr>
          <p:cNvPr id="16" name="Shape 12"/>
          <p:cNvSpPr/>
          <p:nvPr/>
        </p:nvSpPr>
        <p:spPr>
          <a:xfrm>
            <a:off x="6400800" y="2587752"/>
            <a:ext cx="2103120" cy="475488"/>
          </a:xfrm>
          <a:prstGeom prst="roundRect">
            <a:avLst>
              <a:gd name="adj" fmla="val 19231"/>
            </a:avLst>
          </a:prstGeom>
          <a:solidFill>
            <a:srgbClr val="E7F3F1"/>
          </a:solidFill>
          <a:ln w="12700">
            <a:solidFill>
              <a:srgbClr val="333333"/>
            </a:solidFill>
            <a:prstDash val="solid"/>
          </a:ln>
        </p:spPr>
        <p:txBody>
          <a:bodyPr/>
          <a:lstStyle/>
          <a:p>
            <a:endParaRPr lang="ko-KR" altLang="en-US"/>
          </a:p>
        </p:txBody>
      </p:sp>
      <p:sp>
        <p:nvSpPr>
          <p:cNvPr id="17" name="Text 13"/>
          <p:cNvSpPr/>
          <p:nvPr/>
        </p:nvSpPr>
        <p:spPr>
          <a:xfrm>
            <a:off x="6400800" y="2587752"/>
            <a:ext cx="2103120" cy="475488"/>
          </a:xfrm>
          <a:prstGeom prst="rect">
            <a:avLst/>
          </a:prstGeom>
          <a:noFill/>
          <a:ln/>
        </p:spPr>
        <p:txBody>
          <a:bodyPr wrap="square" lIns="0" tIns="0" rIns="0" bIns="0" rtlCol="0" anchor="ctr"/>
          <a:lstStyle/>
          <a:p>
            <a:pPr marL="0" indent="0" algn="ctr">
              <a:buNone/>
            </a:pPr>
            <a:r>
              <a:rPr lang="en-US" sz="1200" b="1" dirty="0">
                <a:solidFill>
                  <a:srgbClr val="0F5257"/>
                </a:solidFill>
                <a:latin typeface="맑은 고딕" pitchFamily="34" charset="0"/>
                <a:ea typeface="맑은 고딕" pitchFamily="34" charset="-122"/>
                <a:cs typeface="맑은 고딕" pitchFamily="34" charset="-120"/>
              </a:rPr>
              <a:t>18/20  vs  11/20</a:t>
            </a:r>
            <a:endParaRPr lang="en-US" sz="1200" dirty="0"/>
          </a:p>
        </p:txBody>
      </p:sp>
      <p:sp>
        <p:nvSpPr>
          <p:cNvPr id="18" name="Shape 14"/>
          <p:cNvSpPr/>
          <p:nvPr/>
        </p:nvSpPr>
        <p:spPr>
          <a:xfrm>
            <a:off x="502920" y="3419856"/>
            <a:ext cx="8138160" cy="932688"/>
          </a:xfrm>
          <a:prstGeom prst="roundRect">
            <a:avLst>
              <a:gd name="adj" fmla="val 11765"/>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9" name="Shape 15"/>
          <p:cNvSpPr/>
          <p:nvPr/>
        </p:nvSpPr>
        <p:spPr>
          <a:xfrm>
            <a:off x="685800" y="3611880"/>
            <a:ext cx="548640" cy="548640"/>
          </a:xfrm>
          <a:prstGeom prst="ellipse">
            <a:avLst/>
          </a:prstGeom>
          <a:solidFill>
            <a:srgbClr val="168A7E"/>
          </a:solidFill>
          <a:ln w="12700">
            <a:solidFill>
              <a:srgbClr val="168A7E"/>
            </a:solidFill>
            <a:prstDash val="solid"/>
          </a:ln>
        </p:spPr>
        <p:txBody>
          <a:bodyPr/>
          <a:lstStyle/>
          <a:p>
            <a:endParaRPr lang="ko-KR" altLang="en-US"/>
          </a:p>
        </p:txBody>
      </p:sp>
      <p:pic>
        <p:nvPicPr>
          <p:cNvPr id="20" name="Image 2" descr="preencoded.png"/>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828446" y="3754526"/>
            <a:ext cx="263347" cy="263347"/>
          </a:xfrm>
          <a:prstGeom prst="rect">
            <a:avLst/>
          </a:prstGeom>
        </p:spPr>
      </p:pic>
      <p:sp>
        <p:nvSpPr>
          <p:cNvPr id="21" name="Text 16"/>
          <p:cNvSpPr/>
          <p:nvPr/>
        </p:nvSpPr>
        <p:spPr>
          <a:xfrm>
            <a:off x="1371600" y="3529584"/>
            <a:ext cx="3200400" cy="292608"/>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태그 사전 프롬프트 구속 실험</a:t>
            </a:r>
            <a:endParaRPr lang="en-US" sz="1250" dirty="0"/>
          </a:p>
        </p:txBody>
      </p:sp>
      <p:sp>
        <p:nvSpPr>
          <p:cNvPr id="22" name="Text 17"/>
          <p:cNvSpPr/>
          <p:nvPr/>
        </p:nvSpPr>
        <p:spPr>
          <a:xfrm>
            <a:off x="1371600" y="3822192"/>
            <a:ext cx="4846320" cy="438912"/>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“사전 20개만 쓰라”고 지시해도 LLM은 이탈한다. 강제는 코드가 하고, 이탈 태그는 버리지 않고 사전 승격 후보로 축적.</a:t>
            </a:r>
            <a:endParaRPr lang="en-US" sz="950" dirty="0"/>
          </a:p>
        </p:txBody>
      </p:sp>
      <p:sp>
        <p:nvSpPr>
          <p:cNvPr id="23" name="Shape 18"/>
          <p:cNvSpPr/>
          <p:nvPr/>
        </p:nvSpPr>
        <p:spPr>
          <a:xfrm>
            <a:off x="6400800" y="3648456"/>
            <a:ext cx="2103120" cy="475488"/>
          </a:xfrm>
          <a:prstGeom prst="roundRect">
            <a:avLst>
              <a:gd name="adj" fmla="val 19231"/>
            </a:avLst>
          </a:prstGeom>
          <a:solidFill>
            <a:srgbClr val="E7F3F1"/>
          </a:solidFill>
          <a:ln w="12700">
            <a:solidFill>
              <a:srgbClr val="333333"/>
            </a:solidFill>
            <a:prstDash val="solid"/>
          </a:ln>
        </p:spPr>
        <p:txBody>
          <a:bodyPr/>
          <a:lstStyle/>
          <a:p>
            <a:endParaRPr lang="ko-KR" altLang="en-US"/>
          </a:p>
        </p:txBody>
      </p:sp>
      <p:sp>
        <p:nvSpPr>
          <p:cNvPr id="24" name="Text 19"/>
          <p:cNvSpPr/>
          <p:nvPr/>
        </p:nvSpPr>
        <p:spPr>
          <a:xfrm>
            <a:off x="6400800" y="3648456"/>
            <a:ext cx="2103120" cy="475488"/>
          </a:xfrm>
          <a:prstGeom prst="rect">
            <a:avLst/>
          </a:prstGeom>
          <a:noFill/>
          <a:ln/>
        </p:spPr>
        <p:txBody>
          <a:bodyPr wrap="square" lIns="0" tIns="0" rIns="0" bIns="0" rtlCol="0" anchor="ctr"/>
          <a:lstStyle/>
          <a:p>
            <a:pPr marL="0" indent="0" algn="ctr">
              <a:buNone/>
            </a:pPr>
            <a:r>
              <a:rPr lang="en-US" sz="1200" b="1" dirty="0">
                <a:solidFill>
                  <a:srgbClr val="0F5257"/>
                </a:solidFill>
                <a:latin typeface="맑은 고딕" pitchFamily="34" charset="0"/>
                <a:ea typeface="맑은 고딕" pitchFamily="34" charset="-122"/>
                <a:cs typeface="맑은 고딕" pitchFamily="34" charset="-120"/>
              </a:rPr>
              <a:t>프롬프트만으론 샌다</a:t>
            </a:r>
            <a:endParaRPr lang="en-US" sz="1200" dirty="0"/>
          </a:p>
        </p:txBody>
      </p:sp>
      <p:sp>
        <p:nvSpPr>
          <p:cNvPr id="25" name="Text 20"/>
          <p:cNvSpPr/>
          <p:nvPr/>
        </p:nvSpPr>
        <p:spPr>
          <a:xfrm>
            <a:off x="502920" y="4407408"/>
            <a:ext cx="8138160" cy="274320"/>
          </a:xfrm>
          <a:prstGeom prst="rect">
            <a:avLst/>
          </a:prstGeom>
          <a:noFill/>
          <a:ln/>
        </p:spPr>
        <p:txBody>
          <a:bodyPr wrap="square" lIns="0" tIns="0" rIns="0" bIns="0" rtlCol="0" anchor="ctr"/>
          <a:lstStyle/>
          <a:p>
            <a:pPr marL="0" indent="0">
              <a:buNone/>
            </a:pPr>
            <a:r>
              <a:rPr lang="en-US" sz="950" i="1" dirty="0">
                <a:solidFill>
                  <a:srgbClr val="168A7E"/>
                </a:solidFill>
                <a:latin typeface="맑은 고딕" pitchFamily="34" charset="0"/>
                <a:ea typeface="맑은 고딕" pitchFamily="34" charset="-122"/>
                <a:cs typeface="맑은 고딕" pitchFamily="34" charset="-120"/>
              </a:rPr>
              <a:t>모든 LLM 배치는 파일럿 → 육안 검증 → 전량 순서. 근거 극성 파일럿에서 가십·반어 밈 등 오염 4유형을 실측해 프롬프트에 반영했다.</a:t>
            </a:r>
            <a:endParaRPr lang="en-US" sz="950" dirty="0"/>
          </a:p>
        </p:txBody>
      </p:sp>
      <p:sp>
        <p:nvSpPr>
          <p:cNvPr id="26" name="Text 21"/>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27" name="Text 22"/>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09</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05  SEARCH QUALITY ②</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“해지개” 사건 — 이름으로 잇는 방식의 은퇴</a:t>
            </a:r>
            <a:endParaRPr lang="en-US" sz="2700" dirty="0"/>
          </a:p>
        </p:txBody>
      </p:sp>
      <p:sp>
        <p:nvSpPr>
          <p:cNvPr id="4" name="Shape 2"/>
          <p:cNvSpPr/>
          <p:nvPr/>
        </p:nvSpPr>
        <p:spPr>
          <a:xfrm>
            <a:off x="502920" y="1298448"/>
            <a:ext cx="3977640" cy="1783080"/>
          </a:xfrm>
          <a:prstGeom prst="roundRect">
            <a:avLst>
              <a:gd name="adj" fmla="val 6154"/>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Shape 3"/>
          <p:cNvSpPr/>
          <p:nvPr/>
        </p:nvSpPr>
        <p:spPr>
          <a:xfrm>
            <a:off x="713232" y="1481328"/>
            <a:ext cx="457200" cy="457200"/>
          </a:xfrm>
          <a:prstGeom prst="ellipse">
            <a:avLst/>
          </a:prstGeom>
          <a:solidFill>
            <a:srgbClr val="E8842B"/>
          </a:solidFill>
          <a:ln w="12700">
            <a:solidFill>
              <a:srgbClr val="E8842B"/>
            </a:solidFill>
            <a:prstDash val="solid"/>
          </a:ln>
        </p:spPr>
        <p:txBody>
          <a:bodyPr/>
          <a:lstStyle/>
          <a:p>
            <a:endParaRPr lang="ko-KR" altLang="en-US"/>
          </a:p>
        </p:txBody>
      </p:sp>
      <p:pic>
        <p:nvPicPr>
          <p:cNvPr id="6"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832104" y="1600200"/>
            <a:ext cx="219456" cy="219456"/>
          </a:xfrm>
          <a:prstGeom prst="rect">
            <a:avLst/>
          </a:prstGeom>
        </p:spPr>
      </p:pic>
      <p:sp>
        <p:nvSpPr>
          <p:cNvPr id="7" name="Text 4"/>
          <p:cNvSpPr/>
          <p:nvPr/>
        </p:nvSpPr>
        <p:spPr>
          <a:xfrm>
            <a:off x="1298448" y="1481328"/>
            <a:ext cx="3063240" cy="457200"/>
          </a:xfrm>
          <a:prstGeom prst="rect">
            <a:avLst/>
          </a:prstGeom>
          <a:noFill/>
          <a:ln/>
        </p:spPr>
        <p:txBody>
          <a:bodyPr wrap="square" lIns="0" tIns="0" rIns="0" bIns="0" rtlCol="0" anchor="ctr"/>
          <a:lstStyle/>
          <a:p>
            <a:pPr marL="0" indent="0">
              <a:buNone/>
            </a:pPr>
            <a:r>
              <a:rPr lang="en-US" sz="1200" b="1" dirty="0">
                <a:solidFill>
                  <a:srgbClr val="1F2933"/>
                </a:solidFill>
                <a:latin typeface="맑은 고딕" pitchFamily="34" charset="0"/>
                <a:ea typeface="맑은 고딕" pitchFamily="34" charset="-122"/>
                <a:cs typeface="맑은 고딕" pitchFamily="34" charset="-120"/>
              </a:rPr>
              <a:t>이름은 흔들리고, 식별자는 흔들리지 않는다</a:t>
            </a:r>
            <a:endParaRPr lang="en-US" sz="1200" dirty="0"/>
          </a:p>
        </p:txBody>
      </p:sp>
      <p:sp>
        <p:nvSpPr>
          <p:cNvPr id="8" name="Text 5"/>
          <p:cNvSpPr/>
          <p:nvPr/>
        </p:nvSpPr>
        <p:spPr>
          <a:xfrm>
            <a:off x="713232" y="2011680"/>
            <a:ext cx="3611880" cy="548640"/>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카페 “해지개” 하나가 이름 표기 차이로 검색을 계속 헛돌게 했다. 이름 문자열 조인을 은퇴시키고 카카오 place_id를 정본 키로 세웠다.</a:t>
            </a:r>
            <a:endParaRPr lang="en-US" sz="950" dirty="0"/>
          </a:p>
        </p:txBody>
      </p:sp>
      <p:sp>
        <p:nvSpPr>
          <p:cNvPr id="9" name="Text 6"/>
          <p:cNvSpPr/>
          <p:nvPr/>
        </p:nvSpPr>
        <p:spPr>
          <a:xfrm>
            <a:off x="713232" y="2578608"/>
            <a:ext cx="1143000" cy="274320"/>
          </a:xfrm>
          <a:prstGeom prst="rect">
            <a:avLst/>
          </a:prstGeom>
          <a:noFill/>
          <a:ln/>
        </p:spPr>
        <p:txBody>
          <a:bodyPr wrap="square" lIns="0" tIns="0" rIns="0" bIns="0" rtlCol="0" anchor="ctr"/>
          <a:lstStyle/>
          <a:p>
            <a:pPr marL="0" indent="0">
              <a:buNone/>
            </a:pPr>
            <a:r>
              <a:rPr lang="en-US" sz="1400" b="1" dirty="0">
                <a:solidFill>
                  <a:srgbClr val="168A7E"/>
                </a:solidFill>
                <a:latin typeface="맑은 고딕" pitchFamily="34" charset="0"/>
                <a:ea typeface="맑은 고딕" pitchFamily="34" charset="-122"/>
                <a:cs typeface="맑은 고딕" pitchFamily="34" charset="-120"/>
              </a:rPr>
              <a:t>787곳</a:t>
            </a:r>
            <a:endParaRPr lang="en-US" sz="1400" dirty="0"/>
          </a:p>
        </p:txBody>
      </p:sp>
      <p:sp>
        <p:nvSpPr>
          <p:cNvPr id="10" name="Text 7"/>
          <p:cNvSpPr/>
          <p:nvPr/>
        </p:nvSpPr>
        <p:spPr>
          <a:xfrm>
            <a:off x="713232" y="2825496"/>
            <a:ext cx="118872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place_id 확보 (78%)</a:t>
            </a:r>
            <a:endParaRPr lang="en-US" sz="800" dirty="0"/>
          </a:p>
        </p:txBody>
      </p:sp>
      <p:sp>
        <p:nvSpPr>
          <p:cNvPr id="11" name="Text 8"/>
          <p:cNvSpPr/>
          <p:nvPr/>
        </p:nvSpPr>
        <p:spPr>
          <a:xfrm>
            <a:off x="1938528" y="2578608"/>
            <a:ext cx="1143000" cy="274320"/>
          </a:xfrm>
          <a:prstGeom prst="rect">
            <a:avLst/>
          </a:prstGeom>
          <a:noFill/>
          <a:ln/>
        </p:spPr>
        <p:txBody>
          <a:bodyPr wrap="square" lIns="0" tIns="0" rIns="0" bIns="0" rtlCol="0" anchor="ctr"/>
          <a:lstStyle/>
          <a:p>
            <a:pPr marL="0" indent="0">
              <a:buNone/>
            </a:pPr>
            <a:r>
              <a:rPr lang="en-US" sz="1400" b="1" dirty="0">
                <a:solidFill>
                  <a:srgbClr val="168A7E"/>
                </a:solidFill>
                <a:latin typeface="맑은 고딕" pitchFamily="34" charset="0"/>
                <a:ea typeface="맑은 고딕" pitchFamily="34" charset="-122"/>
                <a:cs typeface="맑은 고딕" pitchFamily="34" charset="-120"/>
              </a:rPr>
              <a:t>122그룹</a:t>
            </a:r>
            <a:endParaRPr lang="en-US" sz="1400" dirty="0"/>
          </a:p>
        </p:txBody>
      </p:sp>
      <p:sp>
        <p:nvSpPr>
          <p:cNvPr id="12" name="Text 9"/>
          <p:cNvSpPr/>
          <p:nvPr/>
        </p:nvSpPr>
        <p:spPr>
          <a:xfrm>
            <a:off x="1938528" y="2825496"/>
            <a:ext cx="118872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중복 자동 검출</a:t>
            </a:r>
            <a:endParaRPr lang="en-US" sz="800" dirty="0"/>
          </a:p>
        </p:txBody>
      </p:sp>
      <p:sp>
        <p:nvSpPr>
          <p:cNvPr id="13" name="Text 10"/>
          <p:cNvSpPr/>
          <p:nvPr/>
        </p:nvSpPr>
        <p:spPr>
          <a:xfrm>
            <a:off x="3163824" y="2578608"/>
            <a:ext cx="1143000" cy="274320"/>
          </a:xfrm>
          <a:prstGeom prst="rect">
            <a:avLst/>
          </a:prstGeom>
          <a:noFill/>
          <a:ln/>
        </p:spPr>
        <p:txBody>
          <a:bodyPr wrap="square" lIns="0" tIns="0" rIns="0" bIns="0" rtlCol="0" anchor="ctr"/>
          <a:lstStyle/>
          <a:p>
            <a:pPr marL="0" indent="0">
              <a:buNone/>
            </a:pPr>
            <a:r>
              <a:rPr lang="en-US" sz="1400" b="1" dirty="0">
                <a:solidFill>
                  <a:srgbClr val="168A7E"/>
                </a:solidFill>
                <a:latin typeface="맑은 고딕" pitchFamily="34" charset="0"/>
                <a:ea typeface="맑은 고딕" pitchFamily="34" charset="-122"/>
                <a:cs typeface="맑은 고딕" pitchFamily="34" charset="-120"/>
              </a:rPr>
              <a:t>57곳</a:t>
            </a:r>
            <a:endParaRPr lang="en-US" sz="1400" dirty="0"/>
          </a:p>
        </p:txBody>
      </p:sp>
      <p:sp>
        <p:nvSpPr>
          <p:cNvPr id="14" name="Text 11"/>
          <p:cNvSpPr/>
          <p:nvPr/>
        </p:nvSpPr>
        <p:spPr>
          <a:xfrm>
            <a:off x="3163824" y="2825496"/>
            <a:ext cx="118872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눈 검수 큐</a:t>
            </a:r>
            <a:endParaRPr lang="en-US" sz="800" dirty="0"/>
          </a:p>
        </p:txBody>
      </p:sp>
      <p:sp>
        <p:nvSpPr>
          <p:cNvPr id="15" name="Shape 12"/>
          <p:cNvSpPr/>
          <p:nvPr/>
        </p:nvSpPr>
        <p:spPr>
          <a:xfrm>
            <a:off x="502920" y="3200400"/>
            <a:ext cx="3977640" cy="1325880"/>
          </a:xfrm>
          <a:prstGeom prst="roundRect">
            <a:avLst>
              <a:gd name="adj" fmla="val 8276"/>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6" name="Shape 13"/>
          <p:cNvSpPr/>
          <p:nvPr/>
        </p:nvSpPr>
        <p:spPr>
          <a:xfrm>
            <a:off x="713232" y="3364992"/>
            <a:ext cx="402336" cy="402336"/>
          </a:xfrm>
          <a:prstGeom prst="ellipse">
            <a:avLst/>
          </a:prstGeom>
          <a:solidFill>
            <a:srgbClr val="168A7E"/>
          </a:solidFill>
          <a:ln w="12700">
            <a:solidFill>
              <a:srgbClr val="168A7E"/>
            </a:solidFill>
            <a:prstDash val="solid"/>
          </a:ln>
        </p:spPr>
        <p:txBody>
          <a:bodyPr/>
          <a:lstStyle/>
          <a:p>
            <a:endParaRPr lang="ko-KR" altLang="en-US"/>
          </a:p>
        </p:txBody>
      </p:sp>
      <p:pic>
        <p:nvPicPr>
          <p:cNvPr id="17"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17839" y="3469599"/>
            <a:ext cx="193121" cy="193121"/>
          </a:xfrm>
          <a:prstGeom prst="rect">
            <a:avLst/>
          </a:prstGeom>
        </p:spPr>
      </p:pic>
      <p:sp>
        <p:nvSpPr>
          <p:cNvPr id="18" name="Text 14"/>
          <p:cNvSpPr/>
          <p:nvPr/>
        </p:nvSpPr>
        <p:spPr>
          <a:xfrm>
            <a:off x="1225296" y="3364992"/>
            <a:ext cx="3108960" cy="402336"/>
          </a:xfrm>
          <a:prstGeom prst="rect">
            <a:avLst/>
          </a:prstGeom>
          <a:noFill/>
          <a:ln/>
        </p:spPr>
        <p:txBody>
          <a:bodyPr wrap="square" lIns="0" tIns="0" rIns="0" bIns="0" rtlCol="0" anchor="ctr"/>
          <a:lstStyle/>
          <a:p>
            <a:pPr marL="0" indent="0">
              <a:buNone/>
            </a:pPr>
            <a:r>
              <a:rPr lang="en-US" sz="1150" b="1" dirty="0">
                <a:solidFill>
                  <a:srgbClr val="1F2933"/>
                </a:solidFill>
                <a:latin typeface="맑은 고딕" pitchFamily="34" charset="0"/>
                <a:ea typeface="맑은 고딕" pitchFamily="34" charset="-122"/>
                <a:cs typeface="맑은 고딕" pitchFamily="34" charset="-120"/>
              </a:rPr>
              <a:t>지역 정본화 — 추측을 주소로 교체</a:t>
            </a:r>
            <a:endParaRPr lang="en-US" sz="1150" dirty="0"/>
          </a:p>
        </p:txBody>
      </p:sp>
      <p:sp>
        <p:nvSpPr>
          <p:cNvPr id="19" name="Text 15"/>
          <p:cNvSpPr/>
          <p:nvPr/>
        </p:nvSpPr>
        <p:spPr>
          <a:xfrm>
            <a:off x="713232" y="3840480"/>
            <a:ext cx="3611880" cy="566928"/>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LLM이 추측한 지역 라벨의 오염율 24.6% (넷에 하나가 오답). 전부 폐기하고 주소에서 코드로 유도하는 2단 체계(권역/세부)로 교체 — 880곳 교정.</a:t>
            </a:r>
            <a:endParaRPr lang="en-US" sz="950" dirty="0"/>
          </a:p>
        </p:txBody>
      </p:sp>
      <p:sp>
        <p:nvSpPr>
          <p:cNvPr id="20" name="Shape 16"/>
          <p:cNvSpPr/>
          <p:nvPr/>
        </p:nvSpPr>
        <p:spPr>
          <a:xfrm>
            <a:off x="4663440" y="1298448"/>
            <a:ext cx="3977640" cy="3227832"/>
          </a:xfrm>
          <a:prstGeom prst="roundRect">
            <a:avLst>
              <a:gd name="adj" fmla="val 3399"/>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1" name="Shape 17"/>
          <p:cNvSpPr/>
          <p:nvPr/>
        </p:nvSpPr>
        <p:spPr>
          <a:xfrm>
            <a:off x="4864608" y="1481328"/>
            <a:ext cx="457200" cy="457200"/>
          </a:xfrm>
          <a:prstGeom prst="ellipse">
            <a:avLst/>
          </a:prstGeom>
          <a:solidFill>
            <a:srgbClr val="168A7E"/>
          </a:solidFill>
          <a:ln w="12700">
            <a:solidFill>
              <a:srgbClr val="168A7E"/>
            </a:solidFill>
            <a:prstDash val="solid"/>
          </a:ln>
        </p:spPr>
        <p:txBody>
          <a:bodyPr/>
          <a:lstStyle/>
          <a:p>
            <a:endParaRPr lang="ko-KR" altLang="en-US"/>
          </a:p>
        </p:txBody>
      </p:sp>
      <p:pic>
        <p:nvPicPr>
          <p:cNvPr id="22" name="Image 2" descr="preencoded.png"/>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4983480" y="1600200"/>
            <a:ext cx="219456" cy="219456"/>
          </a:xfrm>
          <a:prstGeom prst="rect">
            <a:avLst/>
          </a:prstGeom>
        </p:spPr>
      </p:pic>
      <p:sp>
        <p:nvSpPr>
          <p:cNvPr id="23" name="Text 18"/>
          <p:cNvSpPr/>
          <p:nvPr/>
        </p:nvSpPr>
        <p:spPr>
          <a:xfrm>
            <a:off x="5449824" y="1481328"/>
            <a:ext cx="3017520" cy="457200"/>
          </a:xfrm>
          <a:prstGeom prst="rect">
            <a:avLst/>
          </a:prstGeom>
          <a:noFill/>
          <a:ln/>
        </p:spPr>
        <p:txBody>
          <a:bodyPr wrap="square" lIns="0" tIns="0" rIns="0" bIns="0" rtlCol="0" anchor="ctr"/>
          <a:lstStyle/>
          <a:p>
            <a:pPr marL="0" indent="0">
              <a:buNone/>
            </a:pPr>
            <a:r>
              <a:rPr lang="en-US" sz="1200" b="1" dirty="0">
                <a:solidFill>
                  <a:srgbClr val="1F2933"/>
                </a:solidFill>
                <a:latin typeface="맑은 고딕" pitchFamily="34" charset="0"/>
                <a:ea typeface="맑은 고딕" pitchFamily="34" charset="-122"/>
                <a:cs typeface="맑은 고딕" pitchFamily="34" charset="-120"/>
              </a:rPr>
              <a:t>/evidence — 지어낸 인용이 불가능한 이유</a:t>
            </a:r>
            <a:endParaRPr lang="en-US" sz="1200" dirty="0"/>
          </a:p>
        </p:txBody>
      </p:sp>
      <p:sp>
        <p:nvSpPr>
          <p:cNvPr id="24" name="Shape 19"/>
          <p:cNvSpPr/>
          <p:nvPr/>
        </p:nvSpPr>
        <p:spPr>
          <a:xfrm>
            <a:off x="4892040" y="2103120"/>
            <a:ext cx="274320" cy="274320"/>
          </a:xfrm>
          <a:prstGeom prst="ellipse">
            <a:avLst/>
          </a:prstGeom>
          <a:solidFill>
            <a:srgbClr val="E7F3F1"/>
          </a:solidFill>
          <a:ln w="12700">
            <a:solidFill>
              <a:srgbClr val="E7F3F1"/>
            </a:solidFill>
            <a:prstDash val="solid"/>
          </a:ln>
        </p:spPr>
        <p:txBody>
          <a:bodyPr/>
          <a:lstStyle/>
          <a:p>
            <a:endParaRPr lang="ko-KR" altLang="en-US"/>
          </a:p>
        </p:txBody>
      </p:sp>
      <p:sp>
        <p:nvSpPr>
          <p:cNvPr id="25" name="Text 20"/>
          <p:cNvSpPr/>
          <p:nvPr/>
        </p:nvSpPr>
        <p:spPr>
          <a:xfrm>
            <a:off x="4892040" y="2103120"/>
            <a:ext cx="274320" cy="274320"/>
          </a:xfrm>
          <a:prstGeom prst="rect">
            <a:avLst/>
          </a:prstGeom>
          <a:noFill/>
          <a:ln/>
        </p:spPr>
        <p:txBody>
          <a:bodyPr wrap="square" lIns="0" tIns="0" rIns="0" bIns="0" rtlCol="0" anchor="ctr"/>
          <a:lstStyle/>
          <a:p>
            <a:pPr marL="0" indent="0" algn="ctr">
              <a:buNone/>
            </a:pPr>
            <a:r>
              <a:rPr lang="en-US" sz="1000" b="1" dirty="0">
                <a:solidFill>
                  <a:srgbClr val="0F5257"/>
                </a:solidFill>
                <a:latin typeface="맑은 고딕" pitchFamily="34" charset="0"/>
                <a:ea typeface="맑은 고딕" pitchFamily="34" charset="-122"/>
                <a:cs typeface="맑은 고딕" pitchFamily="34" charset="-120"/>
              </a:rPr>
              <a:t>1</a:t>
            </a:r>
            <a:endParaRPr lang="en-US" sz="1000" dirty="0"/>
          </a:p>
        </p:txBody>
      </p:sp>
      <p:sp>
        <p:nvSpPr>
          <p:cNvPr id="26" name="Text 21"/>
          <p:cNvSpPr/>
          <p:nvPr/>
        </p:nvSpPr>
        <p:spPr>
          <a:xfrm>
            <a:off x="5285232" y="2066544"/>
            <a:ext cx="3154680" cy="347472"/>
          </a:xfrm>
          <a:prstGeom prst="rect">
            <a:avLst/>
          </a:prstGeom>
          <a:noFill/>
          <a:ln/>
        </p:spPr>
        <p:txBody>
          <a:bodyPr wrap="square" lIns="0" tIns="0" rIns="0" bIns="0" rtlCol="0" anchor="ctr"/>
          <a:lstStyle/>
          <a:p>
            <a:pPr marL="0" indent="0">
              <a:buNone/>
            </a:pPr>
            <a:r>
              <a:rPr lang="en-US" sz="950" dirty="0">
                <a:solidFill>
                  <a:srgbClr val="1F2933"/>
                </a:solidFill>
                <a:latin typeface="맑은 고딕" pitchFamily="34" charset="0"/>
                <a:ea typeface="맑은 고딕" pitchFamily="34" charset="-122"/>
                <a:cs typeface="맑은 고딕" pitchFamily="34" charset="-120"/>
              </a:rPr>
              <a:t>LLM이 원문에서 “좋았던 점 / 아쉬운 점”을 구간으로 잘라낸다</a:t>
            </a:r>
            <a:endParaRPr lang="en-US" sz="950" dirty="0"/>
          </a:p>
        </p:txBody>
      </p:sp>
      <p:sp>
        <p:nvSpPr>
          <p:cNvPr id="27" name="Shape 22"/>
          <p:cNvSpPr/>
          <p:nvPr/>
        </p:nvSpPr>
        <p:spPr>
          <a:xfrm>
            <a:off x="4892040" y="2587752"/>
            <a:ext cx="274320" cy="274320"/>
          </a:xfrm>
          <a:prstGeom prst="ellipse">
            <a:avLst/>
          </a:prstGeom>
          <a:solidFill>
            <a:srgbClr val="E7F3F1"/>
          </a:solidFill>
          <a:ln w="12700">
            <a:solidFill>
              <a:srgbClr val="E7F3F1"/>
            </a:solidFill>
            <a:prstDash val="solid"/>
          </a:ln>
        </p:spPr>
        <p:txBody>
          <a:bodyPr/>
          <a:lstStyle/>
          <a:p>
            <a:endParaRPr lang="ko-KR" altLang="en-US"/>
          </a:p>
        </p:txBody>
      </p:sp>
      <p:sp>
        <p:nvSpPr>
          <p:cNvPr id="28" name="Text 23"/>
          <p:cNvSpPr/>
          <p:nvPr/>
        </p:nvSpPr>
        <p:spPr>
          <a:xfrm>
            <a:off x="4892040" y="2587752"/>
            <a:ext cx="274320" cy="274320"/>
          </a:xfrm>
          <a:prstGeom prst="rect">
            <a:avLst/>
          </a:prstGeom>
          <a:noFill/>
          <a:ln/>
        </p:spPr>
        <p:txBody>
          <a:bodyPr wrap="square" lIns="0" tIns="0" rIns="0" bIns="0" rtlCol="0" anchor="ctr"/>
          <a:lstStyle/>
          <a:p>
            <a:pPr marL="0" indent="0" algn="ctr">
              <a:buNone/>
            </a:pPr>
            <a:r>
              <a:rPr lang="en-US" sz="1000" b="1" dirty="0">
                <a:solidFill>
                  <a:srgbClr val="0F5257"/>
                </a:solidFill>
                <a:latin typeface="맑은 고딕" pitchFamily="34" charset="0"/>
                <a:ea typeface="맑은 고딕" pitchFamily="34" charset="-122"/>
                <a:cs typeface="맑은 고딕" pitchFamily="34" charset="-120"/>
              </a:rPr>
              <a:t>2</a:t>
            </a:r>
            <a:endParaRPr lang="en-US" sz="1000" dirty="0"/>
          </a:p>
        </p:txBody>
      </p:sp>
      <p:sp>
        <p:nvSpPr>
          <p:cNvPr id="29" name="Text 24"/>
          <p:cNvSpPr/>
          <p:nvPr/>
        </p:nvSpPr>
        <p:spPr>
          <a:xfrm>
            <a:off x="5285232" y="2551176"/>
            <a:ext cx="3154680" cy="347472"/>
          </a:xfrm>
          <a:prstGeom prst="rect">
            <a:avLst/>
          </a:prstGeom>
          <a:noFill/>
          <a:ln/>
        </p:spPr>
        <p:txBody>
          <a:bodyPr wrap="square" lIns="0" tIns="0" rIns="0" bIns="0" rtlCol="0" anchor="ctr"/>
          <a:lstStyle/>
          <a:p>
            <a:pPr marL="0" indent="0">
              <a:buNone/>
            </a:pPr>
            <a:r>
              <a:rPr lang="en-US" sz="950" dirty="0">
                <a:solidFill>
                  <a:srgbClr val="1F2933"/>
                </a:solidFill>
                <a:latin typeface="맑은 고딕" pitchFamily="34" charset="0"/>
                <a:ea typeface="맑은 고딕" pitchFamily="34" charset="-122"/>
                <a:cs typeface="맑은 고딕" pitchFamily="34" charset="-120"/>
              </a:rPr>
              <a:t>코드가 잘린 문장을 원문과 부분문자열 대조한다</a:t>
            </a:r>
            <a:endParaRPr lang="en-US" sz="950" dirty="0"/>
          </a:p>
        </p:txBody>
      </p:sp>
      <p:sp>
        <p:nvSpPr>
          <p:cNvPr id="30" name="Shape 25"/>
          <p:cNvSpPr/>
          <p:nvPr/>
        </p:nvSpPr>
        <p:spPr>
          <a:xfrm>
            <a:off x="4892040" y="3072384"/>
            <a:ext cx="274320" cy="274320"/>
          </a:xfrm>
          <a:prstGeom prst="ellipse">
            <a:avLst/>
          </a:prstGeom>
          <a:solidFill>
            <a:srgbClr val="E7F3F1"/>
          </a:solidFill>
          <a:ln w="12700">
            <a:solidFill>
              <a:srgbClr val="E7F3F1"/>
            </a:solidFill>
            <a:prstDash val="solid"/>
          </a:ln>
        </p:spPr>
        <p:txBody>
          <a:bodyPr/>
          <a:lstStyle/>
          <a:p>
            <a:endParaRPr lang="ko-KR" altLang="en-US"/>
          </a:p>
        </p:txBody>
      </p:sp>
      <p:sp>
        <p:nvSpPr>
          <p:cNvPr id="31" name="Text 26"/>
          <p:cNvSpPr/>
          <p:nvPr/>
        </p:nvSpPr>
        <p:spPr>
          <a:xfrm>
            <a:off x="4892040" y="3072384"/>
            <a:ext cx="274320" cy="274320"/>
          </a:xfrm>
          <a:prstGeom prst="rect">
            <a:avLst/>
          </a:prstGeom>
          <a:noFill/>
          <a:ln/>
        </p:spPr>
        <p:txBody>
          <a:bodyPr wrap="square" lIns="0" tIns="0" rIns="0" bIns="0" rtlCol="0" anchor="ctr"/>
          <a:lstStyle/>
          <a:p>
            <a:pPr marL="0" indent="0" algn="ctr">
              <a:buNone/>
            </a:pPr>
            <a:r>
              <a:rPr lang="en-US" sz="1000" b="1" dirty="0">
                <a:solidFill>
                  <a:srgbClr val="0F5257"/>
                </a:solidFill>
                <a:latin typeface="맑은 고딕" pitchFamily="34" charset="0"/>
                <a:ea typeface="맑은 고딕" pitchFamily="34" charset="-122"/>
                <a:cs typeface="맑은 고딕" pitchFamily="34" charset="-120"/>
              </a:rPr>
              <a:t>3</a:t>
            </a:r>
            <a:endParaRPr lang="en-US" sz="1000" dirty="0"/>
          </a:p>
        </p:txBody>
      </p:sp>
      <p:sp>
        <p:nvSpPr>
          <p:cNvPr id="32" name="Text 27"/>
          <p:cNvSpPr/>
          <p:nvPr/>
        </p:nvSpPr>
        <p:spPr>
          <a:xfrm>
            <a:off x="5285232" y="3035808"/>
            <a:ext cx="3154680" cy="347472"/>
          </a:xfrm>
          <a:prstGeom prst="rect">
            <a:avLst/>
          </a:prstGeom>
          <a:noFill/>
          <a:ln/>
        </p:spPr>
        <p:txBody>
          <a:bodyPr wrap="square" lIns="0" tIns="0" rIns="0" bIns="0" rtlCol="0" anchor="ctr"/>
          <a:lstStyle/>
          <a:p>
            <a:pPr marL="0" indent="0">
              <a:buNone/>
            </a:pPr>
            <a:r>
              <a:rPr lang="en-US" sz="950" dirty="0">
                <a:solidFill>
                  <a:srgbClr val="1F2933"/>
                </a:solidFill>
                <a:latin typeface="맑은 고딕" pitchFamily="34" charset="0"/>
                <a:ea typeface="맑은 고딕" pitchFamily="34" charset="-122"/>
                <a:cs typeface="맑은 고딕" pitchFamily="34" charset="-120"/>
              </a:rPr>
              <a:t>한 글자라도 다르면 폐기. 의역·요약은 통과 못 한다</a:t>
            </a:r>
            <a:endParaRPr lang="en-US" sz="950" dirty="0"/>
          </a:p>
        </p:txBody>
      </p:sp>
      <p:sp>
        <p:nvSpPr>
          <p:cNvPr id="33" name="Shape 28"/>
          <p:cNvSpPr/>
          <p:nvPr/>
        </p:nvSpPr>
        <p:spPr>
          <a:xfrm>
            <a:off x="4892040" y="3557016"/>
            <a:ext cx="274320" cy="274320"/>
          </a:xfrm>
          <a:prstGeom prst="ellipse">
            <a:avLst/>
          </a:prstGeom>
          <a:solidFill>
            <a:srgbClr val="E7F3F1"/>
          </a:solidFill>
          <a:ln w="12700">
            <a:solidFill>
              <a:srgbClr val="E7F3F1"/>
            </a:solidFill>
            <a:prstDash val="solid"/>
          </a:ln>
        </p:spPr>
        <p:txBody>
          <a:bodyPr/>
          <a:lstStyle/>
          <a:p>
            <a:endParaRPr lang="ko-KR" altLang="en-US"/>
          </a:p>
        </p:txBody>
      </p:sp>
      <p:sp>
        <p:nvSpPr>
          <p:cNvPr id="34" name="Text 29"/>
          <p:cNvSpPr/>
          <p:nvPr/>
        </p:nvSpPr>
        <p:spPr>
          <a:xfrm>
            <a:off x="4892040" y="3557016"/>
            <a:ext cx="274320" cy="274320"/>
          </a:xfrm>
          <a:prstGeom prst="rect">
            <a:avLst/>
          </a:prstGeom>
          <a:noFill/>
          <a:ln/>
        </p:spPr>
        <p:txBody>
          <a:bodyPr wrap="square" lIns="0" tIns="0" rIns="0" bIns="0" rtlCol="0" anchor="ctr"/>
          <a:lstStyle/>
          <a:p>
            <a:pPr marL="0" indent="0" algn="ctr">
              <a:buNone/>
            </a:pPr>
            <a:r>
              <a:rPr lang="en-US" sz="1000" b="1" dirty="0">
                <a:solidFill>
                  <a:srgbClr val="0F5257"/>
                </a:solidFill>
                <a:latin typeface="맑은 고딕" pitchFamily="34" charset="0"/>
                <a:ea typeface="맑은 고딕" pitchFamily="34" charset="-122"/>
                <a:cs typeface="맑은 고딕" pitchFamily="34" charset="-120"/>
              </a:rPr>
              <a:t>4</a:t>
            </a:r>
            <a:endParaRPr lang="en-US" sz="1000" dirty="0"/>
          </a:p>
        </p:txBody>
      </p:sp>
      <p:sp>
        <p:nvSpPr>
          <p:cNvPr id="35" name="Text 30"/>
          <p:cNvSpPr/>
          <p:nvPr/>
        </p:nvSpPr>
        <p:spPr>
          <a:xfrm>
            <a:off x="5285232" y="3520440"/>
            <a:ext cx="3154680" cy="347472"/>
          </a:xfrm>
          <a:prstGeom prst="rect">
            <a:avLst/>
          </a:prstGeom>
          <a:noFill/>
          <a:ln/>
        </p:spPr>
        <p:txBody>
          <a:bodyPr wrap="square" lIns="0" tIns="0" rIns="0" bIns="0" rtlCol="0" anchor="ctr"/>
          <a:lstStyle/>
          <a:p>
            <a:pPr marL="0" indent="0">
              <a:buNone/>
            </a:pPr>
            <a:r>
              <a:rPr lang="en-US" sz="950" dirty="0">
                <a:solidFill>
                  <a:srgbClr val="1F2933"/>
                </a:solidFill>
                <a:latin typeface="맑은 고딕" pitchFamily="34" charset="0"/>
                <a:ea typeface="맑은 고딕" pitchFamily="34" charset="-122"/>
                <a:cs typeface="맑은 고딕" pitchFamily="34" charset="-120"/>
              </a:rPr>
              <a:t>카카오 별점이 LLM 극성 판정과 충돌하면 별점이 이긴다</a:t>
            </a:r>
            <a:endParaRPr lang="en-US" sz="950" dirty="0"/>
          </a:p>
        </p:txBody>
      </p:sp>
      <p:sp>
        <p:nvSpPr>
          <p:cNvPr id="36" name="Shape 31"/>
          <p:cNvSpPr/>
          <p:nvPr/>
        </p:nvSpPr>
        <p:spPr>
          <a:xfrm>
            <a:off x="4864608" y="4041648"/>
            <a:ext cx="3566160" cy="365760"/>
          </a:xfrm>
          <a:prstGeom prst="roundRect">
            <a:avLst>
              <a:gd name="adj" fmla="val 25000"/>
            </a:avLst>
          </a:prstGeom>
          <a:solidFill>
            <a:srgbClr val="E7F3F1"/>
          </a:solidFill>
          <a:ln w="12700">
            <a:solidFill>
              <a:srgbClr val="333333"/>
            </a:solidFill>
            <a:prstDash val="solid"/>
          </a:ln>
        </p:spPr>
        <p:txBody>
          <a:bodyPr/>
          <a:lstStyle/>
          <a:p>
            <a:endParaRPr lang="ko-KR" altLang="en-US"/>
          </a:p>
        </p:txBody>
      </p:sp>
      <p:sp>
        <p:nvSpPr>
          <p:cNvPr id="37" name="Text 32"/>
          <p:cNvSpPr/>
          <p:nvPr/>
        </p:nvSpPr>
        <p:spPr>
          <a:xfrm>
            <a:off x="4864608" y="4041648"/>
            <a:ext cx="3566160" cy="365760"/>
          </a:xfrm>
          <a:prstGeom prst="rect">
            <a:avLst/>
          </a:prstGeom>
          <a:noFill/>
          <a:ln/>
        </p:spPr>
        <p:txBody>
          <a:bodyPr wrap="square" lIns="0" tIns="0" rIns="0" bIns="0" rtlCol="0" anchor="ctr"/>
          <a:lstStyle/>
          <a:p>
            <a:pPr marL="0" indent="0" algn="ctr">
              <a:buNone/>
            </a:pPr>
            <a:r>
              <a:rPr lang="en-US" sz="1050" b="1" dirty="0">
                <a:solidFill>
                  <a:srgbClr val="0F5257"/>
                </a:solidFill>
                <a:latin typeface="맑은 고딕" pitchFamily="34" charset="0"/>
                <a:ea typeface="맑은 고딕" pitchFamily="34" charset="-122"/>
                <a:cs typeface="맑은 고딕" pitchFamily="34" charset="-120"/>
              </a:rPr>
              <a:t>파일럿 인용 75건  ·  원문 검증 실패 0건</a:t>
            </a:r>
            <a:endParaRPr lang="en-US" sz="1050" dirty="0"/>
          </a:p>
        </p:txBody>
      </p:sp>
      <p:sp>
        <p:nvSpPr>
          <p:cNvPr id="38" name="Text 33"/>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9" name="Text 34"/>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10</a:t>
            </a:r>
            <a:endParaRPr lang="en-US" sz="1100" dirty="0"/>
          </a:p>
        </p:txBody>
      </p:sp>
      <p:sp>
        <p:nvSpPr>
          <p:cNvPr id="40" name="직사각형 39">
            <a:extLst>
              <a:ext uri="{FF2B5EF4-FFF2-40B4-BE49-F238E27FC236}">
                <a16:creationId xmlns:a16="http://schemas.microsoft.com/office/drawing/2014/main" id="{78E6E098-F95C-66F0-B373-B41A8FD17BB2}"/>
              </a:ext>
            </a:extLst>
          </p:cNvPr>
          <p:cNvSpPr/>
          <p:nvPr/>
        </p:nvSpPr>
        <p:spPr>
          <a:xfrm>
            <a:off x="3594969" y="206679"/>
            <a:ext cx="4753627" cy="972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err="1"/>
              <a:t>해지개</a:t>
            </a:r>
            <a:r>
              <a:rPr lang="ko-KR" altLang="en-US" dirty="0"/>
              <a:t>　사건의　무엇인지　이해　안됨</a:t>
            </a:r>
            <a:endParaRPr lang="en-US" altLang="ko-KR" dirty="0"/>
          </a:p>
          <a:p>
            <a:pPr algn="ctr"/>
            <a:r>
              <a:rPr lang="ko-KR" altLang="en-US" dirty="0"/>
              <a:t>이　슬라이드　내용　쉽게　수정　요망．．</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06  EVALUATION ①</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3단 평가 체계 — 무엇을 어떻게 쟀는가</a:t>
            </a:r>
            <a:endParaRPr lang="en-US" sz="2700" dirty="0"/>
          </a:p>
        </p:txBody>
      </p:sp>
      <p:sp>
        <p:nvSpPr>
          <p:cNvPr id="4" name="Shape 2"/>
          <p:cNvSpPr/>
          <p:nvPr/>
        </p:nvSpPr>
        <p:spPr>
          <a:xfrm>
            <a:off x="502920" y="1325880"/>
            <a:ext cx="2560320" cy="1783080"/>
          </a:xfrm>
          <a:prstGeom prst="roundRect">
            <a:avLst>
              <a:gd name="adj" fmla="val 6154"/>
            </a:avLst>
          </a:prstGeom>
          <a:solidFill>
            <a:srgbClr val="FBEEE0"/>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Text 3"/>
          <p:cNvSpPr/>
          <p:nvPr/>
        </p:nvSpPr>
        <p:spPr>
          <a:xfrm>
            <a:off x="731520" y="1463040"/>
            <a:ext cx="1280160" cy="365760"/>
          </a:xfrm>
          <a:prstGeom prst="rect">
            <a:avLst/>
          </a:prstGeom>
          <a:noFill/>
          <a:ln/>
        </p:spPr>
        <p:txBody>
          <a:bodyPr wrap="square" lIns="0" tIns="0" rIns="0" bIns="0" rtlCol="0" anchor="ctr"/>
          <a:lstStyle/>
          <a:p>
            <a:pPr marL="0" indent="0">
              <a:buNone/>
            </a:pPr>
            <a:r>
              <a:rPr lang="en-US" sz="1600" b="1" dirty="0">
                <a:solidFill>
                  <a:srgbClr val="8A4E14"/>
                </a:solidFill>
                <a:latin typeface="맑은 고딕" pitchFamily="34" charset="0"/>
                <a:ea typeface="맑은 고딕" pitchFamily="34" charset="-122"/>
                <a:cs typeface="맑은 고딕" pitchFamily="34" charset="-120"/>
              </a:rPr>
              <a:t>Gold</a:t>
            </a:r>
            <a:endParaRPr lang="en-US" sz="1600" dirty="0"/>
          </a:p>
        </p:txBody>
      </p:sp>
      <p:sp>
        <p:nvSpPr>
          <p:cNvPr id="6" name="Text 4"/>
          <p:cNvSpPr/>
          <p:nvPr/>
        </p:nvSpPr>
        <p:spPr>
          <a:xfrm>
            <a:off x="1783080" y="1463040"/>
            <a:ext cx="1097280" cy="365760"/>
          </a:xfrm>
          <a:prstGeom prst="rect">
            <a:avLst/>
          </a:prstGeom>
          <a:noFill/>
          <a:ln/>
        </p:spPr>
        <p:txBody>
          <a:bodyPr wrap="square" lIns="0" tIns="0" rIns="0" bIns="0" rtlCol="0" anchor="ctr"/>
          <a:lstStyle/>
          <a:p>
            <a:pPr marL="0" indent="0" algn="r">
              <a:buNone/>
            </a:pPr>
            <a:r>
              <a:rPr lang="en-US" sz="1600" b="1" dirty="0">
                <a:solidFill>
                  <a:srgbClr val="E8842B"/>
                </a:solidFill>
                <a:latin typeface="맑은 고딕" pitchFamily="34" charset="0"/>
                <a:ea typeface="맑은 고딕" pitchFamily="34" charset="-122"/>
                <a:cs typeface="맑은 고딕" pitchFamily="34" charset="-120"/>
              </a:rPr>
              <a:t>50</a:t>
            </a:r>
            <a:endParaRPr lang="en-US" sz="1600" dirty="0"/>
          </a:p>
        </p:txBody>
      </p:sp>
      <p:sp>
        <p:nvSpPr>
          <p:cNvPr id="7" name="Text 5"/>
          <p:cNvSpPr/>
          <p:nvPr/>
        </p:nvSpPr>
        <p:spPr>
          <a:xfrm>
            <a:off x="731520" y="1901952"/>
            <a:ext cx="2148840" cy="1005840"/>
          </a:xfrm>
          <a:prstGeom prst="rect">
            <a:avLst/>
          </a:prstGeom>
          <a:noFill/>
          <a:ln/>
        </p:spPr>
        <p:txBody>
          <a:bodyPr wrap="square" lIns="0" tIns="0" rIns="0" bIns="0" rtlCol="0" anchor="ctr"/>
          <a:lstStyle/>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사람이 만든 실제 질문.</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대표 카페를 찾았는가 +</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질문 의도를 만족했는가</a:t>
            </a:r>
            <a:endParaRPr lang="en-US" sz="1000" dirty="0"/>
          </a:p>
        </p:txBody>
      </p:sp>
      <p:sp>
        <p:nvSpPr>
          <p:cNvPr id="8" name="Shape 6"/>
          <p:cNvSpPr/>
          <p:nvPr/>
        </p:nvSpPr>
        <p:spPr>
          <a:xfrm>
            <a:off x="3291840" y="1325880"/>
            <a:ext cx="2560320" cy="1783080"/>
          </a:xfrm>
          <a:prstGeom prst="roundRect">
            <a:avLst>
              <a:gd name="adj" fmla="val 6154"/>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9" name="Text 7"/>
          <p:cNvSpPr/>
          <p:nvPr/>
        </p:nvSpPr>
        <p:spPr>
          <a:xfrm>
            <a:off x="3520440" y="1463040"/>
            <a:ext cx="1280160" cy="365760"/>
          </a:xfrm>
          <a:prstGeom prst="rect">
            <a:avLst/>
          </a:prstGeom>
          <a:noFill/>
          <a:ln/>
        </p:spPr>
        <p:txBody>
          <a:bodyPr wrap="square" lIns="0" tIns="0" rIns="0" bIns="0" rtlCol="0" anchor="ctr"/>
          <a:lstStyle/>
          <a:p>
            <a:pPr marL="0" indent="0">
              <a:buNone/>
            </a:pPr>
            <a:r>
              <a:rPr lang="en-US" sz="1600" b="1" dirty="0">
                <a:solidFill>
                  <a:srgbClr val="0F5257"/>
                </a:solidFill>
                <a:latin typeface="맑은 고딕" pitchFamily="34" charset="0"/>
                <a:ea typeface="맑은 고딕" pitchFamily="34" charset="-122"/>
                <a:cs typeface="맑은 고딕" pitchFamily="34" charset="-120"/>
              </a:rPr>
              <a:t>Silver</a:t>
            </a:r>
            <a:endParaRPr lang="en-US" sz="1600" dirty="0"/>
          </a:p>
        </p:txBody>
      </p:sp>
      <p:sp>
        <p:nvSpPr>
          <p:cNvPr id="10" name="Text 8"/>
          <p:cNvSpPr/>
          <p:nvPr/>
        </p:nvSpPr>
        <p:spPr>
          <a:xfrm>
            <a:off x="4572000" y="1463040"/>
            <a:ext cx="1097280" cy="365760"/>
          </a:xfrm>
          <a:prstGeom prst="rect">
            <a:avLst/>
          </a:prstGeom>
          <a:noFill/>
          <a:ln/>
        </p:spPr>
        <p:txBody>
          <a:bodyPr wrap="square" lIns="0" tIns="0" rIns="0" bIns="0" rtlCol="0" anchor="ctr"/>
          <a:lstStyle/>
          <a:p>
            <a:pPr marL="0" indent="0" algn="r">
              <a:buNone/>
            </a:pPr>
            <a:r>
              <a:rPr lang="en-US" sz="1600" b="1" dirty="0">
                <a:solidFill>
                  <a:srgbClr val="168A7E"/>
                </a:solidFill>
                <a:latin typeface="맑은 고딕" pitchFamily="34" charset="0"/>
                <a:ea typeface="맑은 고딕" pitchFamily="34" charset="-122"/>
                <a:cs typeface="맑은 고딕" pitchFamily="34" charset="-120"/>
              </a:rPr>
              <a:t>168</a:t>
            </a:r>
            <a:endParaRPr lang="en-US" sz="1600" dirty="0"/>
          </a:p>
        </p:txBody>
      </p:sp>
      <p:sp>
        <p:nvSpPr>
          <p:cNvPr id="11" name="Text 9"/>
          <p:cNvSpPr/>
          <p:nvPr/>
        </p:nvSpPr>
        <p:spPr>
          <a:xfrm>
            <a:off x="3520440" y="1901952"/>
            <a:ext cx="2148840" cy="1005840"/>
          </a:xfrm>
          <a:prstGeom prst="rect">
            <a:avLst/>
          </a:prstGeom>
          <a:noFill/>
          <a:ln/>
        </p:spPr>
        <p:txBody>
          <a:bodyPr wrap="square" lIns="0" tIns="0" rIns="0" bIns="0" rtlCol="0" anchor="ctr"/>
          <a:lstStyle/>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대규모 자동 평가.</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카페명 · 지역 · 태그 ·</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지역+태그 4유형</a:t>
            </a:r>
            <a:endParaRPr lang="en-US" sz="1000" dirty="0"/>
          </a:p>
        </p:txBody>
      </p:sp>
      <p:sp>
        <p:nvSpPr>
          <p:cNvPr id="12" name="Shape 10"/>
          <p:cNvSpPr/>
          <p:nvPr/>
        </p:nvSpPr>
        <p:spPr>
          <a:xfrm>
            <a:off x="6080760" y="1325880"/>
            <a:ext cx="2560320" cy="1783080"/>
          </a:xfrm>
          <a:prstGeom prst="roundRect">
            <a:avLst>
              <a:gd name="adj" fmla="val 6154"/>
            </a:avLst>
          </a:prstGeom>
          <a:solidFill>
            <a:srgbClr val="EDF1F0"/>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3" name="Text 11"/>
          <p:cNvSpPr/>
          <p:nvPr/>
        </p:nvSpPr>
        <p:spPr>
          <a:xfrm>
            <a:off x="6309360" y="1463040"/>
            <a:ext cx="1280160" cy="365760"/>
          </a:xfrm>
          <a:prstGeom prst="rect">
            <a:avLst/>
          </a:prstGeom>
          <a:noFill/>
          <a:ln/>
        </p:spPr>
        <p:txBody>
          <a:bodyPr wrap="square" lIns="0" tIns="0" rIns="0" bIns="0" rtlCol="0" anchor="ctr"/>
          <a:lstStyle/>
          <a:p>
            <a:pPr marL="0" indent="0">
              <a:buNone/>
            </a:pPr>
            <a:r>
              <a:rPr lang="en-US" sz="1600" b="1" dirty="0">
                <a:solidFill>
                  <a:srgbClr val="44686B"/>
                </a:solidFill>
                <a:latin typeface="맑은 고딕" pitchFamily="34" charset="0"/>
                <a:ea typeface="맑은 고딕" pitchFamily="34" charset="-122"/>
                <a:cs typeface="맑은 고딕" pitchFamily="34" charset="-120"/>
              </a:rPr>
              <a:t>Bronze</a:t>
            </a:r>
            <a:endParaRPr lang="en-US" sz="1600" dirty="0"/>
          </a:p>
        </p:txBody>
      </p:sp>
      <p:sp>
        <p:nvSpPr>
          <p:cNvPr id="14" name="Text 12"/>
          <p:cNvSpPr/>
          <p:nvPr/>
        </p:nvSpPr>
        <p:spPr>
          <a:xfrm>
            <a:off x="7360920" y="1463040"/>
            <a:ext cx="1097280" cy="365760"/>
          </a:xfrm>
          <a:prstGeom prst="rect">
            <a:avLst/>
          </a:prstGeom>
          <a:noFill/>
          <a:ln/>
        </p:spPr>
        <p:txBody>
          <a:bodyPr wrap="square" lIns="0" tIns="0" rIns="0" bIns="0" rtlCol="0" anchor="ctr"/>
          <a:lstStyle/>
          <a:p>
            <a:pPr marL="0" indent="0" algn="r">
              <a:buNone/>
            </a:pPr>
            <a:r>
              <a:rPr lang="en-US" sz="1600" b="1" dirty="0">
                <a:solidFill>
                  <a:srgbClr val="6B7B7E"/>
                </a:solidFill>
                <a:latin typeface="맑은 고딕" pitchFamily="34" charset="0"/>
                <a:ea typeface="맑은 고딕" pitchFamily="34" charset="-122"/>
                <a:cs typeface="맑은 고딕" pitchFamily="34" charset="-120"/>
              </a:rPr>
              <a:t>시스템</a:t>
            </a:r>
            <a:endParaRPr lang="en-US" sz="1600" dirty="0"/>
          </a:p>
        </p:txBody>
      </p:sp>
      <p:sp>
        <p:nvSpPr>
          <p:cNvPr id="15" name="Text 13"/>
          <p:cNvSpPr/>
          <p:nvPr/>
        </p:nvSpPr>
        <p:spPr>
          <a:xfrm>
            <a:off x="6309360" y="1901952"/>
            <a:ext cx="2148840" cy="1005840"/>
          </a:xfrm>
          <a:prstGeom prst="rect">
            <a:avLst/>
          </a:prstGeom>
          <a:noFill/>
          <a:ln/>
        </p:spPr>
        <p:txBody>
          <a:bodyPr wrap="square" lIns="0" tIns="0" rIns="0" bIns="0" rtlCol="0" anchor="ctr"/>
          <a:lstStyle/>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건강검진.</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중복률 · 빈 결과 ·</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거절률 · 결정성 · 안정성</a:t>
            </a:r>
            <a:endParaRPr lang="en-US" sz="1000" dirty="0"/>
          </a:p>
        </p:txBody>
      </p:sp>
      <p:sp>
        <p:nvSpPr>
          <p:cNvPr id="16" name="Text 14"/>
          <p:cNvSpPr/>
          <p:nvPr/>
        </p:nvSpPr>
        <p:spPr>
          <a:xfrm>
            <a:off x="502920" y="3246120"/>
            <a:ext cx="813816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Gold 지표 정의 — 대표 카페를 찾았는지와, 의도를 만족했는지를 분리해서 본다</a:t>
            </a:r>
            <a:endParaRPr lang="en-US" sz="1100" dirty="0"/>
          </a:p>
        </p:txBody>
      </p:sp>
      <p:sp>
        <p:nvSpPr>
          <p:cNvPr id="17" name="Shape 15"/>
          <p:cNvSpPr/>
          <p:nvPr/>
        </p:nvSpPr>
        <p:spPr>
          <a:xfrm>
            <a:off x="502920" y="3584448"/>
            <a:ext cx="1874520" cy="868680"/>
          </a:xfrm>
          <a:prstGeom prst="roundRect">
            <a:avLst>
              <a:gd name="adj" fmla="val 10526"/>
            </a:avLst>
          </a:prstGeom>
          <a:solidFill>
            <a:srgbClr val="F4FAF9"/>
          </a:solidFill>
          <a:ln w="9525">
            <a:solidFill>
              <a:srgbClr val="DCE6E3"/>
            </a:solidFill>
            <a:prstDash val="solid"/>
          </a:ln>
        </p:spPr>
        <p:txBody>
          <a:bodyPr/>
          <a:lstStyle/>
          <a:p>
            <a:endParaRPr lang="ko-KR" altLang="en-US"/>
          </a:p>
        </p:txBody>
      </p:sp>
      <p:sp>
        <p:nvSpPr>
          <p:cNvPr id="18" name="Text 16"/>
          <p:cNvSpPr/>
          <p:nvPr/>
        </p:nvSpPr>
        <p:spPr>
          <a:xfrm>
            <a:off x="621792" y="3657600"/>
            <a:ext cx="1645920" cy="274320"/>
          </a:xfrm>
          <a:prstGeom prst="rect">
            <a:avLst/>
          </a:prstGeom>
          <a:noFill/>
          <a:ln/>
        </p:spPr>
        <p:txBody>
          <a:bodyPr wrap="square" lIns="0" tIns="0" rIns="0" bIns="0" rtlCol="0" anchor="ctr"/>
          <a:lstStyle/>
          <a:p>
            <a:pPr marL="0" indent="0">
              <a:buNone/>
            </a:pPr>
            <a:r>
              <a:rPr lang="en-US" sz="1050" b="1" dirty="0">
                <a:solidFill>
                  <a:srgbClr val="168A7E"/>
                </a:solidFill>
                <a:latin typeface="맑은 고딕" pitchFamily="34" charset="0"/>
                <a:ea typeface="맑은 고딕" pitchFamily="34" charset="-122"/>
                <a:cs typeface="맑은 고딕" pitchFamily="34" charset="-120"/>
              </a:rPr>
              <a:t>Must Hit</a:t>
            </a:r>
            <a:endParaRPr lang="en-US" sz="1050" dirty="0"/>
          </a:p>
        </p:txBody>
      </p:sp>
      <p:sp>
        <p:nvSpPr>
          <p:cNvPr id="19" name="Text 17"/>
          <p:cNvSpPr/>
          <p:nvPr/>
        </p:nvSpPr>
        <p:spPr>
          <a:xfrm>
            <a:off x="621792" y="3931920"/>
            <a:ext cx="1664208" cy="457200"/>
          </a:xfrm>
          <a:prstGeom prst="rect">
            <a:avLst/>
          </a:prstGeom>
          <a:noFill/>
          <a:ln/>
        </p:spPr>
        <p:txBody>
          <a:bodyPr wrap="square" lIns="0" tIns="0" rIns="0" bIns="0" rtlCol="0" anchor="ctr"/>
          <a:lstStyle/>
          <a:p>
            <a:pPr marL="0" indent="0">
              <a:lnSpc>
                <a:spcPts val="1200"/>
              </a:lnSpc>
              <a:buNone/>
            </a:pPr>
            <a:r>
              <a:rPr lang="en-US" sz="850" dirty="0">
                <a:solidFill>
                  <a:srgbClr val="5F7175"/>
                </a:solidFill>
                <a:latin typeface="맑은 고딕" pitchFamily="34" charset="0"/>
                <a:ea typeface="맑은 고딕" pitchFamily="34" charset="-122"/>
                <a:cs typeface="맑은 고딕" pitchFamily="34" charset="-120"/>
              </a:rPr>
              <a:t>알고 있는 대표 카페가 결과에 포함됐는가</a:t>
            </a:r>
            <a:endParaRPr lang="en-US" sz="850" dirty="0"/>
          </a:p>
        </p:txBody>
      </p:sp>
      <p:sp>
        <p:nvSpPr>
          <p:cNvPr id="20" name="Shape 18"/>
          <p:cNvSpPr/>
          <p:nvPr/>
        </p:nvSpPr>
        <p:spPr>
          <a:xfrm>
            <a:off x="2606040" y="3584448"/>
            <a:ext cx="1874520" cy="868680"/>
          </a:xfrm>
          <a:prstGeom prst="roundRect">
            <a:avLst>
              <a:gd name="adj" fmla="val 10526"/>
            </a:avLst>
          </a:prstGeom>
          <a:solidFill>
            <a:srgbClr val="F4FAF9"/>
          </a:solidFill>
          <a:ln w="9525">
            <a:solidFill>
              <a:srgbClr val="DCE6E3"/>
            </a:solidFill>
            <a:prstDash val="solid"/>
          </a:ln>
        </p:spPr>
        <p:txBody>
          <a:bodyPr/>
          <a:lstStyle/>
          <a:p>
            <a:endParaRPr lang="ko-KR" altLang="en-US"/>
          </a:p>
        </p:txBody>
      </p:sp>
      <p:sp>
        <p:nvSpPr>
          <p:cNvPr id="21" name="Text 19"/>
          <p:cNvSpPr/>
          <p:nvPr/>
        </p:nvSpPr>
        <p:spPr>
          <a:xfrm>
            <a:off x="2724912" y="3657600"/>
            <a:ext cx="1645920" cy="274320"/>
          </a:xfrm>
          <a:prstGeom prst="rect">
            <a:avLst/>
          </a:prstGeom>
          <a:noFill/>
          <a:ln/>
        </p:spPr>
        <p:txBody>
          <a:bodyPr wrap="square" lIns="0" tIns="0" rIns="0" bIns="0" rtlCol="0" anchor="ctr"/>
          <a:lstStyle/>
          <a:p>
            <a:pPr marL="0" indent="0">
              <a:buNone/>
            </a:pPr>
            <a:r>
              <a:rPr lang="en-US" sz="1050" b="1" dirty="0">
                <a:solidFill>
                  <a:srgbClr val="168A7E"/>
                </a:solidFill>
                <a:latin typeface="맑은 고딕" pitchFamily="34" charset="0"/>
                <a:ea typeface="맑은 고딕" pitchFamily="34" charset="-122"/>
                <a:cs typeface="맑은 고딕" pitchFamily="34" charset="-120"/>
              </a:rPr>
              <a:t>Tag Match</a:t>
            </a:r>
            <a:endParaRPr lang="en-US" sz="1050" dirty="0"/>
          </a:p>
        </p:txBody>
      </p:sp>
      <p:sp>
        <p:nvSpPr>
          <p:cNvPr id="22" name="Text 20"/>
          <p:cNvSpPr/>
          <p:nvPr/>
        </p:nvSpPr>
        <p:spPr>
          <a:xfrm>
            <a:off x="2724912" y="3931920"/>
            <a:ext cx="1664208" cy="457200"/>
          </a:xfrm>
          <a:prstGeom prst="rect">
            <a:avLst/>
          </a:prstGeom>
          <a:noFill/>
          <a:ln/>
        </p:spPr>
        <p:txBody>
          <a:bodyPr wrap="square" lIns="0" tIns="0" rIns="0" bIns="0" rtlCol="0" anchor="ctr"/>
          <a:lstStyle/>
          <a:p>
            <a:pPr marL="0" indent="0">
              <a:lnSpc>
                <a:spcPts val="1200"/>
              </a:lnSpc>
              <a:buNone/>
            </a:pPr>
            <a:r>
              <a:rPr lang="en-US" sz="850" dirty="0">
                <a:solidFill>
                  <a:srgbClr val="5F7175"/>
                </a:solidFill>
                <a:latin typeface="맑은 고딕" pitchFamily="34" charset="0"/>
                <a:ea typeface="맑은 고딕" pitchFamily="34" charset="-122"/>
                <a:cs typeface="맑은 고딕" pitchFamily="34" charset="-120"/>
              </a:rPr>
              <a:t>Top-5가 필수 태그를 얼마나 만족하는가</a:t>
            </a:r>
            <a:endParaRPr lang="en-US" sz="850" dirty="0"/>
          </a:p>
        </p:txBody>
      </p:sp>
      <p:sp>
        <p:nvSpPr>
          <p:cNvPr id="23" name="Shape 21"/>
          <p:cNvSpPr/>
          <p:nvPr/>
        </p:nvSpPr>
        <p:spPr>
          <a:xfrm>
            <a:off x="4709160" y="3584448"/>
            <a:ext cx="1874520" cy="868680"/>
          </a:xfrm>
          <a:prstGeom prst="roundRect">
            <a:avLst>
              <a:gd name="adj" fmla="val 10526"/>
            </a:avLst>
          </a:prstGeom>
          <a:solidFill>
            <a:srgbClr val="F4FAF9"/>
          </a:solidFill>
          <a:ln w="9525">
            <a:solidFill>
              <a:srgbClr val="DCE6E3"/>
            </a:solidFill>
            <a:prstDash val="solid"/>
          </a:ln>
        </p:spPr>
        <p:txBody>
          <a:bodyPr/>
          <a:lstStyle/>
          <a:p>
            <a:endParaRPr lang="ko-KR" altLang="en-US"/>
          </a:p>
        </p:txBody>
      </p:sp>
      <p:sp>
        <p:nvSpPr>
          <p:cNvPr id="24" name="Text 22"/>
          <p:cNvSpPr/>
          <p:nvPr/>
        </p:nvSpPr>
        <p:spPr>
          <a:xfrm>
            <a:off x="4828032" y="3657600"/>
            <a:ext cx="1645920" cy="274320"/>
          </a:xfrm>
          <a:prstGeom prst="rect">
            <a:avLst/>
          </a:prstGeom>
          <a:noFill/>
          <a:ln/>
        </p:spPr>
        <p:txBody>
          <a:bodyPr wrap="square" lIns="0" tIns="0" rIns="0" bIns="0" rtlCol="0" anchor="ctr"/>
          <a:lstStyle/>
          <a:p>
            <a:pPr marL="0" indent="0">
              <a:buNone/>
            </a:pPr>
            <a:r>
              <a:rPr lang="en-US" sz="1050" b="1" dirty="0">
                <a:solidFill>
                  <a:srgbClr val="168A7E"/>
                </a:solidFill>
                <a:latin typeface="맑은 고딕" pitchFamily="34" charset="0"/>
                <a:ea typeface="맑은 고딕" pitchFamily="34" charset="-122"/>
                <a:cs typeface="맑은 고딕" pitchFamily="34" charset="-120"/>
              </a:rPr>
              <a:t>Region Match</a:t>
            </a:r>
            <a:endParaRPr lang="en-US" sz="1050" dirty="0"/>
          </a:p>
        </p:txBody>
      </p:sp>
      <p:sp>
        <p:nvSpPr>
          <p:cNvPr id="25" name="Text 23"/>
          <p:cNvSpPr/>
          <p:nvPr/>
        </p:nvSpPr>
        <p:spPr>
          <a:xfrm>
            <a:off x="4828032" y="3931920"/>
            <a:ext cx="1664208" cy="457200"/>
          </a:xfrm>
          <a:prstGeom prst="rect">
            <a:avLst/>
          </a:prstGeom>
          <a:noFill/>
          <a:ln/>
        </p:spPr>
        <p:txBody>
          <a:bodyPr wrap="square" lIns="0" tIns="0" rIns="0" bIns="0" rtlCol="0" anchor="ctr"/>
          <a:lstStyle/>
          <a:p>
            <a:pPr marL="0" indent="0">
              <a:lnSpc>
                <a:spcPts val="1200"/>
              </a:lnSpc>
              <a:buNone/>
            </a:pPr>
            <a:r>
              <a:rPr lang="en-US" sz="850" dirty="0">
                <a:solidFill>
                  <a:srgbClr val="5F7175"/>
                </a:solidFill>
                <a:latin typeface="맑은 고딕" pitchFamily="34" charset="0"/>
                <a:ea typeface="맑은 고딕" pitchFamily="34" charset="-122"/>
                <a:cs typeface="맑은 고딕" pitchFamily="34" charset="-120"/>
              </a:rPr>
              <a:t>요청한 지역을 얼마나 지켰는가</a:t>
            </a:r>
            <a:endParaRPr lang="en-US" sz="850" dirty="0"/>
          </a:p>
        </p:txBody>
      </p:sp>
      <p:sp>
        <p:nvSpPr>
          <p:cNvPr id="26" name="Shape 24"/>
          <p:cNvSpPr/>
          <p:nvPr/>
        </p:nvSpPr>
        <p:spPr>
          <a:xfrm>
            <a:off x="6812280" y="3584448"/>
            <a:ext cx="1874520" cy="868680"/>
          </a:xfrm>
          <a:prstGeom prst="roundRect">
            <a:avLst>
              <a:gd name="adj" fmla="val 10526"/>
            </a:avLst>
          </a:prstGeom>
          <a:solidFill>
            <a:srgbClr val="F4FAF9"/>
          </a:solidFill>
          <a:ln w="9525">
            <a:solidFill>
              <a:srgbClr val="DCE6E3"/>
            </a:solidFill>
            <a:prstDash val="solid"/>
          </a:ln>
        </p:spPr>
        <p:txBody>
          <a:bodyPr/>
          <a:lstStyle/>
          <a:p>
            <a:endParaRPr lang="ko-KR" altLang="en-US"/>
          </a:p>
        </p:txBody>
      </p:sp>
      <p:sp>
        <p:nvSpPr>
          <p:cNvPr id="27" name="Text 25"/>
          <p:cNvSpPr/>
          <p:nvPr/>
        </p:nvSpPr>
        <p:spPr>
          <a:xfrm>
            <a:off x="6931152" y="3657600"/>
            <a:ext cx="1645920" cy="274320"/>
          </a:xfrm>
          <a:prstGeom prst="rect">
            <a:avLst/>
          </a:prstGeom>
          <a:noFill/>
          <a:ln/>
        </p:spPr>
        <p:txBody>
          <a:bodyPr wrap="square" lIns="0" tIns="0" rIns="0" bIns="0" rtlCol="0" anchor="ctr"/>
          <a:lstStyle/>
          <a:p>
            <a:pPr marL="0" indent="0">
              <a:buNone/>
            </a:pPr>
            <a:r>
              <a:rPr lang="en-US" sz="1050" b="1" dirty="0">
                <a:solidFill>
                  <a:srgbClr val="168A7E"/>
                </a:solidFill>
                <a:latin typeface="맑은 고딕" pitchFamily="34" charset="0"/>
                <a:ea typeface="맑은 고딕" pitchFamily="34" charset="-122"/>
                <a:cs typeface="맑은 고딕" pitchFamily="34" charset="-120"/>
              </a:rPr>
              <a:t>Final Intent</a:t>
            </a:r>
            <a:endParaRPr lang="en-US" sz="1050" dirty="0"/>
          </a:p>
        </p:txBody>
      </p:sp>
      <p:sp>
        <p:nvSpPr>
          <p:cNvPr id="28" name="Text 26"/>
          <p:cNvSpPr/>
          <p:nvPr/>
        </p:nvSpPr>
        <p:spPr>
          <a:xfrm>
            <a:off x="6931152" y="3931920"/>
            <a:ext cx="1664208" cy="457200"/>
          </a:xfrm>
          <a:prstGeom prst="rect">
            <a:avLst/>
          </a:prstGeom>
          <a:noFill/>
          <a:ln/>
        </p:spPr>
        <p:txBody>
          <a:bodyPr wrap="square" lIns="0" tIns="0" rIns="0" bIns="0" rtlCol="0" anchor="ctr"/>
          <a:lstStyle/>
          <a:p>
            <a:pPr marL="0" indent="0">
              <a:lnSpc>
                <a:spcPts val="1200"/>
              </a:lnSpc>
              <a:buNone/>
            </a:pPr>
            <a:r>
              <a:rPr lang="en-US" sz="850" dirty="0">
                <a:solidFill>
                  <a:srgbClr val="5F7175"/>
                </a:solidFill>
                <a:latin typeface="맑은 고딕" pitchFamily="34" charset="0"/>
                <a:ea typeface="맑은 고딕" pitchFamily="34" charset="-122"/>
                <a:cs typeface="맑은 고딕" pitchFamily="34" charset="-120"/>
              </a:rPr>
              <a:t>필수 태그·지역 + optional 보너스 − forbidden 감점</a:t>
            </a:r>
            <a:endParaRPr lang="en-US" sz="850" dirty="0"/>
          </a:p>
        </p:txBody>
      </p:sp>
      <p:sp>
        <p:nvSpPr>
          <p:cNvPr id="29" name="Text 27"/>
          <p:cNvSpPr/>
          <p:nvPr/>
        </p:nvSpPr>
        <p:spPr>
          <a:xfrm>
            <a:off x="502920" y="4526280"/>
            <a:ext cx="8138160" cy="256032"/>
          </a:xfrm>
          <a:prstGeom prst="rect">
            <a:avLst/>
          </a:prstGeom>
          <a:noFill/>
          <a:ln/>
        </p:spPr>
        <p:txBody>
          <a:bodyPr wrap="square" lIns="0" tIns="0" rIns="0" bIns="0" rtlCol="0" anchor="ctr"/>
          <a:lstStyle/>
          <a:p>
            <a:pPr marL="0" indent="0">
              <a:buNone/>
            </a:pPr>
            <a:r>
              <a:rPr sz="900">
                <a:solidFill>
                  <a:srgbClr val="9AA9AC"/>
                </a:solidFill>
                <a:latin typeface="맑은 고딕"/>
              </a:rPr>
              <a:t>Gold 50  ·  canonical 831장  ·  serving 643카페 / 985문서  ·  Top-10 기준</a:t>
            </a:r>
            <a:endParaRPr lang="en-US" sz="900" dirty="0"/>
          </a:p>
        </p:txBody>
      </p:sp>
      <p:sp>
        <p:nvSpPr>
          <p:cNvPr id="30" name="Text 28"/>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1" name="Text 29"/>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11</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07  EVALUATION CRITERIA</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평가 항목별 — 우리는 무엇으로 답했는가</a:t>
            </a:r>
            <a:endParaRPr lang="en-US" sz="2700" dirty="0"/>
          </a:p>
        </p:txBody>
      </p:sp>
      <p:sp>
        <p:nvSpPr>
          <p:cNvPr id="4" name="Shape 2"/>
          <p:cNvSpPr/>
          <p:nvPr/>
        </p:nvSpPr>
        <p:spPr>
          <a:xfrm>
            <a:off x="502920" y="1188720"/>
            <a:ext cx="8138160" cy="585216"/>
          </a:xfrm>
          <a:prstGeom prst="roundRect">
            <a:avLst>
              <a:gd name="adj" fmla="val 14063"/>
            </a:avLst>
          </a:prstGeom>
          <a:solidFill>
            <a:srgbClr val="F4FAF9"/>
          </a:solidFill>
          <a:ln w="9525">
            <a:solidFill>
              <a:srgbClr val="DCE6E3"/>
            </a:solidFill>
            <a:prstDash val="solid"/>
          </a:ln>
        </p:spPr>
        <p:txBody>
          <a:bodyPr/>
          <a:lstStyle/>
          <a:p>
            <a:endParaRPr lang="ko-KR" altLang="en-US"/>
          </a:p>
        </p:txBody>
      </p:sp>
      <p:sp>
        <p:nvSpPr>
          <p:cNvPr id="5" name="Shape 3"/>
          <p:cNvSpPr/>
          <p:nvPr/>
        </p:nvSpPr>
        <p:spPr>
          <a:xfrm>
            <a:off x="640080" y="1307592"/>
            <a:ext cx="347472" cy="347472"/>
          </a:xfrm>
          <a:prstGeom prst="ellipse">
            <a:avLst/>
          </a:prstGeom>
          <a:solidFill>
            <a:srgbClr val="168A7E"/>
          </a:solidFill>
          <a:ln w="12700">
            <a:solidFill>
              <a:srgbClr val="168A7E"/>
            </a:solidFill>
            <a:prstDash val="solid"/>
          </a:ln>
        </p:spPr>
        <p:txBody>
          <a:bodyPr/>
          <a:lstStyle/>
          <a:p>
            <a:endParaRPr lang="ko-KR" altLang="en-US"/>
          </a:p>
        </p:txBody>
      </p:sp>
      <p:pic>
        <p:nvPicPr>
          <p:cNvPr id="6"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730423" y="1397935"/>
            <a:ext cx="166787" cy="166787"/>
          </a:xfrm>
          <a:prstGeom prst="rect">
            <a:avLst/>
          </a:prstGeom>
        </p:spPr>
      </p:pic>
      <p:sp>
        <p:nvSpPr>
          <p:cNvPr id="7" name="Text 4"/>
          <p:cNvSpPr/>
          <p:nvPr/>
        </p:nvSpPr>
        <p:spPr>
          <a:xfrm>
            <a:off x="1097280" y="1225296"/>
            <a:ext cx="1691640" cy="512064"/>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문제 정의 · 기획</a:t>
            </a:r>
            <a:endParaRPr lang="en-US" sz="1100" dirty="0"/>
          </a:p>
        </p:txBody>
      </p:sp>
      <p:sp>
        <p:nvSpPr>
          <p:cNvPr id="8" name="Text 5"/>
          <p:cNvSpPr/>
          <p:nvPr/>
        </p:nvSpPr>
        <p:spPr>
          <a:xfrm>
            <a:off x="2834640" y="1234440"/>
            <a:ext cx="5669280" cy="493776"/>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제주 여행자의 3대 장벽(광고 오염 · 실존 · 무근거 추천)을 정의하고,</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“신뢰”를 컨셉이 아니라 데이터 구조로 푼다는 목표를 세웠다.</a:t>
            </a:r>
            <a:endParaRPr lang="en-US" sz="900" dirty="0"/>
          </a:p>
        </p:txBody>
      </p:sp>
      <p:sp>
        <p:nvSpPr>
          <p:cNvPr id="9" name="Shape 6"/>
          <p:cNvSpPr/>
          <p:nvPr/>
        </p:nvSpPr>
        <p:spPr>
          <a:xfrm>
            <a:off x="502920" y="1847088"/>
            <a:ext cx="8138160" cy="585216"/>
          </a:xfrm>
          <a:prstGeom prst="roundRect">
            <a:avLst>
              <a:gd name="adj" fmla="val 14063"/>
            </a:avLst>
          </a:prstGeom>
          <a:solidFill>
            <a:srgbClr val="FFFFFF"/>
          </a:solidFill>
          <a:ln w="9525">
            <a:solidFill>
              <a:srgbClr val="DCE6E3"/>
            </a:solidFill>
            <a:prstDash val="solid"/>
          </a:ln>
        </p:spPr>
        <p:txBody>
          <a:bodyPr/>
          <a:lstStyle/>
          <a:p>
            <a:endParaRPr lang="ko-KR" altLang="en-US"/>
          </a:p>
        </p:txBody>
      </p:sp>
      <p:sp>
        <p:nvSpPr>
          <p:cNvPr id="10" name="Shape 7"/>
          <p:cNvSpPr/>
          <p:nvPr/>
        </p:nvSpPr>
        <p:spPr>
          <a:xfrm>
            <a:off x="640080" y="1965960"/>
            <a:ext cx="347472" cy="347472"/>
          </a:xfrm>
          <a:prstGeom prst="ellipse">
            <a:avLst/>
          </a:prstGeom>
          <a:solidFill>
            <a:srgbClr val="168A7E"/>
          </a:solidFill>
          <a:ln w="12700">
            <a:solidFill>
              <a:srgbClr val="168A7E"/>
            </a:solidFill>
            <a:prstDash val="solid"/>
          </a:ln>
        </p:spPr>
        <p:txBody>
          <a:bodyPr/>
          <a:lstStyle/>
          <a:p>
            <a:endParaRPr lang="ko-KR" altLang="en-US"/>
          </a:p>
        </p:txBody>
      </p:sp>
      <p:pic>
        <p:nvPicPr>
          <p:cNvPr id="11"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730423" y="2056303"/>
            <a:ext cx="166787" cy="166787"/>
          </a:xfrm>
          <a:prstGeom prst="rect">
            <a:avLst/>
          </a:prstGeom>
        </p:spPr>
      </p:pic>
      <p:sp>
        <p:nvSpPr>
          <p:cNvPr id="12" name="Text 8"/>
          <p:cNvSpPr/>
          <p:nvPr/>
        </p:nvSpPr>
        <p:spPr>
          <a:xfrm>
            <a:off x="1097280" y="1883664"/>
            <a:ext cx="1691640" cy="512064"/>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모델 설계 · 활용</a:t>
            </a:r>
            <a:endParaRPr lang="en-US" sz="1100" dirty="0"/>
          </a:p>
        </p:txBody>
      </p:sp>
      <p:sp>
        <p:nvSpPr>
          <p:cNvPr id="13" name="Text 9"/>
          <p:cNvSpPr/>
          <p:nvPr/>
        </p:nvSpPr>
        <p:spPr>
          <a:xfrm>
            <a:off x="2834640" y="1892808"/>
            <a:ext cx="5669280" cy="493776"/>
          </a:xfrm>
          <a:prstGeom prst="rect">
            <a:avLst/>
          </a:prstGeom>
          <a:noFill/>
          <a:ln/>
        </p:spPr>
        <p:txBody>
          <a:bodyPr wrap="square" lIns="0" tIns="0" rIns="0" bIns="0" rtlCol="0" anchor="ctr"/>
          <a:lstStyle/>
          <a:p>
            <a:pPr marL="0" indent="0">
              <a:lnSpc>
                <a:spcPts val="1400"/>
              </a:lnSpc>
              <a:buNone/>
            </a:pPr>
            <a:r>
              <a:rPr sz="900">
                <a:solidFill>
                  <a:srgbClr val="5F7175"/>
                </a:solidFill>
                <a:latin typeface="맑은 고딕"/>
              </a:rPr>
              <a:t>기본 /search는 결정론 코드. 전체 질문 임베딩으로 후보를 찾고, 조건어는 exact→태그 임베딩→미해석으로 번역한다.</a:t>
            </a:r>
            <a:endParaRPr lang="en-US" sz="900" dirty="0"/>
          </a:p>
          <a:p>
            <a:pPr/>
            <a:r>
              <a:rPr sz="900">
                <a:solidFill>
                  <a:srgbClr val="5F7175"/>
                </a:solidFill>
                <a:latin typeface="맑은 고딕"/>
              </a:rPr>
              <a:t>/agent의 LLM은 결과 판단과 근거 종합에만 사용한다.</a:t>
            </a:r>
          </a:p>
        </p:txBody>
      </p:sp>
      <p:sp>
        <p:nvSpPr>
          <p:cNvPr id="14" name="Shape 10"/>
          <p:cNvSpPr/>
          <p:nvPr/>
        </p:nvSpPr>
        <p:spPr>
          <a:xfrm>
            <a:off x="502920" y="2505456"/>
            <a:ext cx="8138160" cy="585216"/>
          </a:xfrm>
          <a:prstGeom prst="roundRect">
            <a:avLst>
              <a:gd name="adj" fmla="val 14063"/>
            </a:avLst>
          </a:prstGeom>
          <a:solidFill>
            <a:srgbClr val="F4FAF9"/>
          </a:solidFill>
          <a:ln w="9525">
            <a:solidFill>
              <a:srgbClr val="DCE6E3"/>
            </a:solidFill>
            <a:prstDash val="solid"/>
          </a:ln>
        </p:spPr>
        <p:txBody>
          <a:bodyPr/>
          <a:lstStyle/>
          <a:p>
            <a:endParaRPr lang="ko-KR" altLang="en-US"/>
          </a:p>
        </p:txBody>
      </p:sp>
      <p:sp>
        <p:nvSpPr>
          <p:cNvPr id="15" name="Shape 11"/>
          <p:cNvSpPr/>
          <p:nvPr/>
        </p:nvSpPr>
        <p:spPr>
          <a:xfrm>
            <a:off x="640080" y="2624328"/>
            <a:ext cx="347472" cy="347472"/>
          </a:xfrm>
          <a:prstGeom prst="ellipse">
            <a:avLst/>
          </a:prstGeom>
          <a:solidFill>
            <a:srgbClr val="168A7E"/>
          </a:solidFill>
          <a:ln w="12700">
            <a:solidFill>
              <a:srgbClr val="168A7E"/>
            </a:solidFill>
            <a:prstDash val="solid"/>
          </a:ln>
        </p:spPr>
        <p:txBody>
          <a:bodyPr/>
          <a:lstStyle/>
          <a:p>
            <a:endParaRPr lang="ko-KR" altLang="en-US"/>
          </a:p>
        </p:txBody>
      </p:sp>
      <p:pic>
        <p:nvPicPr>
          <p:cNvPr id="16" name="Image 2" descr="preencoded.png"/>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30423" y="2714671"/>
            <a:ext cx="166787" cy="166787"/>
          </a:xfrm>
          <a:prstGeom prst="rect">
            <a:avLst/>
          </a:prstGeom>
        </p:spPr>
      </p:pic>
      <p:sp>
        <p:nvSpPr>
          <p:cNvPr id="17" name="Text 12"/>
          <p:cNvSpPr/>
          <p:nvPr/>
        </p:nvSpPr>
        <p:spPr>
          <a:xfrm>
            <a:off x="1097280" y="2542032"/>
            <a:ext cx="1691640" cy="512064"/>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서비스 견고성</a:t>
            </a:r>
            <a:endParaRPr lang="en-US" sz="1100" dirty="0"/>
          </a:p>
        </p:txBody>
      </p:sp>
      <p:sp>
        <p:nvSpPr>
          <p:cNvPr id="18" name="Text 13"/>
          <p:cNvSpPr/>
          <p:nvPr/>
        </p:nvSpPr>
        <p:spPr>
          <a:xfrm>
            <a:off x="2834640" y="2551176"/>
            <a:ext cx="5669280" cy="493776"/>
          </a:xfrm>
          <a:prstGeom prst="rect">
            <a:avLst/>
          </a:prstGeom>
          <a:noFill/>
          <a:ln/>
        </p:spPr>
        <p:txBody>
          <a:bodyPr wrap="square" lIns="0" tIns="0" rIns="0" bIns="0" rtlCol="0" anchor="ctr"/>
          <a:lstStyle/>
          <a:p>
            <a:pPr marL="0" indent="0">
              <a:lnSpc>
                <a:spcPts val="1400"/>
              </a:lnSpc>
              <a:buNone/>
            </a:pPr>
            <a:r>
              <a:rPr sz="900">
                <a:solidFill>
                  <a:srgbClr val="5F7175"/>
                </a:solidFill>
                <a:latin typeface="맑은 고딕"/>
              </a:rPr>
              <a:t>LLM 판단 실패 시 /search 결과를 유지하고, API 다운 시 프론트 mock으로 폴백한다.</a:t>
            </a:r>
            <a:endParaRPr lang="en-US" sz="900" dirty="0"/>
          </a:p>
          <a:p>
            <a:pPr/>
            <a:r>
              <a:rPr sz="900">
                <a:solidFill>
                  <a:srgbClr val="5F7175"/>
                </a:solidFill>
                <a:latin typeface="맑은 고딕"/>
              </a:rPr>
              <a:t>Gold 50 반복 순위 결정성 100% · closed/non-serving 누수 0.</a:t>
            </a:r>
          </a:p>
        </p:txBody>
      </p:sp>
      <p:sp>
        <p:nvSpPr>
          <p:cNvPr id="19" name="Shape 14"/>
          <p:cNvSpPr/>
          <p:nvPr/>
        </p:nvSpPr>
        <p:spPr>
          <a:xfrm>
            <a:off x="502920" y="3163824"/>
            <a:ext cx="8138160" cy="585216"/>
          </a:xfrm>
          <a:prstGeom prst="roundRect">
            <a:avLst>
              <a:gd name="adj" fmla="val 14063"/>
            </a:avLst>
          </a:prstGeom>
          <a:solidFill>
            <a:srgbClr val="FFFFFF"/>
          </a:solidFill>
          <a:ln w="9525">
            <a:solidFill>
              <a:srgbClr val="DCE6E3"/>
            </a:solidFill>
            <a:prstDash val="solid"/>
          </a:ln>
        </p:spPr>
        <p:txBody>
          <a:bodyPr/>
          <a:lstStyle/>
          <a:p>
            <a:endParaRPr lang="ko-KR" altLang="en-US"/>
          </a:p>
        </p:txBody>
      </p:sp>
      <p:sp>
        <p:nvSpPr>
          <p:cNvPr id="20" name="Shape 15"/>
          <p:cNvSpPr/>
          <p:nvPr/>
        </p:nvSpPr>
        <p:spPr>
          <a:xfrm>
            <a:off x="640080" y="3282696"/>
            <a:ext cx="347472" cy="347472"/>
          </a:xfrm>
          <a:prstGeom prst="ellipse">
            <a:avLst/>
          </a:prstGeom>
          <a:solidFill>
            <a:srgbClr val="168A7E"/>
          </a:solidFill>
          <a:ln w="12700">
            <a:solidFill>
              <a:srgbClr val="168A7E"/>
            </a:solidFill>
            <a:prstDash val="solid"/>
          </a:ln>
        </p:spPr>
        <p:txBody>
          <a:bodyPr/>
          <a:lstStyle/>
          <a:p>
            <a:endParaRPr lang="ko-KR" altLang="en-US"/>
          </a:p>
        </p:txBody>
      </p:sp>
      <p:pic>
        <p:nvPicPr>
          <p:cNvPr id="21" name="Image 3" descr="preencoded.png"/>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730423" y="3373039"/>
            <a:ext cx="166787" cy="166787"/>
          </a:xfrm>
          <a:prstGeom prst="rect">
            <a:avLst/>
          </a:prstGeom>
        </p:spPr>
      </p:pic>
      <p:sp>
        <p:nvSpPr>
          <p:cNvPr id="22" name="Text 16"/>
          <p:cNvSpPr/>
          <p:nvPr/>
        </p:nvSpPr>
        <p:spPr>
          <a:xfrm>
            <a:off x="1097280" y="3200400"/>
            <a:ext cx="1691640" cy="512064"/>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신뢰성 · 설득력</a:t>
            </a:r>
            <a:endParaRPr lang="en-US" sz="1100" dirty="0"/>
          </a:p>
        </p:txBody>
      </p:sp>
      <p:sp>
        <p:nvSpPr>
          <p:cNvPr id="23" name="Text 17"/>
          <p:cNvSpPr/>
          <p:nvPr/>
        </p:nvSpPr>
        <p:spPr>
          <a:xfrm>
            <a:off x="2834640" y="3209544"/>
            <a:ext cx="5669280" cy="493776"/>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모든 인용은 원문 부분문자열 검증 통과분만 (파일럿 75건, 실패 0건).</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Gold 50 / Silver 168 / Bronze 3단 정량 평가로 강점과 약점을 함께 공개.</a:t>
            </a:r>
            <a:endParaRPr lang="en-US" sz="900" dirty="0"/>
          </a:p>
        </p:txBody>
      </p:sp>
      <p:sp>
        <p:nvSpPr>
          <p:cNvPr id="24" name="Shape 18"/>
          <p:cNvSpPr/>
          <p:nvPr/>
        </p:nvSpPr>
        <p:spPr>
          <a:xfrm>
            <a:off x="502920" y="3822192"/>
            <a:ext cx="8138160" cy="585216"/>
          </a:xfrm>
          <a:prstGeom prst="roundRect">
            <a:avLst>
              <a:gd name="adj" fmla="val 14063"/>
            </a:avLst>
          </a:prstGeom>
          <a:solidFill>
            <a:srgbClr val="F4FAF9"/>
          </a:solidFill>
          <a:ln w="9525">
            <a:solidFill>
              <a:srgbClr val="DCE6E3"/>
            </a:solidFill>
            <a:prstDash val="solid"/>
          </a:ln>
        </p:spPr>
        <p:txBody>
          <a:bodyPr/>
          <a:lstStyle/>
          <a:p>
            <a:endParaRPr lang="ko-KR" altLang="en-US"/>
          </a:p>
        </p:txBody>
      </p:sp>
      <p:sp>
        <p:nvSpPr>
          <p:cNvPr id="25" name="Shape 19"/>
          <p:cNvSpPr/>
          <p:nvPr/>
        </p:nvSpPr>
        <p:spPr>
          <a:xfrm>
            <a:off x="640080" y="3941064"/>
            <a:ext cx="347472" cy="347472"/>
          </a:xfrm>
          <a:prstGeom prst="ellipse">
            <a:avLst/>
          </a:prstGeom>
          <a:solidFill>
            <a:srgbClr val="168A7E"/>
          </a:solidFill>
          <a:ln w="12700">
            <a:solidFill>
              <a:srgbClr val="168A7E"/>
            </a:solidFill>
            <a:prstDash val="solid"/>
          </a:ln>
        </p:spPr>
        <p:txBody>
          <a:bodyPr/>
          <a:lstStyle/>
          <a:p>
            <a:endParaRPr lang="ko-KR" altLang="en-US"/>
          </a:p>
        </p:txBody>
      </p:sp>
      <p:pic>
        <p:nvPicPr>
          <p:cNvPr id="26" name="Image 4" descr="preencoded.png"/>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730423" y="4031407"/>
            <a:ext cx="166787" cy="166787"/>
          </a:xfrm>
          <a:prstGeom prst="rect">
            <a:avLst/>
          </a:prstGeom>
        </p:spPr>
      </p:pic>
      <p:sp>
        <p:nvSpPr>
          <p:cNvPr id="27" name="Text 20"/>
          <p:cNvSpPr/>
          <p:nvPr/>
        </p:nvSpPr>
        <p:spPr>
          <a:xfrm>
            <a:off x="1097280" y="3858768"/>
            <a:ext cx="1691640" cy="512064"/>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보안</a:t>
            </a:r>
            <a:endParaRPr lang="en-US" sz="1100" dirty="0"/>
          </a:p>
        </p:txBody>
      </p:sp>
      <p:sp>
        <p:nvSpPr>
          <p:cNvPr id="28" name="Text 21"/>
          <p:cNvSpPr/>
          <p:nvPr/>
        </p:nvSpPr>
        <p:spPr>
          <a:xfrm>
            <a:off x="2834640" y="3867912"/>
            <a:ext cx="5669280" cy="493776"/>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OpenAI · 유튜브 · 카카오 키는 서버 .env에서만 로드, 프론트로는 만료되는 임시 URL만 전달(/photos).</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카카오 JS 키는 config.local.js로 분리 · gitignore. 사용자 입력은 코드가 토큰화 후 사용.</a:t>
            </a:r>
            <a:endParaRPr lang="en-US" sz="900" dirty="0"/>
          </a:p>
        </p:txBody>
      </p:sp>
      <p:sp>
        <p:nvSpPr>
          <p:cNvPr id="29" name="Text 22"/>
          <p:cNvSpPr/>
          <p:nvPr/>
        </p:nvSpPr>
        <p:spPr>
          <a:xfrm>
            <a:off x="502920" y="4443984"/>
            <a:ext cx="8138160" cy="256032"/>
          </a:xfrm>
          <a:prstGeom prst="rect">
            <a:avLst/>
          </a:prstGeom>
          <a:noFill/>
          <a:ln/>
        </p:spPr>
        <p:txBody>
          <a:bodyPr wrap="square" lIns="0" tIns="0" rIns="0" bIns="0" rtlCol="0" anchor="ctr"/>
          <a:lstStyle/>
          <a:p>
            <a:pPr marL="0" indent="0">
              <a:buNone/>
            </a:pPr>
            <a:r>
              <a:rPr lang="en-US" sz="950" i="1" dirty="0">
                <a:solidFill>
                  <a:srgbClr val="168A7E"/>
                </a:solidFill>
                <a:latin typeface="맑은 고딕" pitchFamily="34" charset="0"/>
                <a:ea typeface="맑은 고딕" pitchFamily="34" charset="-122"/>
                <a:cs typeface="맑은 고딕" pitchFamily="34" charset="-120"/>
              </a:rPr>
              <a:t>다섯 항목 모두 “말” 대신 “실측치와 코드 위치”로 답할 수 있게 설계했습니다.</a:t>
            </a:r>
            <a:endParaRPr lang="en-US" sz="950" dirty="0"/>
          </a:p>
        </p:txBody>
      </p:sp>
      <p:sp>
        <p:nvSpPr>
          <p:cNvPr id="30" name="Text 23"/>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1" name="Text 24"/>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14</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08  DEMO</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지금부터 보실 네 장면</a:t>
            </a:r>
            <a:endParaRPr lang="en-US" sz="2700" dirty="0"/>
          </a:p>
        </p:txBody>
      </p:sp>
      <p:sp>
        <p:nvSpPr>
          <p:cNvPr id="4" name="Shape 2"/>
          <p:cNvSpPr/>
          <p:nvPr/>
        </p:nvSpPr>
        <p:spPr>
          <a:xfrm>
            <a:off x="502920" y="1298448"/>
            <a:ext cx="3977640" cy="1389888"/>
          </a:xfrm>
          <a:prstGeom prst="roundRect">
            <a:avLst>
              <a:gd name="adj" fmla="val 7895"/>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Text 3"/>
          <p:cNvSpPr/>
          <p:nvPr/>
        </p:nvSpPr>
        <p:spPr>
          <a:xfrm>
            <a:off x="685800" y="1426464"/>
            <a:ext cx="457200" cy="274320"/>
          </a:xfrm>
          <a:prstGeom prst="rect">
            <a:avLst/>
          </a:prstGeom>
          <a:noFill/>
          <a:ln/>
        </p:spPr>
        <p:txBody>
          <a:bodyPr wrap="square" lIns="0" tIns="0" rIns="0" bIns="0" rtlCol="0" anchor="ctr"/>
          <a:lstStyle/>
          <a:p>
            <a:pPr marL="0" indent="0">
              <a:buNone/>
            </a:pPr>
            <a:r>
              <a:rPr lang="en-US" sz="1200" b="1" dirty="0">
                <a:solidFill>
                  <a:srgbClr val="C3D6D2"/>
                </a:solidFill>
                <a:latin typeface="맑은 고딕" pitchFamily="34" charset="0"/>
                <a:ea typeface="맑은 고딕" pitchFamily="34" charset="-122"/>
                <a:cs typeface="맑은 고딕" pitchFamily="34" charset="-120"/>
              </a:rPr>
              <a:t>01</a:t>
            </a:r>
            <a:endParaRPr lang="en-US" sz="1200" dirty="0"/>
          </a:p>
        </p:txBody>
      </p:sp>
      <p:sp>
        <p:nvSpPr>
          <p:cNvPr id="6" name="Text 4"/>
          <p:cNvSpPr/>
          <p:nvPr/>
        </p:nvSpPr>
        <p:spPr>
          <a:xfrm>
            <a:off x="1143000" y="1426464"/>
            <a:ext cx="1280160" cy="274320"/>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이름 조회</a:t>
            </a:r>
            <a:endParaRPr lang="en-US" sz="1250" dirty="0"/>
          </a:p>
        </p:txBody>
      </p:sp>
      <p:sp>
        <p:nvSpPr>
          <p:cNvPr id="7" name="Shape 5"/>
          <p:cNvSpPr/>
          <p:nvPr/>
        </p:nvSpPr>
        <p:spPr>
          <a:xfrm>
            <a:off x="2423160" y="1417320"/>
            <a:ext cx="1874520" cy="292608"/>
          </a:xfrm>
          <a:prstGeom prst="roundRect">
            <a:avLst>
              <a:gd name="adj" fmla="val 50000"/>
            </a:avLst>
          </a:prstGeom>
          <a:solidFill>
            <a:srgbClr val="E7F3F1"/>
          </a:solidFill>
          <a:ln w="12700">
            <a:solidFill>
              <a:srgbClr val="333333"/>
            </a:solidFill>
            <a:prstDash val="solid"/>
          </a:ln>
        </p:spPr>
        <p:txBody>
          <a:bodyPr/>
          <a:lstStyle/>
          <a:p>
            <a:endParaRPr lang="ko-KR" altLang="en-US"/>
          </a:p>
        </p:txBody>
      </p:sp>
      <p:sp>
        <p:nvSpPr>
          <p:cNvPr id="8" name="Text 6"/>
          <p:cNvSpPr/>
          <p:nvPr/>
        </p:nvSpPr>
        <p:spPr>
          <a:xfrm>
            <a:off x="2423160" y="1417320"/>
            <a:ext cx="1874520" cy="292608"/>
          </a:xfrm>
          <a:prstGeom prst="rect">
            <a:avLst/>
          </a:prstGeom>
          <a:noFill/>
          <a:ln/>
        </p:spPr>
        <p:txBody>
          <a:bodyPr wrap="square" lIns="0" tIns="0" rIns="0" bIns="0" rtlCol="0" anchor="ctr"/>
          <a:lstStyle/>
          <a:p>
            <a:pPr marL="0" indent="0" algn="ctr">
              <a:buNone/>
            </a:pPr>
            <a:r>
              <a:rPr lang="en-US" sz="900" b="1" dirty="0">
                <a:solidFill>
                  <a:srgbClr val="0F5257"/>
                </a:solidFill>
                <a:latin typeface="맑은 고딕" pitchFamily="34" charset="0"/>
                <a:ea typeface="맑은 고딕" pitchFamily="34" charset="-122"/>
                <a:cs typeface="맑은 고딕" pitchFamily="34" charset="-120"/>
              </a:rPr>
              <a:t>“바다다”</a:t>
            </a:r>
            <a:endParaRPr lang="en-US" sz="900" dirty="0"/>
          </a:p>
        </p:txBody>
      </p:sp>
      <p:sp>
        <p:nvSpPr>
          <p:cNvPr id="9" name="Text 7"/>
          <p:cNvSpPr/>
          <p:nvPr/>
        </p:nvSpPr>
        <p:spPr>
          <a:xfrm>
            <a:off x="685800" y="1801368"/>
            <a:ext cx="3611880" cy="731520"/>
          </a:xfrm>
          <a:prstGeom prst="rect">
            <a:avLst/>
          </a:prstGeom>
          <a:noFill/>
          <a:ln/>
        </p:spPr>
        <p:txBody>
          <a:bodyPr wrap="square" lIns="0" tIns="0" rIns="0" bIns="0" rtlCol="0" anchor="ctr"/>
          <a:lstStyle/>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카페명 사전이 매치하면 임베딩 점수와 무관하게</a:t>
            </a:r>
            <a:endParaRPr lang="en-US" sz="950" dirty="0"/>
          </a:p>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name_match 카드를 1순위로 고정한다 (집행은 코드)</a:t>
            </a:r>
            <a:endParaRPr lang="en-US" sz="950" dirty="0"/>
          </a:p>
        </p:txBody>
      </p:sp>
      <p:sp>
        <p:nvSpPr>
          <p:cNvPr id="10" name="Shape 8"/>
          <p:cNvSpPr/>
          <p:nvPr/>
        </p:nvSpPr>
        <p:spPr>
          <a:xfrm>
            <a:off x="4663440" y="1298448"/>
            <a:ext cx="3977640" cy="1389888"/>
          </a:xfrm>
          <a:prstGeom prst="roundRect">
            <a:avLst>
              <a:gd name="adj" fmla="val 7895"/>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1" name="Text 9"/>
          <p:cNvSpPr/>
          <p:nvPr/>
        </p:nvSpPr>
        <p:spPr>
          <a:xfrm>
            <a:off x="4846320" y="1426464"/>
            <a:ext cx="457200" cy="274320"/>
          </a:xfrm>
          <a:prstGeom prst="rect">
            <a:avLst/>
          </a:prstGeom>
          <a:noFill/>
          <a:ln/>
        </p:spPr>
        <p:txBody>
          <a:bodyPr wrap="square" lIns="0" tIns="0" rIns="0" bIns="0" rtlCol="0" anchor="ctr"/>
          <a:lstStyle/>
          <a:p>
            <a:pPr marL="0" indent="0">
              <a:buNone/>
            </a:pPr>
            <a:r>
              <a:rPr lang="en-US" sz="1200" b="1" dirty="0">
                <a:solidFill>
                  <a:srgbClr val="C3D6D2"/>
                </a:solidFill>
                <a:latin typeface="맑은 고딕" pitchFamily="34" charset="0"/>
                <a:ea typeface="맑은 고딕" pitchFamily="34" charset="-122"/>
                <a:cs typeface="맑은 고딕" pitchFamily="34" charset="-120"/>
              </a:rPr>
              <a:t>02</a:t>
            </a:r>
            <a:endParaRPr lang="en-US" sz="1200" dirty="0"/>
          </a:p>
        </p:txBody>
      </p:sp>
      <p:sp>
        <p:nvSpPr>
          <p:cNvPr id="12" name="Text 10"/>
          <p:cNvSpPr/>
          <p:nvPr/>
        </p:nvSpPr>
        <p:spPr>
          <a:xfrm>
            <a:off x="5303520" y="1426464"/>
            <a:ext cx="1280160" cy="274320"/>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브라우즈</a:t>
            </a:r>
            <a:endParaRPr lang="en-US" sz="1250" dirty="0"/>
          </a:p>
        </p:txBody>
      </p:sp>
      <p:sp>
        <p:nvSpPr>
          <p:cNvPr id="13" name="Shape 11"/>
          <p:cNvSpPr/>
          <p:nvPr/>
        </p:nvSpPr>
        <p:spPr>
          <a:xfrm>
            <a:off x="6583680" y="1417320"/>
            <a:ext cx="1874520" cy="292608"/>
          </a:xfrm>
          <a:prstGeom prst="roundRect">
            <a:avLst>
              <a:gd name="adj" fmla="val 50000"/>
            </a:avLst>
          </a:prstGeom>
          <a:solidFill>
            <a:srgbClr val="E7F3F1"/>
          </a:solidFill>
          <a:ln w="12700">
            <a:solidFill>
              <a:srgbClr val="333333"/>
            </a:solidFill>
            <a:prstDash val="solid"/>
          </a:ln>
        </p:spPr>
        <p:txBody>
          <a:bodyPr/>
          <a:lstStyle/>
          <a:p>
            <a:endParaRPr lang="ko-KR" altLang="en-US"/>
          </a:p>
        </p:txBody>
      </p:sp>
      <p:sp>
        <p:nvSpPr>
          <p:cNvPr id="14" name="Text 12"/>
          <p:cNvSpPr/>
          <p:nvPr/>
        </p:nvSpPr>
        <p:spPr>
          <a:xfrm>
            <a:off x="6583680" y="1417320"/>
            <a:ext cx="1874520" cy="292608"/>
          </a:xfrm>
          <a:prstGeom prst="rect">
            <a:avLst/>
          </a:prstGeom>
          <a:noFill/>
          <a:ln/>
        </p:spPr>
        <p:txBody>
          <a:bodyPr wrap="square" lIns="0" tIns="0" rIns="0" bIns="0" rtlCol="0" anchor="ctr"/>
          <a:lstStyle/>
          <a:p>
            <a:pPr marL="0" indent="0" algn="ctr">
              <a:buNone/>
            </a:pPr>
            <a:r>
              <a:rPr lang="en-US" sz="900" b="1" dirty="0">
                <a:solidFill>
                  <a:srgbClr val="0F5257"/>
                </a:solidFill>
                <a:latin typeface="맑은 고딕" pitchFamily="34" charset="0"/>
                <a:ea typeface="맑은 고딕" pitchFamily="34" charset="-122"/>
                <a:cs typeface="맑은 고딕" pitchFamily="34" charset="-120"/>
              </a:rPr>
              <a:t>“애월 카페”</a:t>
            </a:r>
            <a:endParaRPr lang="en-US" sz="900" dirty="0"/>
          </a:p>
        </p:txBody>
      </p:sp>
      <p:sp>
        <p:nvSpPr>
          <p:cNvPr id="15" name="Text 13"/>
          <p:cNvSpPr/>
          <p:nvPr/>
        </p:nvSpPr>
        <p:spPr>
          <a:xfrm>
            <a:off x="4846320" y="1801368"/>
            <a:ext cx="3611880" cy="731520"/>
          </a:xfrm>
          <a:prstGeom prst="rect">
            <a:avLst/>
          </a:prstGeom>
          <a:noFill/>
          <a:ln/>
        </p:spPr>
        <p:txBody>
          <a:bodyPr wrap="square" lIns="0" tIns="0" rIns="0" bIns="0" rtlCol="0" anchor="ctr"/>
          <a:lstStyle/>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조건이 없는 질의는 임베딩을 생략한다.</a:t>
            </a:r>
            <a:endParaRPr lang="en-US" sz="950" dirty="0"/>
          </a:p>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지역 필터 + 다수결(고유 블로거 수) 정렬만</a:t>
            </a:r>
            <a:endParaRPr lang="en-US" sz="950" dirty="0"/>
          </a:p>
        </p:txBody>
      </p:sp>
      <p:sp>
        <p:nvSpPr>
          <p:cNvPr id="16" name="Shape 14"/>
          <p:cNvSpPr/>
          <p:nvPr/>
        </p:nvSpPr>
        <p:spPr>
          <a:xfrm>
            <a:off x="502920" y="2871216"/>
            <a:ext cx="3977640" cy="1389888"/>
          </a:xfrm>
          <a:prstGeom prst="roundRect">
            <a:avLst>
              <a:gd name="adj" fmla="val 7895"/>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7" name="Text 15"/>
          <p:cNvSpPr/>
          <p:nvPr/>
        </p:nvSpPr>
        <p:spPr>
          <a:xfrm>
            <a:off x="685800" y="2999232"/>
            <a:ext cx="457200" cy="274320"/>
          </a:xfrm>
          <a:prstGeom prst="rect">
            <a:avLst/>
          </a:prstGeom>
          <a:noFill/>
          <a:ln/>
        </p:spPr>
        <p:txBody>
          <a:bodyPr wrap="square" lIns="0" tIns="0" rIns="0" bIns="0" rtlCol="0" anchor="ctr"/>
          <a:lstStyle/>
          <a:p>
            <a:pPr marL="0" indent="0">
              <a:buNone/>
            </a:pPr>
            <a:r>
              <a:rPr lang="en-US" sz="1200" b="1" dirty="0">
                <a:solidFill>
                  <a:srgbClr val="C3D6D2"/>
                </a:solidFill>
                <a:latin typeface="맑은 고딕" pitchFamily="34" charset="0"/>
                <a:ea typeface="맑은 고딕" pitchFamily="34" charset="-122"/>
                <a:cs typeface="맑은 고딕" pitchFamily="34" charset="-120"/>
              </a:rPr>
              <a:t>03</a:t>
            </a:r>
            <a:endParaRPr lang="en-US" sz="1200" dirty="0"/>
          </a:p>
        </p:txBody>
      </p:sp>
      <p:sp>
        <p:nvSpPr>
          <p:cNvPr id="18" name="Text 16"/>
          <p:cNvSpPr/>
          <p:nvPr/>
        </p:nvSpPr>
        <p:spPr>
          <a:xfrm>
            <a:off x="1143000" y="2999232"/>
            <a:ext cx="1280160" cy="274320"/>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조건 검색</a:t>
            </a:r>
            <a:endParaRPr lang="en-US" sz="1250" dirty="0"/>
          </a:p>
        </p:txBody>
      </p:sp>
      <p:sp>
        <p:nvSpPr>
          <p:cNvPr id="19" name="Shape 17"/>
          <p:cNvSpPr/>
          <p:nvPr/>
        </p:nvSpPr>
        <p:spPr>
          <a:xfrm>
            <a:off x="2423160" y="2990088"/>
            <a:ext cx="1874520" cy="292608"/>
          </a:xfrm>
          <a:prstGeom prst="roundRect">
            <a:avLst>
              <a:gd name="adj" fmla="val 50000"/>
            </a:avLst>
          </a:prstGeom>
          <a:solidFill>
            <a:srgbClr val="E7F3F1"/>
          </a:solidFill>
          <a:ln w="12700">
            <a:solidFill>
              <a:srgbClr val="333333"/>
            </a:solidFill>
            <a:prstDash val="solid"/>
          </a:ln>
        </p:spPr>
        <p:txBody>
          <a:bodyPr/>
          <a:lstStyle/>
          <a:p>
            <a:endParaRPr lang="ko-KR" altLang="en-US"/>
          </a:p>
        </p:txBody>
      </p:sp>
      <p:sp>
        <p:nvSpPr>
          <p:cNvPr id="20" name="Text 18"/>
          <p:cNvSpPr/>
          <p:nvPr/>
        </p:nvSpPr>
        <p:spPr>
          <a:xfrm>
            <a:off x="2423160" y="2990088"/>
            <a:ext cx="1874520" cy="292608"/>
          </a:xfrm>
          <a:prstGeom prst="rect">
            <a:avLst/>
          </a:prstGeom>
          <a:noFill/>
          <a:ln/>
        </p:spPr>
        <p:txBody>
          <a:bodyPr wrap="square" lIns="0" tIns="0" rIns="0" bIns="0" rtlCol="0" anchor="ctr"/>
          <a:lstStyle/>
          <a:p>
            <a:pPr marL="0" indent="0" algn="ctr">
              <a:buNone/>
            </a:pPr>
            <a:r>
              <a:rPr lang="en-US" sz="900" b="1" dirty="0">
                <a:solidFill>
                  <a:srgbClr val="0F5257"/>
                </a:solidFill>
                <a:latin typeface="맑은 고딕" pitchFamily="34" charset="0"/>
                <a:ea typeface="맑은 고딕" pitchFamily="34" charset="-122"/>
                <a:cs typeface="맑은 고딕" pitchFamily="34" charset="-120"/>
              </a:rPr>
              <a:t>“애월 노을 조용한 카페”</a:t>
            </a:r>
            <a:endParaRPr lang="en-US" sz="900" dirty="0"/>
          </a:p>
        </p:txBody>
      </p:sp>
      <p:sp>
        <p:nvSpPr>
          <p:cNvPr id="21" name="Text 19"/>
          <p:cNvSpPr/>
          <p:nvPr/>
        </p:nvSpPr>
        <p:spPr>
          <a:xfrm>
            <a:off x="685800" y="3374136"/>
            <a:ext cx="3611880" cy="731520"/>
          </a:xfrm>
          <a:prstGeom prst="rect">
            <a:avLst/>
          </a:prstGeom>
          <a:noFill/>
          <a:ln/>
        </p:spPr>
        <p:txBody>
          <a:bodyPr wrap="square" lIns="0" tIns="0" rIns="0" bIns="0" rtlCol="0" anchor="ctr"/>
          <a:lstStyle/>
          <a:p>
            <a:pPr marL="0" indent="0">
              <a:lnSpc>
                <a:spcPts val="1500"/>
              </a:lnSpc>
              <a:buNone/>
            </a:pPr>
            <a:r>
              <a:rPr sz="950">
                <a:solidFill>
                  <a:srgbClr val="5F7175"/>
                </a:solidFill>
                <a:latin typeface="맑은 고딕"/>
              </a:rPr>
              <a:t>질의 임베딩 → Chroma 후보 → 태그 번역·어휘 게이트</a:t>
            </a:r>
            <a:endParaRPr lang="en-US" sz="950" dirty="0"/>
          </a:p>
          <a:p>
            <a:pPr/>
            <a:r>
              <a:rPr sz="950">
                <a:solidFill>
                  <a:srgbClr val="5F7175"/>
                </a:solidFill>
                <a:latin typeface="맑은 고딕"/>
              </a:rPr>
              <a:t>→ 지역·하드 배제 → 결정론 정렬 → LLM 결과 판단</a:t>
            </a:r>
          </a:p>
        </p:txBody>
      </p:sp>
      <p:sp>
        <p:nvSpPr>
          <p:cNvPr id="22" name="Shape 20"/>
          <p:cNvSpPr/>
          <p:nvPr/>
        </p:nvSpPr>
        <p:spPr>
          <a:xfrm>
            <a:off x="4663440" y="2871216"/>
            <a:ext cx="3977640" cy="1389888"/>
          </a:xfrm>
          <a:prstGeom prst="roundRect">
            <a:avLst>
              <a:gd name="adj" fmla="val 7895"/>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3" name="Text 21"/>
          <p:cNvSpPr/>
          <p:nvPr/>
        </p:nvSpPr>
        <p:spPr>
          <a:xfrm>
            <a:off x="4846320" y="2999232"/>
            <a:ext cx="457200" cy="274320"/>
          </a:xfrm>
          <a:prstGeom prst="rect">
            <a:avLst/>
          </a:prstGeom>
          <a:noFill/>
          <a:ln/>
        </p:spPr>
        <p:txBody>
          <a:bodyPr wrap="square" lIns="0" tIns="0" rIns="0" bIns="0" rtlCol="0" anchor="ctr"/>
          <a:lstStyle/>
          <a:p>
            <a:pPr marL="0" indent="0">
              <a:buNone/>
            </a:pPr>
            <a:r>
              <a:rPr lang="en-US" sz="1200" b="1" dirty="0">
                <a:solidFill>
                  <a:srgbClr val="C3D6D2"/>
                </a:solidFill>
                <a:latin typeface="맑은 고딕" pitchFamily="34" charset="0"/>
                <a:ea typeface="맑은 고딕" pitchFamily="34" charset="-122"/>
                <a:cs typeface="맑은 고딕" pitchFamily="34" charset="-120"/>
              </a:rPr>
              <a:t>04</a:t>
            </a:r>
            <a:endParaRPr lang="en-US" sz="1200" dirty="0"/>
          </a:p>
        </p:txBody>
      </p:sp>
      <p:sp>
        <p:nvSpPr>
          <p:cNvPr id="24" name="Text 22"/>
          <p:cNvSpPr/>
          <p:nvPr/>
        </p:nvSpPr>
        <p:spPr>
          <a:xfrm>
            <a:off x="5303520" y="2999232"/>
            <a:ext cx="1280160" cy="274320"/>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근거 보기</a:t>
            </a:r>
            <a:endParaRPr lang="en-US" sz="1250" dirty="0"/>
          </a:p>
        </p:txBody>
      </p:sp>
      <p:sp>
        <p:nvSpPr>
          <p:cNvPr id="25" name="Shape 23"/>
          <p:cNvSpPr/>
          <p:nvPr/>
        </p:nvSpPr>
        <p:spPr>
          <a:xfrm>
            <a:off x="6583680" y="2990088"/>
            <a:ext cx="1874520" cy="292608"/>
          </a:xfrm>
          <a:prstGeom prst="roundRect">
            <a:avLst>
              <a:gd name="adj" fmla="val 50000"/>
            </a:avLst>
          </a:prstGeom>
          <a:solidFill>
            <a:srgbClr val="E7F3F1"/>
          </a:solidFill>
          <a:ln w="12700">
            <a:solidFill>
              <a:srgbClr val="333333"/>
            </a:solidFill>
            <a:prstDash val="solid"/>
          </a:ln>
        </p:spPr>
        <p:txBody>
          <a:bodyPr/>
          <a:lstStyle/>
          <a:p>
            <a:endParaRPr lang="ko-KR" altLang="en-US"/>
          </a:p>
        </p:txBody>
      </p:sp>
      <p:sp>
        <p:nvSpPr>
          <p:cNvPr id="26" name="Text 24"/>
          <p:cNvSpPr/>
          <p:nvPr/>
        </p:nvSpPr>
        <p:spPr>
          <a:xfrm>
            <a:off x="6583680" y="2990088"/>
            <a:ext cx="1874520" cy="292608"/>
          </a:xfrm>
          <a:prstGeom prst="rect">
            <a:avLst/>
          </a:prstGeom>
          <a:noFill/>
          <a:ln/>
        </p:spPr>
        <p:txBody>
          <a:bodyPr wrap="square" lIns="0" tIns="0" rIns="0" bIns="0" rtlCol="0" anchor="ctr"/>
          <a:lstStyle/>
          <a:p>
            <a:pPr marL="0" indent="0" algn="ctr">
              <a:buNone/>
            </a:pPr>
            <a:r>
              <a:rPr lang="en-US" sz="900" b="1" dirty="0">
                <a:solidFill>
                  <a:srgbClr val="0F5257"/>
                </a:solidFill>
                <a:latin typeface="맑은 고딕" pitchFamily="34" charset="0"/>
                <a:ea typeface="맑은 고딕" pitchFamily="34" charset="-122"/>
                <a:cs typeface="맑은 고딕" pitchFamily="34" charset="-120"/>
              </a:rPr>
              <a:t>/evidence</a:t>
            </a:r>
            <a:endParaRPr lang="en-US" sz="900" dirty="0"/>
          </a:p>
        </p:txBody>
      </p:sp>
      <p:sp>
        <p:nvSpPr>
          <p:cNvPr id="27" name="Text 25"/>
          <p:cNvSpPr/>
          <p:nvPr/>
        </p:nvSpPr>
        <p:spPr>
          <a:xfrm>
            <a:off x="4846320" y="3374136"/>
            <a:ext cx="3611880" cy="731520"/>
          </a:xfrm>
          <a:prstGeom prst="rect">
            <a:avLst/>
          </a:prstGeom>
          <a:noFill/>
          <a:ln/>
        </p:spPr>
        <p:txBody>
          <a:bodyPr wrap="square" lIns="0" tIns="0" rIns="0" bIns="0" rtlCol="0" anchor="ctr"/>
          <a:lstStyle/>
          <a:p>
            <a:pPr marL="0" indent="0">
              <a:lnSpc>
                <a:spcPts val="1500"/>
              </a:lnSpc>
              <a:buNone/>
            </a:pPr>
            <a:r>
              <a:rPr sz="950">
                <a:solidFill>
                  <a:srgbClr val="5F7175"/>
                </a:solidFill>
                <a:latin typeface="맑은 고딕"/>
              </a:rPr>
              <a:t>사전 인덱스에서 블로그·카카오 원문을 조회한다.</a:t>
            </a:r>
            <a:endParaRPr lang="en-US" sz="950" dirty="0"/>
          </a:p>
          <a:p>
            <a:pPr/>
            <a:r>
              <a:rPr sz="950">
                <a:solidFill>
                  <a:srgbClr val="5F7175"/>
                </a:solidFill>
                <a:latin typeface="맑은 고딕"/>
              </a:rPr>
              <a:t>긍정·부정 리뷰를 각각 표시하고, 인용은 코드로 검증한다</a:t>
            </a:r>
          </a:p>
        </p:txBody>
      </p:sp>
      <p:sp>
        <p:nvSpPr>
          <p:cNvPr id="30" name="Text 28"/>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1" name="Text 29"/>
          <p:cNvSpPr/>
          <p:nvPr/>
        </p:nvSpPr>
        <p:spPr>
          <a:xfrm>
            <a:off x="8092440" y="4718304"/>
            <a:ext cx="548640" cy="256032"/>
          </a:xfrm>
          <a:prstGeom prst="rect">
            <a:avLst/>
          </a:prstGeom>
          <a:noFill/>
          <a:ln/>
        </p:spPr>
        <p:txBody>
          <a:bodyPr wrap="square" lIns="0" tIns="0" rIns="0" bIns="0" rtlCol="0" anchor="ctr"/>
          <a:lstStyle/>
          <a:p>
            <a:pPr marL="0" indent="0" algn="r">
              <a:buNone/>
            </a:pPr>
            <a:r>
              <a:rPr sz="1100" b="1">
                <a:solidFill>
                  <a:srgbClr val="168A7E"/>
                </a:solidFill>
                <a:latin typeface="맑은 고딕"/>
              </a:rPr>
              <a:t>16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0F5257"/>
        </a:solidFill>
        <a:effectLst/>
      </p:bgPr>
    </p:bg>
    <p:spTree>
      <p:nvGrpSpPr>
        <p:cNvPr id="1" name=""/>
        <p:cNvGrpSpPr/>
        <p:nvPr/>
      </p:nvGrpSpPr>
      <p:grpSpPr>
        <a:xfrm>
          <a:off x="0" y="0"/>
          <a:ext cx="0" cy="0"/>
          <a:chOff x="0" y="0"/>
          <a:chExt cx="0" cy="0"/>
        </a:xfrm>
      </p:grpSpPr>
      <p:pic>
        <p:nvPicPr>
          <p:cNvPr id="2" name="Image 0" descr="img/window.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263640" y="502920"/>
            <a:ext cx="2651760" cy="2651760"/>
          </a:xfrm>
          <a:prstGeom prst="ellipse">
            <a:avLst/>
          </a:prstGeom>
        </p:spPr>
      </p:pic>
      <p:sp>
        <p:nvSpPr>
          <p:cNvPr id="3" name="Text 0"/>
          <p:cNvSpPr/>
          <p:nvPr/>
        </p:nvSpPr>
        <p:spPr>
          <a:xfrm>
            <a:off x="548640" y="457200"/>
            <a:ext cx="4572000" cy="274320"/>
          </a:xfrm>
          <a:prstGeom prst="rect">
            <a:avLst/>
          </a:prstGeom>
          <a:noFill/>
          <a:ln/>
        </p:spPr>
        <p:txBody>
          <a:bodyPr wrap="square" lIns="0" tIns="0" rIns="0" bIns="0" rtlCol="0" anchor="ctr"/>
          <a:lstStyle/>
          <a:p>
            <a:pPr marL="0" indent="0">
              <a:buNone/>
            </a:pPr>
            <a:r>
              <a:rPr lang="en-US" sz="1100" b="1" kern="0" spc="200" dirty="0">
                <a:solidFill>
                  <a:srgbClr val="6FD0C0"/>
                </a:solidFill>
                <a:latin typeface="맑은 고딕" pitchFamily="34" charset="0"/>
                <a:ea typeface="맑은 고딕" pitchFamily="34" charset="-122"/>
                <a:cs typeface="맑은 고딕" pitchFamily="34" charset="-120"/>
              </a:rPr>
              <a:t>09  INSIGHT</a:t>
            </a:r>
            <a:endParaRPr lang="en-US" sz="1100" dirty="0"/>
          </a:p>
        </p:txBody>
      </p:sp>
      <p:sp>
        <p:nvSpPr>
          <p:cNvPr id="4" name="Text 1"/>
          <p:cNvSpPr/>
          <p:nvPr/>
        </p:nvSpPr>
        <p:spPr>
          <a:xfrm>
            <a:off x="548640" y="777240"/>
            <a:ext cx="5303520" cy="548640"/>
          </a:xfrm>
          <a:prstGeom prst="rect">
            <a:avLst/>
          </a:prstGeom>
          <a:noFill/>
          <a:ln/>
        </p:spPr>
        <p:txBody>
          <a:bodyPr wrap="square" lIns="0" tIns="0" rIns="0" bIns="0" rtlCol="0" anchor="ctr"/>
          <a:lstStyle/>
          <a:p>
            <a:pPr marL="0" indent="0">
              <a:buNone/>
            </a:pPr>
            <a:r>
              <a:rPr lang="ko-KR" altLang="en-US" sz="3000" b="1" dirty="0">
                <a:solidFill>
                  <a:srgbClr val="FFFFFF"/>
                </a:solidFill>
                <a:latin typeface="맑은 고딕" pitchFamily="34" charset="0"/>
                <a:ea typeface="맑은 고딕" pitchFamily="34" charset="-122"/>
                <a:cs typeface="맑은 고딕" pitchFamily="34" charset="-120"/>
              </a:rPr>
              <a:t>９６시간</a:t>
            </a:r>
            <a:r>
              <a:rPr lang="en-US" sz="3000" b="1" dirty="0">
                <a:solidFill>
                  <a:srgbClr val="FFFFFF"/>
                </a:solidFill>
                <a:latin typeface="맑은 고딕" pitchFamily="34" charset="0"/>
                <a:ea typeface="맑은 고딕" pitchFamily="34" charset="-122"/>
                <a:cs typeface="맑은 고딕" pitchFamily="34" charset="-120"/>
              </a:rPr>
              <a:t>을 세 줄로</a:t>
            </a:r>
            <a:endParaRPr lang="en-US" sz="3000" dirty="0"/>
          </a:p>
        </p:txBody>
      </p:sp>
      <p:sp>
        <p:nvSpPr>
          <p:cNvPr id="5" name="Shape 2"/>
          <p:cNvSpPr/>
          <p:nvPr/>
        </p:nvSpPr>
        <p:spPr>
          <a:xfrm>
            <a:off x="548640" y="1600200"/>
            <a:ext cx="5486400" cy="868680"/>
          </a:xfrm>
          <a:prstGeom prst="roundRect">
            <a:avLst>
              <a:gd name="adj" fmla="val 10526"/>
            </a:avLst>
          </a:prstGeom>
          <a:solidFill>
            <a:srgbClr val="14646A"/>
          </a:solidFill>
          <a:ln w="12700">
            <a:solidFill>
              <a:srgbClr val="333333"/>
            </a:solidFill>
            <a:prstDash val="solid"/>
          </a:ln>
        </p:spPr>
        <p:txBody>
          <a:bodyPr/>
          <a:lstStyle/>
          <a:p>
            <a:endParaRPr lang="ko-KR" altLang="en-US"/>
          </a:p>
        </p:txBody>
      </p:sp>
      <p:sp>
        <p:nvSpPr>
          <p:cNvPr id="6" name="Shape 3"/>
          <p:cNvSpPr/>
          <p:nvPr/>
        </p:nvSpPr>
        <p:spPr>
          <a:xfrm>
            <a:off x="731520" y="1819656"/>
            <a:ext cx="420624" cy="420624"/>
          </a:xfrm>
          <a:prstGeom prst="ellipse">
            <a:avLst/>
          </a:prstGeom>
          <a:solidFill>
            <a:srgbClr val="E8842B"/>
          </a:solidFill>
          <a:ln w="12700">
            <a:solidFill>
              <a:srgbClr val="E8842B"/>
            </a:solidFill>
            <a:prstDash val="solid"/>
          </a:ln>
        </p:spPr>
        <p:txBody>
          <a:bodyPr/>
          <a:lstStyle/>
          <a:p>
            <a:endParaRPr lang="ko-KR" altLang="en-US"/>
          </a:p>
        </p:txBody>
      </p:sp>
      <p:sp>
        <p:nvSpPr>
          <p:cNvPr id="7" name="Text 4"/>
          <p:cNvSpPr/>
          <p:nvPr/>
        </p:nvSpPr>
        <p:spPr>
          <a:xfrm>
            <a:off x="731520" y="181965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8" name="Text 5"/>
          <p:cNvSpPr/>
          <p:nvPr/>
        </p:nvSpPr>
        <p:spPr>
          <a:xfrm>
            <a:off x="1298448" y="1709928"/>
            <a:ext cx="4480560" cy="310896"/>
          </a:xfrm>
          <a:prstGeom prst="rect">
            <a:avLst/>
          </a:prstGeom>
          <a:noFill/>
          <a:ln/>
        </p:spPr>
        <p:txBody>
          <a:bodyPr wrap="square" lIns="0" tIns="0" rIns="0" bIns="0" rtlCol="0" anchor="ctr"/>
          <a:lstStyle/>
          <a:p>
            <a:pPr marL="0" indent="0">
              <a:buNone/>
            </a:pPr>
            <a:r>
              <a:rPr lang="en-US" sz="1350" b="1" dirty="0">
                <a:solidFill>
                  <a:srgbClr val="FFFFFF"/>
                </a:solidFill>
                <a:latin typeface="맑은 고딕" pitchFamily="34" charset="0"/>
                <a:ea typeface="맑은 고딕" pitchFamily="34" charset="-122"/>
                <a:cs typeface="맑은 고딕" pitchFamily="34" charset="-120"/>
              </a:rPr>
              <a:t>판단은 LLM, 사실과 강제는 코드</a:t>
            </a:r>
            <a:endParaRPr lang="en-US" sz="1350" dirty="0"/>
          </a:p>
        </p:txBody>
      </p:sp>
      <p:sp>
        <p:nvSpPr>
          <p:cNvPr id="9" name="Text 6"/>
          <p:cNvSpPr/>
          <p:nvPr/>
        </p:nvSpPr>
        <p:spPr>
          <a:xfrm>
            <a:off x="1298448" y="2020824"/>
            <a:ext cx="4526280" cy="347472"/>
          </a:xfrm>
          <a:prstGeom prst="rect">
            <a:avLst/>
          </a:prstGeom>
          <a:noFill/>
          <a:ln/>
        </p:spPr>
        <p:txBody>
          <a:bodyPr wrap="square" lIns="0" tIns="0" rIns="0" bIns="0" rtlCol="0" anchor="ctr"/>
          <a:lstStyle/>
          <a:p>
            <a:pPr marL="0" indent="0">
              <a:buNone/>
            </a:pPr>
            <a:r>
              <a:rPr lang="en-US" sz="950" dirty="0">
                <a:solidFill>
                  <a:srgbClr val="A9D3CD"/>
                </a:solidFill>
                <a:latin typeface="맑은 고딕" pitchFamily="34" charset="0"/>
                <a:ea typeface="맑은 고딕" pitchFamily="34" charset="-122"/>
                <a:cs typeface="맑은 고딕" pitchFamily="34" charset="-120"/>
              </a:rPr>
              <a:t>요약·분류는 맡기되 식별자·숫자·사전 준수·인용 검증은 코드가 쥔다</a:t>
            </a:r>
            <a:endParaRPr lang="en-US" sz="950" dirty="0"/>
          </a:p>
        </p:txBody>
      </p:sp>
      <p:sp>
        <p:nvSpPr>
          <p:cNvPr id="10" name="Shape 7"/>
          <p:cNvSpPr/>
          <p:nvPr/>
        </p:nvSpPr>
        <p:spPr>
          <a:xfrm>
            <a:off x="548640" y="2624328"/>
            <a:ext cx="5486400" cy="868680"/>
          </a:xfrm>
          <a:prstGeom prst="roundRect">
            <a:avLst>
              <a:gd name="adj" fmla="val 10526"/>
            </a:avLst>
          </a:prstGeom>
          <a:solidFill>
            <a:srgbClr val="14646A"/>
          </a:solidFill>
          <a:ln w="12700">
            <a:solidFill>
              <a:srgbClr val="333333"/>
            </a:solidFill>
            <a:prstDash val="solid"/>
          </a:ln>
        </p:spPr>
        <p:txBody>
          <a:bodyPr/>
          <a:lstStyle/>
          <a:p>
            <a:endParaRPr lang="ko-KR" altLang="en-US"/>
          </a:p>
        </p:txBody>
      </p:sp>
      <p:sp>
        <p:nvSpPr>
          <p:cNvPr id="11" name="Shape 8"/>
          <p:cNvSpPr/>
          <p:nvPr/>
        </p:nvSpPr>
        <p:spPr>
          <a:xfrm>
            <a:off x="731520" y="2843784"/>
            <a:ext cx="420624" cy="420624"/>
          </a:xfrm>
          <a:prstGeom prst="ellipse">
            <a:avLst/>
          </a:prstGeom>
          <a:solidFill>
            <a:srgbClr val="E8842B"/>
          </a:solidFill>
          <a:ln w="12700">
            <a:solidFill>
              <a:srgbClr val="E8842B"/>
            </a:solidFill>
            <a:prstDash val="solid"/>
          </a:ln>
        </p:spPr>
        <p:txBody>
          <a:bodyPr/>
          <a:lstStyle/>
          <a:p>
            <a:endParaRPr lang="ko-KR" altLang="en-US"/>
          </a:p>
        </p:txBody>
      </p:sp>
      <p:sp>
        <p:nvSpPr>
          <p:cNvPr id="12" name="Text 9"/>
          <p:cNvSpPr/>
          <p:nvPr/>
        </p:nvSpPr>
        <p:spPr>
          <a:xfrm>
            <a:off x="731520" y="284378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3" name="Text 10"/>
          <p:cNvSpPr/>
          <p:nvPr/>
        </p:nvSpPr>
        <p:spPr>
          <a:xfrm>
            <a:off x="1298448" y="2734056"/>
            <a:ext cx="4480560" cy="310896"/>
          </a:xfrm>
          <a:prstGeom prst="rect">
            <a:avLst/>
          </a:prstGeom>
          <a:noFill/>
          <a:ln/>
        </p:spPr>
        <p:txBody>
          <a:bodyPr wrap="square" lIns="0" tIns="0" rIns="0" bIns="0" rtlCol="0" anchor="ctr"/>
          <a:lstStyle/>
          <a:p>
            <a:pPr marL="0" indent="0">
              <a:buNone/>
            </a:pPr>
            <a:r>
              <a:rPr lang="en-US" sz="1350" b="1" dirty="0">
                <a:solidFill>
                  <a:srgbClr val="FFFFFF"/>
                </a:solidFill>
                <a:latin typeface="맑은 고딕" pitchFamily="34" charset="0"/>
                <a:ea typeface="맑은 고딕" pitchFamily="34" charset="-122"/>
                <a:cs typeface="맑은 고딕" pitchFamily="34" charset="-120"/>
              </a:rPr>
              <a:t>층을 옮기면 독이 약이 된다</a:t>
            </a:r>
            <a:endParaRPr lang="en-US" sz="1350" dirty="0"/>
          </a:p>
        </p:txBody>
      </p:sp>
      <p:sp>
        <p:nvSpPr>
          <p:cNvPr id="14" name="Text 11"/>
          <p:cNvSpPr/>
          <p:nvPr/>
        </p:nvSpPr>
        <p:spPr>
          <a:xfrm>
            <a:off x="1298448" y="3044952"/>
            <a:ext cx="4526280" cy="347472"/>
          </a:xfrm>
          <a:prstGeom prst="rect">
            <a:avLst/>
          </a:prstGeom>
          <a:noFill/>
          <a:ln/>
        </p:spPr>
        <p:txBody>
          <a:bodyPr wrap="square" lIns="0" tIns="0" rIns="0" bIns="0" rtlCol="0" anchor="ctr"/>
          <a:lstStyle/>
          <a:p>
            <a:pPr marL="0" indent="0">
              <a:buNone/>
            </a:pPr>
            <a:r>
              <a:rPr lang="en-US" sz="950" dirty="0">
                <a:solidFill>
                  <a:srgbClr val="A9D3CD"/>
                </a:solidFill>
                <a:latin typeface="맑은 고딕" pitchFamily="34" charset="0"/>
                <a:ea typeface="맑은 고딕" pitchFamily="34" charset="-122"/>
                <a:cs typeface="맑은 고딕" pitchFamily="34" charset="-120"/>
              </a:rPr>
              <a:t>감정 데이터는 임베딩에선 만능 자석, 표시층에선 가장 정직한 근거</a:t>
            </a:r>
            <a:endParaRPr lang="en-US" sz="950" dirty="0"/>
          </a:p>
        </p:txBody>
      </p:sp>
      <p:sp>
        <p:nvSpPr>
          <p:cNvPr id="15" name="Shape 12"/>
          <p:cNvSpPr/>
          <p:nvPr/>
        </p:nvSpPr>
        <p:spPr>
          <a:xfrm>
            <a:off x="548640" y="3648456"/>
            <a:ext cx="5486400" cy="868680"/>
          </a:xfrm>
          <a:prstGeom prst="roundRect">
            <a:avLst>
              <a:gd name="adj" fmla="val 10526"/>
            </a:avLst>
          </a:prstGeom>
          <a:solidFill>
            <a:srgbClr val="14646A"/>
          </a:solidFill>
          <a:ln w="12700">
            <a:solidFill>
              <a:srgbClr val="333333"/>
            </a:solidFill>
            <a:prstDash val="solid"/>
          </a:ln>
        </p:spPr>
        <p:txBody>
          <a:bodyPr/>
          <a:lstStyle/>
          <a:p>
            <a:endParaRPr lang="ko-KR" altLang="en-US"/>
          </a:p>
        </p:txBody>
      </p:sp>
      <p:sp>
        <p:nvSpPr>
          <p:cNvPr id="16" name="Shape 13"/>
          <p:cNvSpPr/>
          <p:nvPr/>
        </p:nvSpPr>
        <p:spPr>
          <a:xfrm>
            <a:off x="731520" y="3867912"/>
            <a:ext cx="420624" cy="420624"/>
          </a:xfrm>
          <a:prstGeom prst="ellipse">
            <a:avLst/>
          </a:prstGeom>
          <a:solidFill>
            <a:srgbClr val="E8842B"/>
          </a:solidFill>
          <a:ln w="12700">
            <a:solidFill>
              <a:srgbClr val="E8842B"/>
            </a:solidFill>
            <a:prstDash val="solid"/>
          </a:ln>
        </p:spPr>
        <p:txBody>
          <a:bodyPr/>
          <a:lstStyle/>
          <a:p>
            <a:endParaRPr lang="ko-KR" altLang="en-US"/>
          </a:p>
        </p:txBody>
      </p:sp>
      <p:sp>
        <p:nvSpPr>
          <p:cNvPr id="17" name="Text 14"/>
          <p:cNvSpPr/>
          <p:nvPr/>
        </p:nvSpPr>
        <p:spPr>
          <a:xfrm>
            <a:off x="731520" y="386791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18" name="Text 15"/>
          <p:cNvSpPr/>
          <p:nvPr/>
        </p:nvSpPr>
        <p:spPr>
          <a:xfrm>
            <a:off x="1298448" y="3758184"/>
            <a:ext cx="4480560" cy="310896"/>
          </a:xfrm>
          <a:prstGeom prst="rect">
            <a:avLst/>
          </a:prstGeom>
          <a:noFill/>
          <a:ln/>
        </p:spPr>
        <p:txBody>
          <a:bodyPr wrap="square" lIns="0" tIns="0" rIns="0" bIns="0" rtlCol="0" anchor="ctr"/>
          <a:lstStyle/>
          <a:p>
            <a:pPr marL="0" indent="0">
              <a:buNone/>
            </a:pPr>
            <a:r>
              <a:rPr lang="en-US" sz="1350" b="1" dirty="0">
                <a:solidFill>
                  <a:srgbClr val="FFFFFF"/>
                </a:solidFill>
                <a:latin typeface="맑은 고딕" pitchFamily="34" charset="0"/>
                <a:ea typeface="맑은 고딕" pitchFamily="34" charset="-122"/>
                <a:cs typeface="맑은 고딕" pitchFamily="34" charset="-120"/>
              </a:rPr>
              <a:t>횟수가 아니라 사람 수를 센다</a:t>
            </a:r>
            <a:endParaRPr lang="en-US" sz="1350" dirty="0"/>
          </a:p>
        </p:txBody>
      </p:sp>
      <p:sp>
        <p:nvSpPr>
          <p:cNvPr id="19" name="Text 16"/>
          <p:cNvSpPr/>
          <p:nvPr/>
        </p:nvSpPr>
        <p:spPr>
          <a:xfrm>
            <a:off x="1298448" y="4069080"/>
            <a:ext cx="4526280" cy="347472"/>
          </a:xfrm>
          <a:prstGeom prst="rect">
            <a:avLst/>
          </a:prstGeom>
          <a:noFill/>
          <a:ln/>
        </p:spPr>
        <p:txBody>
          <a:bodyPr wrap="square" lIns="0" tIns="0" rIns="0" bIns="0" rtlCol="0" anchor="ctr"/>
          <a:lstStyle/>
          <a:p>
            <a:pPr marL="0" indent="0">
              <a:buNone/>
            </a:pPr>
            <a:r>
              <a:rPr lang="en-US" sz="950" dirty="0">
                <a:solidFill>
                  <a:srgbClr val="A9D3CD"/>
                </a:solidFill>
                <a:latin typeface="맑은 고딕" pitchFamily="34" charset="0"/>
                <a:ea typeface="맑은 고딕" pitchFamily="34" charset="-122"/>
                <a:cs typeface="맑은 고딕" pitchFamily="34" charset="-120"/>
              </a:rPr>
              <a:t>한 명이 열 번 말한 카페보다, 열 명이 한 번씩 말한 카페가 진짜다</a:t>
            </a:r>
            <a:endParaRPr lang="en-US" sz="950" dirty="0"/>
          </a:p>
        </p:txBody>
      </p:sp>
      <p:sp>
        <p:nvSpPr>
          <p:cNvPr id="20" name="Text 17"/>
          <p:cNvSpPr/>
          <p:nvPr/>
        </p:nvSpPr>
        <p:spPr>
          <a:xfrm>
            <a:off x="548640" y="4718304"/>
            <a:ext cx="3657600" cy="256032"/>
          </a:xfrm>
          <a:prstGeom prst="rect">
            <a:avLst/>
          </a:prstGeom>
          <a:noFill/>
          <a:ln/>
        </p:spPr>
        <p:txBody>
          <a:bodyPr wrap="square" lIns="0" tIns="0" rIns="0" bIns="0" rtlCol="0" anchor="ctr"/>
          <a:lstStyle/>
          <a:p>
            <a:pPr marL="0" indent="0">
              <a:buNone/>
            </a:pPr>
            <a:r>
              <a:rPr lang="en-US" sz="900" dirty="0">
                <a:solidFill>
                  <a:srgbClr val="5D8F8B"/>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21" name="Text 18"/>
          <p:cNvSpPr/>
          <p:nvPr/>
        </p:nvSpPr>
        <p:spPr>
          <a:xfrm>
            <a:off x="8092440" y="4718304"/>
            <a:ext cx="548640" cy="256032"/>
          </a:xfrm>
          <a:prstGeom prst="rect">
            <a:avLst/>
          </a:prstGeom>
          <a:noFill/>
          <a:ln/>
        </p:spPr>
        <p:txBody>
          <a:bodyPr wrap="square" lIns="0" tIns="0" rIns="0" bIns="0" rtlCol="0" anchor="ctr"/>
          <a:lstStyle/>
          <a:p>
            <a:pPr marL="0" indent="0" algn="r">
              <a:buNone/>
            </a:pPr>
            <a:r>
              <a:rPr sz="1100" b="1">
                <a:solidFill>
                  <a:srgbClr val="6FD0C0"/>
                </a:solidFill>
                <a:latin typeface="맑은 고딕"/>
              </a:rPr>
              <a:t>17</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10  LIMITATIONS &amp; NEXT</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지금 못 하는 것, 다음에 할 것</a:t>
            </a:r>
            <a:endParaRPr lang="en-US" sz="2700" dirty="0"/>
          </a:p>
        </p:txBody>
      </p:sp>
      <p:sp>
        <p:nvSpPr>
          <p:cNvPr id="4" name="Text 2"/>
          <p:cNvSpPr/>
          <p:nvPr/>
        </p:nvSpPr>
        <p:spPr>
          <a:xfrm>
            <a:off x="502920" y="1280160"/>
            <a:ext cx="3931920" cy="274320"/>
          </a:xfrm>
          <a:prstGeom prst="rect">
            <a:avLst/>
          </a:prstGeom>
          <a:noFill/>
          <a:ln/>
        </p:spPr>
        <p:txBody>
          <a:bodyPr wrap="square" lIns="0" tIns="0" rIns="0" bIns="0" rtlCol="0" anchor="ctr"/>
          <a:lstStyle/>
          <a:p>
            <a:pPr marL="0" indent="0">
              <a:buNone/>
            </a:pPr>
            <a:r>
              <a:rPr lang="en-US" sz="1150" b="1" dirty="0">
                <a:solidFill>
                  <a:srgbClr val="E8842B"/>
                </a:solidFill>
                <a:latin typeface="맑은 고딕" pitchFamily="34" charset="0"/>
                <a:ea typeface="맑은 고딕" pitchFamily="34" charset="-122"/>
                <a:cs typeface="맑은 고딕" pitchFamily="34" charset="-120"/>
              </a:rPr>
              <a:t>현재 한계 (정직하게)</a:t>
            </a:r>
            <a:endParaRPr lang="en-US" sz="1150" dirty="0"/>
          </a:p>
        </p:txBody>
      </p:sp>
      <p:pic>
        <p:nvPicPr>
          <p:cNvPr id="5"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00944" y="1698224"/>
            <a:ext cx="96561" cy="96561"/>
          </a:xfrm>
          <a:prstGeom prst="rect">
            <a:avLst/>
          </a:prstGeom>
        </p:spPr>
      </p:pic>
      <p:sp>
        <p:nvSpPr>
          <p:cNvPr id="6" name="Text 3"/>
          <p:cNvSpPr/>
          <p:nvPr/>
        </p:nvSpPr>
        <p:spPr>
          <a:xfrm>
            <a:off x="868680" y="1591056"/>
            <a:ext cx="3657600" cy="384048"/>
          </a:xfrm>
          <a:prstGeom prst="rect">
            <a:avLst/>
          </a:prstGeom>
          <a:noFill/>
          <a:ln/>
        </p:spPr>
        <p:txBody>
          <a:bodyPr wrap="square" lIns="0" tIns="0" rIns="0" bIns="0" rtlCol="0" anchor="ctr"/>
          <a:lstStyle/>
          <a:p>
            <a:pPr marL="0" indent="0">
              <a:lnSpc>
                <a:spcPts val="1400"/>
              </a:lnSpc>
              <a:buNone/>
            </a:pPr>
            <a:r>
              <a:rPr sz="950">
                <a:solidFill>
                  <a:srgbClr val="5F7175"/>
                </a:solidFill>
                <a:latin typeface="맑은 고딕"/>
              </a:rPr>
              <a:t>Gold 50에서 완화·외부 폴백 0건 — 예외 경로 검증이 부족하다</a:t>
            </a:r>
            <a:endParaRPr lang="en-US" sz="950" dirty="0"/>
          </a:p>
        </p:txBody>
      </p:sp>
      <p:pic>
        <p:nvPicPr>
          <p:cNvPr id="7" name="Image 1"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00944" y="2173712"/>
            <a:ext cx="96561" cy="96561"/>
          </a:xfrm>
          <a:prstGeom prst="rect">
            <a:avLst/>
          </a:prstGeom>
        </p:spPr>
      </p:pic>
      <p:sp>
        <p:nvSpPr>
          <p:cNvPr id="8" name="Text 4"/>
          <p:cNvSpPr/>
          <p:nvPr/>
        </p:nvSpPr>
        <p:spPr>
          <a:xfrm>
            <a:off x="868680" y="2066544"/>
            <a:ext cx="3657600" cy="384048"/>
          </a:xfrm>
          <a:prstGeom prst="rect">
            <a:avLst/>
          </a:prstGeom>
          <a:noFill/>
          <a:ln/>
        </p:spPr>
        <p:txBody>
          <a:bodyPr wrap="square" lIns="0" tIns="0" rIns="0" bIns="0" rtlCol="0" anchor="ctr"/>
          <a:lstStyle/>
          <a:p>
            <a:pPr marL="0" indent="0">
              <a:lnSpc>
                <a:spcPts val="1400"/>
              </a:lnSpc>
              <a:buNone/>
            </a:pPr>
            <a:r>
              <a:rPr sz="950">
                <a:solidFill>
                  <a:srgbClr val="5F7175"/>
                </a:solidFill>
                <a:latin typeface="맑은 고딕"/>
              </a:rPr>
              <a:t>태그 미해석 조건이 36/50 — 조사·서술어 분리가 필요하다</a:t>
            </a:r>
            <a:endParaRPr lang="en-US" sz="950" dirty="0"/>
          </a:p>
        </p:txBody>
      </p:sp>
      <p:pic>
        <p:nvPicPr>
          <p:cNvPr id="9" name="Image 2"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00944" y="2649200"/>
            <a:ext cx="96561" cy="96561"/>
          </a:xfrm>
          <a:prstGeom prst="rect">
            <a:avLst/>
          </a:prstGeom>
        </p:spPr>
      </p:pic>
      <p:sp>
        <p:nvSpPr>
          <p:cNvPr id="10" name="Text 5"/>
          <p:cNvSpPr/>
          <p:nvPr/>
        </p:nvSpPr>
        <p:spPr>
          <a:xfrm>
            <a:off x="868680" y="2542032"/>
            <a:ext cx="3657600" cy="384048"/>
          </a:xfrm>
          <a:prstGeom prst="rect">
            <a:avLst/>
          </a:prstGeom>
          <a:noFill/>
          <a:ln/>
        </p:spPr>
        <p:txBody>
          <a:bodyPr wrap="square" lIns="0" tIns="0" rIns="0" bIns="0" rtlCol="0" anchor="ctr"/>
          <a:lstStyle/>
          <a:p>
            <a:pPr marL="0" indent="0">
              <a:lnSpc>
                <a:spcPts val="1400"/>
              </a:lnSpc>
              <a:buNone/>
            </a:pPr>
            <a:r>
              <a:rPr sz="950">
                <a:solidFill>
                  <a:srgbClr val="5F7175"/>
                </a:solidFill>
                <a:latin typeface="맑은 고딕"/>
              </a:rPr>
              <a:t>보기→숲뷰, 편한→감성 등 저신뢰 번역이 일부 남아 있다</a:t>
            </a:r>
            <a:endParaRPr lang="en-US" sz="950" dirty="0"/>
          </a:p>
        </p:txBody>
      </p:sp>
      <p:pic>
        <p:nvPicPr>
          <p:cNvPr id="11" name="Image 3"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00944" y="3124688"/>
            <a:ext cx="96561" cy="96561"/>
          </a:xfrm>
          <a:prstGeom prst="rect">
            <a:avLst/>
          </a:prstGeom>
        </p:spPr>
      </p:pic>
      <p:sp>
        <p:nvSpPr>
          <p:cNvPr id="12" name="Text 6"/>
          <p:cNvSpPr/>
          <p:nvPr/>
        </p:nvSpPr>
        <p:spPr>
          <a:xfrm>
            <a:off x="868680" y="3017520"/>
            <a:ext cx="3657600" cy="384048"/>
          </a:xfrm>
          <a:prstGeom prst="rect">
            <a:avLst/>
          </a:prstGeom>
          <a:noFill/>
          <a:ln/>
        </p:spPr>
        <p:txBody>
          <a:bodyPr wrap="square" lIns="0" tIns="0" rIns="0" bIns="0" rtlCol="0" anchor="ctr"/>
          <a:lstStyle/>
          <a:p>
            <a:pPr marL="0" indent="0">
              <a:lnSpc>
                <a:spcPts val="1400"/>
              </a:lnSpc>
              <a:buNone/>
            </a:pPr>
            <a:r>
              <a:rPr sz="950">
                <a:solidFill>
                  <a:srgbClr val="5F7175"/>
                </a:solidFill>
                <a:latin typeface="맑은 고딕"/>
              </a:rPr>
              <a:t>/agent 평균 10.39초 — 기본 검색 대비 호출 비용이 크다</a:t>
            </a:r>
            <a:endParaRPr lang="en-US" sz="950" dirty="0"/>
          </a:p>
        </p:txBody>
      </p:sp>
      <p:sp>
        <p:nvSpPr>
          <p:cNvPr id="13" name="Text 7"/>
          <p:cNvSpPr/>
          <p:nvPr/>
        </p:nvSpPr>
        <p:spPr>
          <a:xfrm>
            <a:off x="4937760" y="1280160"/>
            <a:ext cx="3703320" cy="274320"/>
          </a:xfrm>
          <a:prstGeom prst="rect">
            <a:avLst/>
          </a:prstGeom>
          <a:noFill/>
          <a:ln/>
        </p:spPr>
        <p:txBody>
          <a:bodyPr wrap="square" lIns="0" tIns="0" rIns="0" bIns="0" rtlCol="0" anchor="ctr"/>
          <a:lstStyle/>
          <a:p>
            <a:pPr marL="0" indent="0">
              <a:buNone/>
            </a:pPr>
            <a:r>
              <a:rPr lang="en-US" sz="1150" b="1" dirty="0">
                <a:solidFill>
                  <a:srgbClr val="168A7E"/>
                </a:solidFill>
                <a:latin typeface="맑은 고딕" pitchFamily="34" charset="0"/>
                <a:ea typeface="맑은 고딕" pitchFamily="34" charset="-122"/>
                <a:cs typeface="맑은 고딕" pitchFamily="34" charset="-120"/>
              </a:rPr>
              <a:t>로드맵</a:t>
            </a:r>
            <a:endParaRPr lang="en-US" sz="1150" dirty="0"/>
          </a:p>
        </p:txBody>
      </p:sp>
      <p:sp>
        <p:nvSpPr>
          <p:cNvPr id="14" name="Shape 8"/>
          <p:cNvSpPr/>
          <p:nvPr/>
        </p:nvSpPr>
        <p:spPr>
          <a:xfrm>
            <a:off x="4937760" y="1627632"/>
            <a:ext cx="3703320" cy="621792"/>
          </a:xfrm>
          <a:prstGeom prst="roundRect">
            <a:avLst>
              <a:gd name="adj" fmla="val 13235"/>
            </a:avLst>
          </a:prstGeom>
          <a:solidFill>
            <a:srgbClr val="FBEEE0"/>
          </a:solidFill>
          <a:ln w="9525">
            <a:solidFill>
              <a:srgbClr val="DCE6E3"/>
            </a:solidFill>
            <a:prstDash val="solid"/>
          </a:ln>
        </p:spPr>
        <p:txBody>
          <a:bodyPr/>
          <a:lstStyle/>
          <a:p>
            <a:endParaRPr lang="ko-KR" altLang="en-US"/>
          </a:p>
        </p:txBody>
      </p:sp>
      <p:sp>
        <p:nvSpPr>
          <p:cNvPr id="15" name="Shape 9"/>
          <p:cNvSpPr/>
          <p:nvPr/>
        </p:nvSpPr>
        <p:spPr>
          <a:xfrm>
            <a:off x="5074920" y="1773936"/>
            <a:ext cx="329184" cy="329184"/>
          </a:xfrm>
          <a:prstGeom prst="ellipse">
            <a:avLst/>
          </a:prstGeom>
          <a:solidFill>
            <a:srgbClr val="E8842B"/>
          </a:solidFill>
          <a:ln w="12700">
            <a:solidFill>
              <a:srgbClr val="E8842B"/>
            </a:solidFill>
            <a:prstDash val="solid"/>
          </a:ln>
        </p:spPr>
        <p:txBody>
          <a:bodyPr/>
          <a:lstStyle/>
          <a:p>
            <a:endParaRPr lang="ko-KR" altLang="en-US"/>
          </a:p>
        </p:txBody>
      </p:sp>
      <p:sp>
        <p:nvSpPr>
          <p:cNvPr id="16" name="Text 10"/>
          <p:cNvSpPr/>
          <p:nvPr/>
        </p:nvSpPr>
        <p:spPr>
          <a:xfrm>
            <a:off x="5074920" y="1773936"/>
            <a:ext cx="329184" cy="329184"/>
          </a:xfrm>
          <a:prstGeom prst="rect">
            <a:avLst/>
          </a:prstGeom>
          <a:noFill/>
          <a:ln/>
        </p:spPr>
        <p:txBody>
          <a:bodyPr wrap="square" lIns="0" tIns="0" rIns="0" bIns="0" rtlCol="0" anchor="ctr"/>
          <a:lstStyle/>
          <a:p>
            <a:pPr marL="0" indent="0" algn="ctr">
              <a:buNone/>
            </a:pPr>
            <a:r>
              <a:rPr lang="en-US" sz="750" b="1" dirty="0">
                <a:solidFill>
                  <a:srgbClr val="FFFFFF"/>
                </a:solidFill>
                <a:latin typeface="맑은 고딕" pitchFamily="34" charset="0"/>
                <a:ea typeface="맑은 고딕" pitchFamily="34" charset="-122"/>
                <a:cs typeface="맑은 고딕" pitchFamily="34" charset="-120"/>
              </a:rPr>
              <a:t>즉시</a:t>
            </a:r>
            <a:endParaRPr lang="en-US" sz="750" dirty="0"/>
          </a:p>
        </p:txBody>
      </p:sp>
      <p:sp>
        <p:nvSpPr>
          <p:cNvPr id="17" name="Text 11"/>
          <p:cNvSpPr/>
          <p:nvPr/>
        </p:nvSpPr>
        <p:spPr>
          <a:xfrm>
            <a:off x="5504688" y="1682496"/>
            <a:ext cx="3017520" cy="512064"/>
          </a:xfrm>
          <a:prstGeom prst="rect">
            <a:avLst/>
          </a:prstGeom>
          <a:noFill/>
          <a:ln/>
        </p:spPr>
        <p:txBody>
          <a:bodyPr wrap="square" lIns="0" tIns="0" rIns="0" bIns="0" rtlCol="0" anchor="ctr"/>
          <a:lstStyle/>
          <a:p>
            <a:pPr marL="0" indent="0">
              <a:lnSpc>
                <a:spcPts val="1400"/>
              </a:lnSpc>
              <a:buNone/>
            </a:pPr>
            <a:r>
              <a:rPr sz="950">
                <a:solidFill>
                  <a:srgbClr val="1F2933"/>
                </a:solidFill>
                <a:latin typeface="맑은 고딕"/>
              </a:rPr>
              <a:t>P0 — V4 guarded core를 기본 검색으로 유지</a:t>
            </a:r>
            <a:endParaRPr lang="en-US" sz="950" dirty="0"/>
          </a:p>
        </p:txBody>
      </p:sp>
      <p:sp>
        <p:nvSpPr>
          <p:cNvPr id="18" name="Shape 12"/>
          <p:cNvSpPr/>
          <p:nvPr/>
        </p:nvSpPr>
        <p:spPr>
          <a:xfrm>
            <a:off x="4937760" y="2359152"/>
            <a:ext cx="3703320" cy="621792"/>
          </a:xfrm>
          <a:prstGeom prst="roundRect">
            <a:avLst>
              <a:gd name="adj" fmla="val 13235"/>
            </a:avLst>
          </a:prstGeom>
          <a:solidFill>
            <a:srgbClr val="F4FAF9"/>
          </a:solidFill>
          <a:ln w="9525">
            <a:solidFill>
              <a:srgbClr val="DCE6E3"/>
            </a:solidFill>
            <a:prstDash val="solid"/>
          </a:ln>
        </p:spPr>
        <p:txBody>
          <a:bodyPr/>
          <a:lstStyle/>
          <a:p>
            <a:endParaRPr lang="ko-KR" altLang="en-US"/>
          </a:p>
        </p:txBody>
      </p:sp>
      <p:sp>
        <p:nvSpPr>
          <p:cNvPr id="19" name="Shape 13"/>
          <p:cNvSpPr/>
          <p:nvPr/>
        </p:nvSpPr>
        <p:spPr>
          <a:xfrm>
            <a:off x="5074920" y="2505456"/>
            <a:ext cx="329184" cy="329184"/>
          </a:xfrm>
          <a:prstGeom prst="ellipse">
            <a:avLst/>
          </a:prstGeom>
          <a:solidFill>
            <a:srgbClr val="168A7E"/>
          </a:solidFill>
          <a:ln w="12700">
            <a:solidFill>
              <a:srgbClr val="168A7E"/>
            </a:solidFill>
            <a:prstDash val="solid"/>
          </a:ln>
        </p:spPr>
        <p:txBody>
          <a:bodyPr/>
          <a:lstStyle/>
          <a:p>
            <a:endParaRPr lang="ko-KR" altLang="en-US"/>
          </a:p>
        </p:txBody>
      </p:sp>
      <p:sp>
        <p:nvSpPr>
          <p:cNvPr id="20" name="Text 14"/>
          <p:cNvSpPr/>
          <p:nvPr/>
        </p:nvSpPr>
        <p:spPr>
          <a:xfrm>
            <a:off x="5074920" y="2505456"/>
            <a:ext cx="329184" cy="329184"/>
          </a:xfrm>
          <a:prstGeom prst="rect">
            <a:avLst/>
          </a:prstGeom>
          <a:noFill/>
          <a:ln/>
        </p:spPr>
        <p:txBody>
          <a:bodyPr wrap="square" lIns="0" tIns="0" rIns="0" bIns="0" rtlCol="0" anchor="ctr"/>
          <a:lstStyle/>
          <a:p>
            <a:pPr marL="0" indent="0" algn="ctr">
              <a:buNone/>
            </a:pPr>
            <a:r>
              <a:rPr lang="en-US" sz="750" b="1" dirty="0">
                <a:solidFill>
                  <a:srgbClr val="FFFFFF"/>
                </a:solidFill>
                <a:latin typeface="맑은 고딕" pitchFamily="34" charset="0"/>
                <a:ea typeface="맑은 고딕" pitchFamily="34" charset="-122"/>
                <a:cs typeface="맑은 고딕" pitchFamily="34" charset="-120"/>
              </a:rPr>
              <a:t>1주</a:t>
            </a:r>
            <a:endParaRPr lang="en-US" sz="750" dirty="0"/>
          </a:p>
        </p:txBody>
      </p:sp>
      <p:sp>
        <p:nvSpPr>
          <p:cNvPr id="21" name="Text 15"/>
          <p:cNvSpPr/>
          <p:nvPr/>
        </p:nvSpPr>
        <p:spPr>
          <a:xfrm>
            <a:off x="5504688" y="2414016"/>
            <a:ext cx="3017520" cy="512064"/>
          </a:xfrm>
          <a:prstGeom prst="rect">
            <a:avLst/>
          </a:prstGeom>
          <a:noFill/>
          <a:ln/>
        </p:spPr>
        <p:txBody>
          <a:bodyPr wrap="square" lIns="0" tIns="0" rIns="0" bIns="0" rtlCol="0" anchor="ctr"/>
          <a:lstStyle/>
          <a:p>
            <a:pPr marL="0" indent="0">
              <a:lnSpc>
                <a:spcPts val="1400"/>
              </a:lnSpc>
              <a:buNone/>
            </a:pPr>
            <a:r>
              <a:rPr sz="950">
                <a:solidFill>
                  <a:srgbClr val="1F2933"/>
                </a:solidFill>
                <a:latin typeface="맑은 고딕"/>
              </a:rPr>
              <a:t>저신뢰·0건일 때만 /agent 조건부 호출</a:t>
            </a:r>
            <a:endParaRPr lang="en-US" sz="950" dirty="0"/>
          </a:p>
        </p:txBody>
      </p:sp>
      <p:sp>
        <p:nvSpPr>
          <p:cNvPr id="22" name="Shape 16"/>
          <p:cNvSpPr/>
          <p:nvPr/>
        </p:nvSpPr>
        <p:spPr>
          <a:xfrm>
            <a:off x="4937760" y="3090672"/>
            <a:ext cx="3703320" cy="621792"/>
          </a:xfrm>
          <a:prstGeom prst="roundRect">
            <a:avLst>
              <a:gd name="adj" fmla="val 13235"/>
            </a:avLst>
          </a:prstGeom>
          <a:solidFill>
            <a:srgbClr val="F4FAF9"/>
          </a:solidFill>
          <a:ln w="9525">
            <a:solidFill>
              <a:srgbClr val="DCE6E3"/>
            </a:solidFill>
            <a:prstDash val="solid"/>
          </a:ln>
        </p:spPr>
        <p:txBody>
          <a:bodyPr/>
          <a:lstStyle/>
          <a:p>
            <a:endParaRPr lang="ko-KR" altLang="en-US"/>
          </a:p>
        </p:txBody>
      </p:sp>
      <p:sp>
        <p:nvSpPr>
          <p:cNvPr id="23" name="Shape 17"/>
          <p:cNvSpPr/>
          <p:nvPr/>
        </p:nvSpPr>
        <p:spPr>
          <a:xfrm>
            <a:off x="5074920" y="3236976"/>
            <a:ext cx="329184" cy="329184"/>
          </a:xfrm>
          <a:prstGeom prst="ellipse">
            <a:avLst/>
          </a:prstGeom>
          <a:solidFill>
            <a:srgbClr val="168A7E"/>
          </a:solidFill>
          <a:ln w="12700">
            <a:solidFill>
              <a:srgbClr val="168A7E"/>
            </a:solidFill>
            <a:prstDash val="solid"/>
          </a:ln>
        </p:spPr>
        <p:txBody>
          <a:bodyPr/>
          <a:lstStyle/>
          <a:p>
            <a:endParaRPr lang="ko-KR" altLang="en-US"/>
          </a:p>
        </p:txBody>
      </p:sp>
      <p:sp>
        <p:nvSpPr>
          <p:cNvPr id="24" name="Text 18"/>
          <p:cNvSpPr/>
          <p:nvPr/>
        </p:nvSpPr>
        <p:spPr>
          <a:xfrm>
            <a:off x="5074920" y="3236976"/>
            <a:ext cx="329184" cy="329184"/>
          </a:xfrm>
          <a:prstGeom prst="rect">
            <a:avLst/>
          </a:prstGeom>
          <a:noFill/>
          <a:ln/>
        </p:spPr>
        <p:txBody>
          <a:bodyPr wrap="square" lIns="0" tIns="0" rIns="0" bIns="0" rtlCol="0" anchor="ctr"/>
          <a:lstStyle/>
          <a:p>
            <a:pPr marL="0" indent="0" algn="ctr">
              <a:buNone/>
            </a:pPr>
            <a:r>
              <a:rPr lang="en-US" sz="750" b="1" dirty="0">
                <a:solidFill>
                  <a:srgbClr val="FFFFFF"/>
                </a:solidFill>
                <a:latin typeface="맑은 고딕" pitchFamily="34" charset="0"/>
                <a:ea typeface="맑은 고딕" pitchFamily="34" charset="-122"/>
                <a:cs typeface="맑은 고딕" pitchFamily="34" charset="-120"/>
              </a:rPr>
              <a:t>2주</a:t>
            </a:r>
            <a:endParaRPr lang="en-US" sz="750" dirty="0"/>
          </a:p>
        </p:txBody>
      </p:sp>
      <p:sp>
        <p:nvSpPr>
          <p:cNvPr id="25" name="Text 19"/>
          <p:cNvSpPr/>
          <p:nvPr/>
        </p:nvSpPr>
        <p:spPr>
          <a:xfrm>
            <a:off x="5504688" y="3145536"/>
            <a:ext cx="3017520" cy="512064"/>
          </a:xfrm>
          <a:prstGeom prst="rect">
            <a:avLst/>
          </a:prstGeom>
          <a:noFill/>
          <a:ln/>
        </p:spPr>
        <p:txBody>
          <a:bodyPr wrap="square" lIns="0" tIns="0" rIns="0" bIns="0" rtlCol="0" anchor="ctr"/>
          <a:lstStyle/>
          <a:p>
            <a:pPr marL="0" indent="0">
              <a:lnSpc>
                <a:spcPts val="1400"/>
              </a:lnSpc>
              <a:buNone/>
            </a:pPr>
            <a:r>
              <a:rPr sz="950">
                <a:solidFill>
                  <a:srgbClr val="1F2933"/>
                </a:solidFill>
                <a:latin typeface="맑은 고딕"/>
              </a:rPr>
              <a:t>tag translator stopword·threshold 튜닝</a:t>
            </a:r>
            <a:endParaRPr lang="en-US" sz="950" dirty="0"/>
          </a:p>
        </p:txBody>
      </p:sp>
      <p:sp>
        <p:nvSpPr>
          <p:cNvPr id="26" name="Shape 20"/>
          <p:cNvSpPr/>
          <p:nvPr/>
        </p:nvSpPr>
        <p:spPr>
          <a:xfrm>
            <a:off x="4937760" y="3822192"/>
            <a:ext cx="3703320" cy="621792"/>
          </a:xfrm>
          <a:prstGeom prst="roundRect">
            <a:avLst>
              <a:gd name="adj" fmla="val 13235"/>
            </a:avLst>
          </a:prstGeom>
          <a:solidFill>
            <a:srgbClr val="F4FAF9"/>
          </a:solidFill>
          <a:ln w="9525">
            <a:solidFill>
              <a:srgbClr val="DCE6E3"/>
            </a:solidFill>
            <a:prstDash val="solid"/>
          </a:ln>
        </p:spPr>
        <p:txBody>
          <a:bodyPr/>
          <a:lstStyle/>
          <a:p>
            <a:endParaRPr lang="ko-KR" altLang="en-US"/>
          </a:p>
        </p:txBody>
      </p:sp>
      <p:sp>
        <p:nvSpPr>
          <p:cNvPr id="27" name="Shape 21"/>
          <p:cNvSpPr/>
          <p:nvPr/>
        </p:nvSpPr>
        <p:spPr>
          <a:xfrm>
            <a:off x="5074920" y="3968496"/>
            <a:ext cx="329184" cy="329184"/>
          </a:xfrm>
          <a:prstGeom prst="ellipse">
            <a:avLst/>
          </a:prstGeom>
          <a:solidFill>
            <a:srgbClr val="0F5257"/>
          </a:solidFill>
          <a:ln w="12700">
            <a:solidFill>
              <a:srgbClr val="0F5257"/>
            </a:solidFill>
            <a:prstDash val="solid"/>
          </a:ln>
        </p:spPr>
        <p:txBody>
          <a:bodyPr/>
          <a:lstStyle/>
          <a:p>
            <a:endParaRPr lang="ko-KR" altLang="en-US"/>
          </a:p>
        </p:txBody>
      </p:sp>
      <p:sp>
        <p:nvSpPr>
          <p:cNvPr id="28" name="Text 22"/>
          <p:cNvSpPr/>
          <p:nvPr/>
        </p:nvSpPr>
        <p:spPr>
          <a:xfrm>
            <a:off x="5074920" y="3968496"/>
            <a:ext cx="329184" cy="329184"/>
          </a:xfrm>
          <a:prstGeom prst="rect">
            <a:avLst/>
          </a:prstGeom>
          <a:noFill/>
          <a:ln/>
        </p:spPr>
        <p:txBody>
          <a:bodyPr wrap="square" lIns="0" tIns="0" rIns="0" bIns="0" rtlCol="0" anchor="ctr"/>
          <a:lstStyle/>
          <a:p>
            <a:pPr marL="0" indent="0" algn="ctr">
              <a:buNone/>
            </a:pPr>
            <a:r>
              <a:rPr lang="en-US" sz="750" b="1" dirty="0">
                <a:solidFill>
                  <a:srgbClr val="FFFFFF"/>
                </a:solidFill>
                <a:latin typeface="맑은 고딕" pitchFamily="34" charset="0"/>
                <a:ea typeface="맑은 고딕" pitchFamily="34" charset="-122"/>
                <a:cs typeface="맑은 고딕" pitchFamily="34" charset="-120"/>
              </a:rPr>
              <a:t>3주</a:t>
            </a:r>
            <a:endParaRPr lang="en-US" sz="750" dirty="0"/>
          </a:p>
        </p:txBody>
      </p:sp>
      <p:sp>
        <p:nvSpPr>
          <p:cNvPr id="29" name="Text 23"/>
          <p:cNvSpPr/>
          <p:nvPr/>
        </p:nvSpPr>
        <p:spPr>
          <a:xfrm>
            <a:off x="5504688" y="3877056"/>
            <a:ext cx="3017520" cy="512064"/>
          </a:xfrm>
          <a:prstGeom prst="rect">
            <a:avLst/>
          </a:prstGeom>
          <a:noFill/>
          <a:ln/>
        </p:spPr>
        <p:txBody>
          <a:bodyPr wrap="square" lIns="0" tIns="0" rIns="0" bIns="0" rtlCol="0" anchor="ctr"/>
          <a:lstStyle/>
          <a:p>
            <a:pPr marL="0" indent="0">
              <a:lnSpc>
                <a:spcPts val="1400"/>
              </a:lnSpc>
              <a:buNone/>
            </a:pPr>
            <a:r>
              <a:rPr sz="950">
                <a:solidFill>
                  <a:srgbClr val="1F2933"/>
                </a:solidFill>
                <a:latin typeface="맑은 고딕"/>
              </a:rPr>
              <a:t>Kakao 폴백 시나리오 + Human Top-5 평가</a:t>
            </a:r>
            <a:endParaRPr lang="en-US" sz="950" dirty="0"/>
          </a:p>
        </p:txBody>
      </p:sp>
      <p:sp>
        <p:nvSpPr>
          <p:cNvPr id="30" name="Shape 24"/>
          <p:cNvSpPr/>
          <p:nvPr/>
        </p:nvSpPr>
        <p:spPr>
          <a:xfrm>
            <a:off x="502920" y="3950208"/>
            <a:ext cx="3977640" cy="594360"/>
          </a:xfrm>
          <a:prstGeom prst="roundRect">
            <a:avLst>
              <a:gd name="adj" fmla="val 15385"/>
            </a:avLst>
          </a:prstGeom>
          <a:solidFill>
            <a:srgbClr val="E7F3F1"/>
          </a:solidFill>
          <a:ln w="12700">
            <a:solidFill>
              <a:srgbClr val="333333"/>
            </a:solidFill>
            <a:prstDash val="solid"/>
          </a:ln>
        </p:spPr>
        <p:txBody>
          <a:bodyPr/>
          <a:lstStyle/>
          <a:p>
            <a:endParaRPr lang="ko-KR" altLang="en-US"/>
          </a:p>
        </p:txBody>
      </p:sp>
      <p:sp>
        <p:nvSpPr>
          <p:cNvPr id="31" name="Text 25"/>
          <p:cNvSpPr/>
          <p:nvPr/>
        </p:nvSpPr>
        <p:spPr>
          <a:xfrm>
            <a:off x="640080" y="3950208"/>
            <a:ext cx="3749040" cy="594360"/>
          </a:xfrm>
          <a:prstGeom prst="rect">
            <a:avLst/>
          </a:prstGeom>
          <a:noFill/>
          <a:ln/>
        </p:spPr>
        <p:txBody>
          <a:bodyPr wrap="square" lIns="0" tIns="0" rIns="0" bIns="0" rtlCol="0" anchor="ctr"/>
          <a:lstStyle/>
          <a:p>
            <a:pPr marL="0" indent="0">
              <a:lnSpc>
                <a:spcPts val="1500"/>
              </a:lnSpc>
              <a:buNone/>
            </a:pPr>
            <a:r>
              <a:rPr sz="950" b="1">
                <a:solidFill>
                  <a:srgbClr val="0F5257"/>
                </a:solidFill>
                <a:latin typeface="맑은 고딕"/>
              </a:rPr>
              <a:t>다음 개선의 핵심은 모델을 더 부르는 것이 아니라</a:t>
            </a:r>
            <a:endParaRPr lang="en-US" sz="950" dirty="0"/>
          </a:p>
          <a:p>
            <a:pPr/>
            <a:r>
              <a:rPr sz="950" b="1">
                <a:solidFill>
                  <a:srgbClr val="0F5257"/>
                </a:solidFill>
                <a:latin typeface="맑은 고딕"/>
              </a:rPr>
              <a:t>번역 품질과 에이전트 호출 조건을 다듬는 것이다.</a:t>
            </a:r>
          </a:p>
        </p:txBody>
      </p:sp>
      <p:sp>
        <p:nvSpPr>
          <p:cNvPr id="32" name="Text 26"/>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3" name="Text 27"/>
          <p:cNvSpPr/>
          <p:nvPr/>
        </p:nvSpPr>
        <p:spPr>
          <a:xfrm>
            <a:off x="8092440" y="4718304"/>
            <a:ext cx="548640" cy="256032"/>
          </a:xfrm>
          <a:prstGeom prst="rect">
            <a:avLst/>
          </a:prstGeom>
          <a:noFill/>
          <a:ln/>
        </p:spPr>
        <p:txBody>
          <a:bodyPr wrap="square" lIns="0" tIns="0" rIns="0" bIns="0" rtlCol="0" anchor="ctr"/>
          <a:lstStyle/>
          <a:p>
            <a:pPr marL="0" indent="0" algn="r">
              <a:buNone/>
            </a:pPr>
            <a:r>
              <a:rPr sz="1100" b="1">
                <a:solidFill>
                  <a:srgbClr val="168A7E"/>
                </a:solidFill>
                <a:latin typeface="맑은 고딕"/>
              </a:rPr>
              <a:t>18</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0F5257"/>
        </a:solidFill>
        <a:effectLst/>
      </p:bgPr>
    </p:bg>
    <p:spTree>
      <p:nvGrpSpPr>
        <p:cNvPr id="1" name=""/>
        <p:cNvGrpSpPr/>
        <p:nvPr/>
      </p:nvGrpSpPr>
      <p:grpSpPr>
        <a:xfrm>
          <a:off x="0" y="0"/>
          <a:ext cx="0" cy="0"/>
          <a:chOff x="0" y="0"/>
          <a:chExt cx="0" cy="0"/>
        </a:xfrm>
      </p:grpSpPr>
      <p:pic>
        <p:nvPicPr>
          <p:cNvPr id="2" name="Image 0" descr="img/hero.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0" y="0"/>
            <a:ext cx="4206240" cy="3154680"/>
          </a:xfrm>
          <a:prstGeom prst="rect">
            <a:avLst/>
          </a:prstGeom>
        </p:spPr>
      </p:pic>
      <p:sp>
        <p:nvSpPr>
          <p:cNvPr id="3" name="Shape 0"/>
          <p:cNvSpPr/>
          <p:nvPr/>
        </p:nvSpPr>
        <p:spPr>
          <a:xfrm>
            <a:off x="0" y="3154680"/>
            <a:ext cx="4206240" cy="1988820"/>
          </a:xfrm>
          <a:prstGeom prst="rect">
            <a:avLst/>
          </a:prstGeom>
          <a:solidFill>
            <a:srgbClr val="0B4247"/>
          </a:solidFill>
          <a:ln w="12700">
            <a:solidFill>
              <a:srgbClr val="333333"/>
            </a:solidFill>
            <a:prstDash val="solid"/>
          </a:ln>
        </p:spPr>
        <p:txBody>
          <a:bodyPr/>
          <a:lstStyle/>
          <a:p>
            <a:endParaRPr lang="ko-KR" altLang="en-US"/>
          </a:p>
        </p:txBody>
      </p:sp>
      <p:sp>
        <p:nvSpPr>
          <p:cNvPr id="4" name="Shape 1"/>
          <p:cNvSpPr/>
          <p:nvPr/>
        </p:nvSpPr>
        <p:spPr>
          <a:xfrm>
            <a:off x="411480" y="3429000"/>
            <a:ext cx="457200" cy="457200"/>
          </a:xfrm>
          <a:prstGeom prst="ellipse">
            <a:avLst/>
          </a:prstGeom>
          <a:solidFill>
            <a:srgbClr val="E8842B"/>
          </a:solidFill>
          <a:ln w="12700">
            <a:solidFill>
              <a:srgbClr val="E8842B"/>
            </a:solidFill>
            <a:prstDash val="solid"/>
          </a:ln>
        </p:spPr>
        <p:txBody>
          <a:bodyPr/>
          <a:lstStyle/>
          <a:p>
            <a:endParaRPr lang="ko-KR" altLang="en-US"/>
          </a:p>
        </p:txBody>
      </p:sp>
      <p:pic>
        <p:nvPicPr>
          <p:cNvPr id="5"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30352" y="3547872"/>
            <a:ext cx="219456" cy="219456"/>
          </a:xfrm>
          <a:prstGeom prst="rect">
            <a:avLst/>
          </a:prstGeom>
        </p:spPr>
      </p:pic>
      <p:sp>
        <p:nvSpPr>
          <p:cNvPr id="6" name="Text 2"/>
          <p:cNvSpPr/>
          <p:nvPr/>
        </p:nvSpPr>
        <p:spPr>
          <a:xfrm>
            <a:off x="411480" y="3977640"/>
            <a:ext cx="3474720" cy="731520"/>
          </a:xfrm>
          <a:prstGeom prst="rect">
            <a:avLst/>
          </a:prstGeom>
          <a:noFill/>
          <a:ln/>
        </p:spPr>
        <p:txBody>
          <a:bodyPr wrap="square" lIns="0" tIns="0" rIns="0" bIns="0" rtlCol="0" anchor="ctr"/>
          <a:lstStyle/>
          <a:p>
            <a:pPr marL="0" indent="0">
              <a:lnSpc>
                <a:spcPts val="2000"/>
              </a:lnSpc>
              <a:buNone/>
            </a:pPr>
            <a:r>
              <a:rPr lang="en-US" sz="1100" dirty="0">
                <a:solidFill>
                  <a:srgbClr val="9FCFC7"/>
                </a:solidFill>
                <a:latin typeface="맑은 고딕" pitchFamily="34" charset="0"/>
                <a:ea typeface="맑은 고딕" pitchFamily="34" charset="-122"/>
                <a:cs typeface="맑은 고딕" pitchFamily="34" charset="-120"/>
              </a:rPr>
              <a:t>좋은 말만 고르지 않습니다.</a:t>
            </a:r>
            <a:endParaRPr lang="en-US" sz="1100" dirty="0"/>
          </a:p>
          <a:p>
            <a:pPr marL="0" indent="0">
              <a:lnSpc>
                <a:spcPts val="2000"/>
              </a:lnSpc>
              <a:buNone/>
            </a:pPr>
            <a:r>
              <a:rPr lang="en-US" sz="1100" dirty="0">
                <a:solidFill>
                  <a:srgbClr val="9FCFC7"/>
                </a:solidFill>
                <a:latin typeface="맑은 고딕" pitchFamily="34" charset="0"/>
                <a:ea typeface="맑은 고딕" pitchFamily="34" charset="-122"/>
                <a:cs typeface="맑은 고딕" pitchFamily="34" charset="-120"/>
              </a:rPr>
              <a:t>아쉬운 점도, 없다는 대답도 그대로 드립니다.</a:t>
            </a:r>
            <a:endParaRPr lang="en-US" sz="1100" dirty="0"/>
          </a:p>
        </p:txBody>
      </p:sp>
      <p:sp>
        <p:nvSpPr>
          <p:cNvPr id="7" name="Text 3"/>
          <p:cNvSpPr/>
          <p:nvPr/>
        </p:nvSpPr>
        <p:spPr>
          <a:xfrm>
            <a:off x="4617720" y="388620"/>
            <a:ext cx="4023360" cy="274320"/>
          </a:xfrm>
          <a:prstGeom prst="rect">
            <a:avLst/>
          </a:prstGeom>
          <a:noFill/>
          <a:ln/>
        </p:spPr>
        <p:txBody>
          <a:bodyPr wrap="square" lIns="0" tIns="0" rIns="0" bIns="0" rtlCol="0" anchor="ctr"/>
          <a:lstStyle/>
          <a:p>
            <a:pPr marL="0" indent="0">
              <a:buNone/>
            </a:pPr>
            <a:r>
              <a:rPr lang="ko-KR" altLang="en-US" sz="1100" b="1" kern="0" spc="200" dirty="0" err="1">
                <a:solidFill>
                  <a:srgbClr val="6FD0C0"/>
                </a:solidFill>
                <a:latin typeface="맑은 고딕" pitchFamily="34" charset="0"/>
                <a:ea typeface="맑은 고딕" pitchFamily="34" charset="-122"/>
                <a:cs typeface="맑은 고딕" pitchFamily="34" charset="-120"/>
              </a:rPr>
              <a:t>클로징</a:t>
            </a:r>
            <a:endParaRPr lang="en-US" sz="1100" dirty="0"/>
          </a:p>
        </p:txBody>
      </p:sp>
      <p:sp>
        <p:nvSpPr>
          <p:cNvPr id="8" name="Text 4"/>
          <p:cNvSpPr/>
          <p:nvPr/>
        </p:nvSpPr>
        <p:spPr>
          <a:xfrm>
            <a:off x="4671582" y="615027"/>
            <a:ext cx="4023360" cy="3443405"/>
          </a:xfrm>
          <a:prstGeom prst="rect">
            <a:avLst/>
          </a:prstGeom>
          <a:noFill/>
          <a:ln/>
        </p:spPr>
        <p:txBody>
          <a:bodyPr wrap="square" lIns="0" tIns="0" rIns="0" bIns="0" rtlCol="0" anchor="ctr"/>
          <a:lstStyle/>
          <a:p>
            <a:pPr marL="0" indent="0">
              <a:lnSpc>
                <a:spcPts val="3600"/>
              </a:lnSpc>
              <a:buNone/>
            </a:pPr>
            <a:r>
              <a:rPr lang="ko-KR" altLang="en-US" sz="2100" b="1" dirty="0">
                <a:solidFill>
                  <a:srgbClr val="FFFFFF"/>
                </a:solidFill>
                <a:latin typeface="맑은 고딕" pitchFamily="34" charset="0"/>
                <a:ea typeface="맑은 고딕" pitchFamily="34" charset="-122"/>
                <a:cs typeface="맑은 고딕" pitchFamily="34" charset="-120"/>
              </a:rPr>
              <a:t>＇</a:t>
            </a:r>
            <a:r>
              <a:rPr lang="ko-KR" altLang="en-US" sz="2100" b="1" dirty="0" err="1">
                <a:solidFill>
                  <a:srgbClr val="FFFFFF"/>
                </a:solidFill>
                <a:latin typeface="맑은 고딕" pitchFamily="34" charset="0"/>
                <a:ea typeface="맑은 고딕" pitchFamily="34" charset="-122"/>
                <a:cs typeface="맑은 고딕" pitchFamily="34" charset="-120"/>
              </a:rPr>
              <a:t>카페ｉｎ제주＇가</a:t>
            </a:r>
            <a:r>
              <a:rPr lang="ko-KR" altLang="en-US" sz="2100" b="1" dirty="0">
                <a:solidFill>
                  <a:srgbClr val="FFFFFF"/>
                </a:solidFill>
                <a:latin typeface="맑은 고딕" pitchFamily="34" charset="0"/>
                <a:ea typeface="맑은 고딕" pitchFamily="34" charset="-122"/>
                <a:cs typeface="맑은 고딕" pitchFamily="34" charset="-120"/>
              </a:rPr>
              <a:t>　꿈꾸는</a:t>
            </a:r>
            <a:endParaRPr lang="en-US" altLang="ko-KR" sz="2100" b="1" dirty="0">
              <a:solidFill>
                <a:srgbClr val="FFFFFF"/>
              </a:solidFill>
              <a:latin typeface="맑은 고딕" pitchFamily="34" charset="0"/>
              <a:ea typeface="맑은 고딕" pitchFamily="34" charset="-122"/>
              <a:cs typeface="맑은 고딕" pitchFamily="34" charset="-120"/>
            </a:endParaRPr>
          </a:p>
          <a:p>
            <a:pPr marL="0" indent="0">
              <a:lnSpc>
                <a:spcPts val="3600"/>
              </a:lnSpc>
              <a:buNone/>
            </a:pPr>
            <a:r>
              <a:rPr lang="ko-KR" altLang="en-US" sz="2100" b="1" dirty="0" err="1">
                <a:solidFill>
                  <a:srgbClr val="FFFFFF"/>
                </a:solidFill>
                <a:latin typeface="맑은 고딕" pitchFamily="34" charset="0"/>
                <a:ea typeface="맑은 고딕" pitchFamily="34" charset="-122"/>
              </a:rPr>
              <a:t>고ㄹ져스한</a:t>
            </a:r>
            <a:r>
              <a:rPr lang="ko-KR" altLang="en-US" sz="2100" b="1" dirty="0">
                <a:solidFill>
                  <a:srgbClr val="FFFFFF"/>
                </a:solidFill>
                <a:latin typeface="맑은 고딕" pitchFamily="34" charset="0"/>
                <a:ea typeface="맑은 고딕" pitchFamily="34" charset="-122"/>
              </a:rPr>
              <a:t>　제주　여행！</a:t>
            </a:r>
            <a:endParaRPr lang="en-US" altLang="ko-KR" sz="2100" b="1" dirty="0">
              <a:solidFill>
                <a:srgbClr val="FFFFFF"/>
              </a:solidFill>
              <a:latin typeface="맑은 고딕" pitchFamily="34" charset="0"/>
              <a:ea typeface="맑은 고딕" pitchFamily="34" charset="-122"/>
            </a:endParaRPr>
          </a:p>
          <a:p>
            <a:pPr marL="0" indent="0">
              <a:lnSpc>
                <a:spcPts val="3600"/>
              </a:lnSpc>
              <a:buNone/>
            </a:pPr>
            <a:endParaRPr lang="en-US" altLang="ko-KR" sz="2100" b="1" dirty="0">
              <a:solidFill>
                <a:srgbClr val="FFFFFF"/>
              </a:solidFill>
              <a:latin typeface="맑은 고딕" pitchFamily="34" charset="0"/>
              <a:ea typeface="맑은 고딕" pitchFamily="34" charset="-122"/>
            </a:endParaRPr>
          </a:p>
          <a:p>
            <a:pPr marL="0" indent="0">
              <a:lnSpc>
                <a:spcPts val="3600"/>
              </a:lnSpc>
              <a:buNone/>
            </a:pPr>
            <a:r>
              <a:rPr lang="ko-KR" altLang="en-US" sz="2100" b="1" dirty="0" err="1">
                <a:solidFill>
                  <a:srgbClr val="FFFFFF"/>
                </a:solidFill>
                <a:latin typeface="맑은 고딕" pitchFamily="34" charset="0"/>
                <a:ea typeface="맑은 고딕" pitchFamily="34" charset="-122"/>
              </a:rPr>
              <a:t>ＡＩ로</a:t>
            </a:r>
            <a:r>
              <a:rPr lang="ko-KR" altLang="en-US" sz="2100" b="1" dirty="0">
                <a:solidFill>
                  <a:srgbClr val="FFFFFF"/>
                </a:solidFill>
                <a:latin typeface="맑은 고딕" pitchFamily="34" charset="0"/>
                <a:ea typeface="맑은 고딕" pitchFamily="34" charset="-122"/>
              </a:rPr>
              <a:t>　찾아주는　신뢰　정보，</a:t>
            </a:r>
            <a:endParaRPr lang="en-US" altLang="ko-KR" sz="2100" b="1" dirty="0">
              <a:solidFill>
                <a:srgbClr val="FFFFFF"/>
              </a:solidFill>
              <a:latin typeface="맑은 고딕" pitchFamily="34" charset="0"/>
              <a:ea typeface="맑은 고딕" pitchFamily="34" charset="-122"/>
            </a:endParaRPr>
          </a:p>
          <a:p>
            <a:pPr marL="0" indent="0">
              <a:lnSpc>
                <a:spcPts val="3600"/>
              </a:lnSpc>
              <a:buNone/>
            </a:pPr>
            <a:r>
              <a:rPr lang="ko-KR" altLang="en-US" sz="2100" b="1" dirty="0">
                <a:solidFill>
                  <a:srgbClr val="FFFFFF"/>
                </a:solidFill>
                <a:latin typeface="맑은 고딕" pitchFamily="34" charset="0"/>
                <a:ea typeface="맑은 고딕" pitchFamily="34" charset="-122"/>
              </a:rPr>
              <a:t>제주（濟州）를　</a:t>
            </a:r>
            <a:endParaRPr lang="en-US" altLang="ko-KR" sz="2100" b="1" dirty="0">
              <a:solidFill>
                <a:srgbClr val="FFFFFF"/>
              </a:solidFill>
              <a:latin typeface="맑은 고딕" pitchFamily="34" charset="0"/>
              <a:ea typeface="맑은 고딕" pitchFamily="34" charset="-122"/>
            </a:endParaRPr>
          </a:p>
          <a:p>
            <a:pPr marL="0" indent="0">
              <a:lnSpc>
                <a:spcPts val="3600"/>
              </a:lnSpc>
              <a:buNone/>
            </a:pPr>
            <a:r>
              <a:rPr lang="ko-KR" altLang="en-US" sz="2100" b="1" dirty="0">
                <a:solidFill>
                  <a:srgbClr val="FFFFFF"/>
                </a:solidFill>
                <a:latin typeface="맑은 고딕" pitchFamily="34" charset="0"/>
                <a:ea typeface="맑은 고딕" pitchFamily="34" charset="-122"/>
              </a:rPr>
              <a:t>재주（再走）하게！　</a:t>
            </a:r>
            <a:endParaRPr lang="en-US" sz="2100" dirty="0"/>
          </a:p>
        </p:txBody>
      </p:sp>
      <p:sp>
        <p:nvSpPr>
          <p:cNvPr id="11" name="Text 7"/>
          <p:cNvSpPr/>
          <p:nvPr/>
        </p:nvSpPr>
        <p:spPr>
          <a:xfrm>
            <a:off x="4709160" y="4215634"/>
            <a:ext cx="1828800" cy="502920"/>
          </a:xfrm>
          <a:prstGeom prst="rect">
            <a:avLst/>
          </a:prstGeom>
          <a:noFill/>
          <a:ln/>
        </p:spPr>
        <p:txBody>
          <a:bodyPr wrap="square" lIns="0" tIns="0" rIns="0" bIns="0" rtlCol="0" anchor="ctr"/>
          <a:lstStyle/>
          <a:p>
            <a:pPr marL="0" indent="0">
              <a:buNone/>
            </a:pPr>
            <a:r>
              <a:rPr lang="en-US" sz="2600" b="1" dirty="0">
                <a:solidFill>
                  <a:srgbClr val="E8842B"/>
                </a:solidFill>
                <a:latin typeface="맑은 고딕" pitchFamily="34" charset="0"/>
                <a:ea typeface="맑은 고딕" pitchFamily="34" charset="-122"/>
                <a:cs typeface="맑은 고딕" pitchFamily="34" charset="-120"/>
              </a:rPr>
              <a:t>Q &amp; A</a:t>
            </a:r>
            <a:endParaRPr lang="en-US" sz="2600" dirty="0"/>
          </a:p>
        </p:txBody>
      </p:sp>
      <p:sp>
        <p:nvSpPr>
          <p:cNvPr id="12" name="Text 8"/>
          <p:cNvSpPr/>
          <p:nvPr/>
        </p:nvSpPr>
        <p:spPr>
          <a:xfrm>
            <a:off x="6309360" y="4307074"/>
            <a:ext cx="2423160" cy="320040"/>
          </a:xfrm>
          <a:prstGeom prst="rect">
            <a:avLst/>
          </a:prstGeom>
          <a:noFill/>
          <a:ln/>
        </p:spPr>
        <p:txBody>
          <a:bodyPr wrap="square" lIns="0" tIns="0" rIns="0" bIns="0" rtlCol="0" anchor="ctr"/>
          <a:lstStyle/>
          <a:p>
            <a:pPr marL="0" indent="0" algn="r">
              <a:buNone/>
            </a:pPr>
            <a:r>
              <a:rPr lang="en-US" sz="1000" dirty="0">
                <a:solidFill>
                  <a:srgbClr val="7FA9A4"/>
                </a:solidFill>
                <a:latin typeface="맑은 고딕" pitchFamily="34" charset="0"/>
                <a:ea typeface="맑은 고딕" pitchFamily="34" charset="-122"/>
                <a:cs typeface="맑은 고딕" pitchFamily="34" charset="-120"/>
              </a:rPr>
              <a:t>감사합니다  ·  팀 마요선수</a:t>
            </a:r>
            <a:endParaRPr lang="en-US" sz="1000" dirty="0"/>
          </a:p>
        </p:txBody>
      </p:sp>
      <p:sp>
        <p:nvSpPr>
          <p:cNvPr id="13" name="Text 9"/>
          <p:cNvSpPr/>
          <p:nvPr/>
        </p:nvSpPr>
        <p:spPr>
          <a:xfrm>
            <a:off x="8092440" y="4718304"/>
            <a:ext cx="548640" cy="256032"/>
          </a:xfrm>
          <a:prstGeom prst="rect">
            <a:avLst/>
          </a:prstGeom>
          <a:noFill/>
          <a:ln/>
        </p:spPr>
        <p:txBody>
          <a:bodyPr wrap="square" lIns="0" tIns="0" rIns="0" bIns="0" rtlCol="0" anchor="ctr"/>
          <a:lstStyle/>
          <a:p>
            <a:pPr marL="0" indent="0" algn="r">
              <a:buNone/>
            </a:pPr>
            <a:r>
              <a:rPr sz="1100" b="1">
                <a:solidFill>
                  <a:srgbClr val="6FD0C0"/>
                </a:solidFill>
                <a:latin typeface="맑은 고딕"/>
              </a:rPr>
              <a:t>19</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9569CC3-FA41-9183-6581-B81EB7DE2699}"/>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E3F8A9FF-6F01-A1D6-0459-F53A10D9B3DC}"/>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rot="5400000">
            <a:off x="5127403" y="1117240"/>
            <a:ext cx="5136916" cy="2902437"/>
          </a:xfrm>
          <a:prstGeom prst="rect">
            <a:avLst/>
          </a:prstGeom>
        </p:spPr>
      </p:pic>
      <p:pic>
        <p:nvPicPr>
          <p:cNvPr id="7" name="그림 6">
            <a:extLst>
              <a:ext uri="{FF2B5EF4-FFF2-40B4-BE49-F238E27FC236}">
                <a16:creationId xmlns:a16="http://schemas.microsoft.com/office/drawing/2014/main" id="{341FC47D-CA4B-CB11-36E4-AC02C0932753}"/>
              </a:ext>
            </a:extLst>
          </p:cNvPr>
          <p:cNvPicPr>
            <a:picLocks noChangeAspect="1"/>
          </p:cNvPicPr>
          <p:nvPr/>
        </p:nvPicPr>
        <p:blipFill>
          <a:blip r:embed="rId3" cstate="hqprint">
            <a:extLst>
              <a:ext uri="{28A0092B-C50C-407E-A947-70E740481C1C}">
                <a14:useLocalDpi xmlns:a14="http://schemas.microsoft.com/office/drawing/2010/main"/>
              </a:ext>
            </a:extLst>
          </a:blip>
          <a:srcRect b="-4"/>
          <a:stretch>
            <a:fillRect/>
          </a:stretch>
        </p:blipFill>
        <p:spPr>
          <a:xfrm>
            <a:off x="-896" y="2735953"/>
            <a:ext cx="3897316" cy="2407548"/>
          </a:xfrm>
          <a:prstGeom prst="rect">
            <a:avLst/>
          </a:prstGeom>
        </p:spPr>
      </p:pic>
      <p:pic>
        <p:nvPicPr>
          <p:cNvPr id="11" name="그림 10">
            <a:extLst>
              <a:ext uri="{FF2B5EF4-FFF2-40B4-BE49-F238E27FC236}">
                <a16:creationId xmlns:a16="http://schemas.microsoft.com/office/drawing/2014/main" id="{C6C6CB08-B97E-1269-7503-88A2C1669E53}"/>
              </a:ext>
            </a:extLst>
          </p:cNvPr>
          <p:cNvPicPr>
            <a:picLocks noChangeAspect="1"/>
          </p:cNvPicPr>
          <p:nvPr/>
        </p:nvPicPr>
        <p:blipFill>
          <a:blip r:embed="rId4" cstate="hqprint">
            <a:extLst>
              <a:ext uri="{28A0092B-C50C-407E-A947-70E740481C1C}">
                <a14:useLocalDpi xmlns:a14="http://schemas.microsoft.com/office/drawing/2010/main"/>
              </a:ext>
            </a:extLst>
          </a:blip>
          <a:srcRect t="-124" b="-2"/>
          <a:stretch>
            <a:fillRect/>
          </a:stretch>
        </p:blipFill>
        <p:spPr>
          <a:xfrm>
            <a:off x="-5366" y="-1"/>
            <a:ext cx="3005343" cy="2016691"/>
          </a:xfrm>
          <a:prstGeom prst="rect">
            <a:avLst/>
          </a:prstGeom>
        </p:spPr>
      </p:pic>
      <p:pic>
        <p:nvPicPr>
          <p:cNvPr id="9" name="그림 8">
            <a:extLst>
              <a:ext uri="{FF2B5EF4-FFF2-40B4-BE49-F238E27FC236}">
                <a16:creationId xmlns:a16="http://schemas.microsoft.com/office/drawing/2014/main" id="{374EAB16-C16C-68DA-5B89-56921A1EF5F6}"/>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3984538" y="2962142"/>
            <a:ext cx="2223712" cy="2181358"/>
          </a:xfrm>
          <a:prstGeom prst="rect">
            <a:avLst/>
          </a:prstGeom>
        </p:spPr>
      </p:pic>
      <p:pic>
        <p:nvPicPr>
          <p:cNvPr id="15" name="그림 14">
            <a:extLst>
              <a:ext uri="{FF2B5EF4-FFF2-40B4-BE49-F238E27FC236}">
                <a16:creationId xmlns:a16="http://schemas.microsoft.com/office/drawing/2014/main" id="{0C4AB59E-A2EE-73A6-0FC2-18454F35DD78}"/>
              </a:ext>
            </a:extLst>
          </p:cNvPr>
          <p:cNvPicPr>
            <a:picLocks noChangeAspect="1"/>
          </p:cNvPicPr>
          <p:nvPr/>
        </p:nvPicPr>
        <p:blipFill>
          <a:blip r:embed="rId6" cstate="hqprint">
            <a:extLst>
              <a:ext uri="{28A0092B-C50C-407E-A947-70E740481C1C}">
                <a14:useLocalDpi xmlns:a14="http://schemas.microsoft.com/office/drawing/2010/main"/>
              </a:ext>
            </a:extLst>
          </a:blip>
          <a:srcRect t="-1"/>
          <a:stretch>
            <a:fillRect/>
          </a:stretch>
        </p:blipFill>
        <p:spPr>
          <a:xfrm>
            <a:off x="3030395" y="69429"/>
            <a:ext cx="3164094" cy="2567300"/>
          </a:xfrm>
          <a:prstGeom prst="rect">
            <a:avLst/>
          </a:prstGeom>
        </p:spPr>
      </p:pic>
      <p:sp>
        <p:nvSpPr>
          <p:cNvPr id="20" name="Text 5">
            <a:extLst>
              <a:ext uri="{FF2B5EF4-FFF2-40B4-BE49-F238E27FC236}">
                <a16:creationId xmlns:a16="http://schemas.microsoft.com/office/drawing/2014/main" id="{F9B28A69-4514-800A-0D24-B90051D4A998}"/>
              </a:ext>
            </a:extLst>
          </p:cNvPr>
          <p:cNvSpPr/>
          <p:nvPr/>
        </p:nvSpPr>
        <p:spPr>
          <a:xfrm>
            <a:off x="-5366" y="6583"/>
            <a:ext cx="9141714" cy="5130334"/>
          </a:xfrm>
          <a:prstGeom prst="rect">
            <a:avLst/>
          </a:prstGeom>
          <a:solidFill>
            <a:schemeClr val="tx1">
              <a:lumMod val="85000"/>
              <a:lumOff val="15000"/>
              <a:alpha val="60000"/>
            </a:schemeClr>
          </a:solidFill>
          <a:ln/>
        </p:spPr>
        <p:txBody>
          <a:bodyPr wrap="square" lIns="0" tIns="0" rIns="0" bIns="0" rtlCol="0" anchor="ctr"/>
          <a:lstStyle/>
          <a:p>
            <a:pPr marL="180975">
              <a:lnSpc>
                <a:spcPts val="1700"/>
              </a:lnSpc>
              <a:buNone/>
            </a:pPr>
            <a:endParaRPr lang="en-US" altLang="ko-KR" sz="2800" b="1" dirty="0">
              <a:solidFill>
                <a:schemeClr val="bg1"/>
              </a:solidFill>
            </a:endParaRPr>
          </a:p>
        </p:txBody>
      </p:sp>
      <p:sp>
        <p:nvSpPr>
          <p:cNvPr id="4" name="Text 5">
            <a:extLst>
              <a:ext uri="{FF2B5EF4-FFF2-40B4-BE49-F238E27FC236}">
                <a16:creationId xmlns:a16="http://schemas.microsoft.com/office/drawing/2014/main" id="{F89879EF-78E1-162B-967E-F5D50CBBB485}"/>
              </a:ext>
            </a:extLst>
          </p:cNvPr>
          <p:cNvSpPr/>
          <p:nvPr/>
        </p:nvSpPr>
        <p:spPr>
          <a:xfrm>
            <a:off x="-5366" y="2016689"/>
            <a:ext cx="9141714" cy="719263"/>
          </a:xfrm>
          <a:prstGeom prst="rect">
            <a:avLst/>
          </a:prstGeom>
          <a:solidFill>
            <a:schemeClr val="tx1">
              <a:lumMod val="85000"/>
              <a:lumOff val="15000"/>
              <a:alpha val="60000"/>
            </a:schemeClr>
          </a:solidFill>
          <a:ln/>
        </p:spPr>
        <p:txBody>
          <a:bodyPr wrap="square" lIns="0" tIns="0" rIns="0" bIns="0" rtlCol="0" anchor="ctr"/>
          <a:lstStyle/>
          <a:p>
            <a:pPr marL="180975">
              <a:lnSpc>
                <a:spcPts val="1700"/>
              </a:lnSpc>
              <a:buNone/>
            </a:pPr>
            <a:r>
              <a:rPr lang="ko-KR" altLang="en-US" sz="2000" dirty="0">
                <a:solidFill>
                  <a:schemeClr val="bg1"/>
                </a:solidFill>
              </a:rPr>
              <a:t>　　</a:t>
            </a:r>
            <a:endParaRPr lang="en-US" altLang="ko-KR" sz="2000" dirty="0">
              <a:solidFill>
                <a:schemeClr val="bg1"/>
              </a:solidFill>
            </a:endParaRPr>
          </a:p>
          <a:p>
            <a:pPr marL="180975">
              <a:lnSpc>
                <a:spcPts val="1700"/>
              </a:lnSpc>
              <a:buNone/>
            </a:pPr>
            <a:r>
              <a:rPr lang="ko-KR" altLang="en-US" sz="2800" b="1" dirty="0">
                <a:solidFill>
                  <a:schemeClr val="bg1"/>
                </a:solidFill>
              </a:rPr>
              <a:t>아름다운　제주에서　카페로　하나되는　마요선수</a:t>
            </a:r>
            <a:endParaRPr lang="en-US" altLang="ko-KR" sz="2800" b="1" dirty="0">
              <a:solidFill>
                <a:schemeClr val="bg1"/>
              </a:solidFill>
            </a:endParaRPr>
          </a:p>
        </p:txBody>
      </p:sp>
    </p:spTree>
    <p:extLst>
      <p:ext uri="{BB962C8B-B14F-4D97-AF65-F5344CB8AC3E}">
        <p14:creationId xmlns:p14="http://schemas.microsoft.com/office/powerpoint/2010/main" val="2897128722"/>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7315200" cy="256032"/>
          </a:xfrm>
          <a:prstGeom prst="rect">
            <a:avLst/>
          </a:prstGeom>
          <a:noFill/>
        </p:spPr>
        <p:txBody>
          <a:bodyPr wrap="square" anchor="t" lIns="0" rIns="0" tIns="0" bIns="0">
            <a:spAutoFit/>
          </a:bodyPr>
          <a:lstStyle/>
          <a:p>
            <a:pPr algn="l"/>
            <a:r>
              <a:rPr sz="1100" b="1">
                <a:solidFill>
                  <a:srgbClr val="20282C"/>
                </a:solidFill>
                <a:latin typeface="맑은 고딕"/>
              </a:rPr>
              <a:t>06  EVALUATION ②</a:t>
            </a:r>
          </a:p>
        </p:txBody>
      </p:sp>
      <p:sp>
        <p:nvSpPr>
          <p:cNvPr id="3" name="TextBox 2"/>
          <p:cNvSpPr txBox="1"/>
          <p:nvPr/>
        </p:nvSpPr>
        <p:spPr>
          <a:xfrm>
            <a:off x="502920" y="548640"/>
            <a:ext cx="8138160" cy="530352"/>
          </a:xfrm>
          <a:prstGeom prst="rect">
            <a:avLst/>
          </a:prstGeom>
          <a:noFill/>
        </p:spPr>
        <p:txBody>
          <a:bodyPr wrap="square" anchor="t" lIns="0" rIns="0" tIns="0" bIns="0">
            <a:spAutoFit/>
          </a:bodyPr>
          <a:lstStyle/>
          <a:p>
            <a:pPr algn="l"/>
            <a:r>
              <a:rPr sz="2700" b="1">
                <a:solidFill>
                  <a:srgbClr val="20282C"/>
                </a:solidFill>
                <a:latin typeface="맑은 고딕"/>
              </a:rPr>
              <a:t>매 버전은 하나의 실패 원인을 제거했다</a:t>
            </a:r>
          </a:p>
        </p:txBody>
      </p:sp>
      <p:sp>
        <p:nvSpPr>
          <p:cNvPr id="4" name="TextBox 3"/>
          <p:cNvSpPr txBox="1"/>
          <p:nvPr/>
        </p:nvSpPr>
        <p:spPr>
          <a:xfrm>
            <a:off x="502920" y="1060704"/>
            <a:ext cx="8138160" cy="274320"/>
          </a:xfrm>
          <a:prstGeom prst="rect">
            <a:avLst/>
          </a:prstGeom>
          <a:noFill/>
        </p:spPr>
        <p:txBody>
          <a:bodyPr wrap="square" anchor="t" lIns="0" rIns="0" tIns="0" bIns="0">
            <a:spAutoFit/>
          </a:bodyPr>
          <a:lstStyle/>
          <a:p>
            <a:pPr algn="l"/>
            <a:r>
              <a:rPr sz="1000" b="0">
                <a:solidFill>
                  <a:srgbClr val="637074"/>
                </a:solidFill>
                <a:latin typeface="맑은 고딕"/>
              </a:rPr>
              <a:t>데이터를 더 넣는 경쟁에서, 틀린 후보를 막고 의도를 지키는 검색으로 진화했습니다.</a:t>
            </a:r>
          </a:p>
        </p:txBody>
      </p:sp>
      <p:sp>
        <p:nvSpPr>
          <p:cNvPr id="5" name="Rectangle 4"/>
          <p:cNvSpPr/>
          <p:nvPr/>
        </p:nvSpPr>
        <p:spPr>
          <a:xfrm>
            <a:off x="502920" y="1581912"/>
            <a:ext cx="1408176" cy="1956816"/>
          </a:xfrm>
          <a:prstGeom prst="rect">
            <a:avLst/>
          </a:prstGeom>
          <a:solidFill>
            <a:srgbClr val="EDF1F0"/>
          </a:solidFill>
          <a:ln w="10160">
            <a:solidFill>
              <a:srgbClr val="DC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719072"/>
            <a:ext cx="475488" cy="274320"/>
          </a:xfrm>
          <a:prstGeom prst="rect">
            <a:avLst/>
          </a:prstGeom>
          <a:noFill/>
        </p:spPr>
        <p:txBody>
          <a:bodyPr wrap="square" anchor="t" lIns="0" rIns="0" tIns="0" bIns="0">
            <a:spAutoFit/>
          </a:bodyPr>
          <a:lstStyle/>
          <a:p>
            <a:pPr algn="l"/>
            <a:r>
              <a:rPr sz="1100" b="1">
                <a:solidFill>
                  <a:srgbClr val="637074"/>
                </a:solidFill>
                <a:latin typeface="맑은 고딕"/>
              </a:rPr>
              <a:t>V0</a:t>
            </a:r>
          </a:p>
        </p:txBody>
      </p:sp>
      <p:sp>
        <p:nvSpPr>
          <p:cNvPr id="7" name="TextBox 6"/>
          <p:cNvSpPr txBox="1"/>
          <p:nvPr/>
        </p:nvSpPr>
        <p:spPr>
          <a:xfrm>
            <a:off x="621792" y="2039112"/>
            <a:ext cx="1115568" cy="347472"/>
          </a:xfrm>
          <a:prstGeom prst="rect">
            <a:avLst/>
          </a:prstGeom>
          <a:noFill/>
        </p:spPr>
        <p:txBody>
          <a:bodyPr wrap="square" anchor="t" lIns="0" rIns="0" tIns="0" bIns="0">
            <a:spAutoFit/>
          </a:bodyPr>
          <a:lstStyle/>
          <a:p>
            <a:pPr algn="l"/>
            <a:r>
              <a:rPr sz="1700" b="1">
                <a:solidFill>
                  <a:srgbClr val="20282C"/>
                </a:solidFill>
                <a:latin typeface="맑은 고딕"/>
              </a:rPr>
              <a:t>발견</a:t>
            </a:r>
          </a:p>
        </p:txBody>
      </p:sp>
      <p:sp>
        <p:nvSpPr>
          <p:cNvPr id="8" name="TextBox 7"/>
          <p:cNvSpPr txBox="1"/>
          <p:nvPr/>
        </p:nvSpPr>
        <p:spPr>
          <a:xfrm>
            <a:off x="621792" y="2487168"/>
            <a:ext cx="1152144" cy="457200"/>
          </a:xfrm>
          <a:prstGeom prst="rect">
            <a:avLst/>
          </a:prstGeom>
          <a:noFill/>
        </p:spPr>
        <p:txBody>
          <a:bodyPr wrap="square" anchor="t" lIns="0" rIns="0" tIns="0" bIns="0">
            <a:spAutoFit/>
          </a:bodyPr>
          <a:lstStyle/>
          <a:p>
            <a:pPr algn="l"/>
            <a:r>
              <a:rPr sz="850" b="0">
                <a:solidFill>
                  <a:srgbClr val="637074"/>
                </a:solidFill>
                <a:latin typeface="맑은 고딕"/>
              </a:rPr>
              <a:t>YouTube 중심</a:t>
            </a:r>
          </a:p>
        </p:txBody>
      </p:sp>
      <p:cxnSp>
        <p:nvCxnSpPr>
          <p:cNvPr id="9" name="Connector 8"/>
          <p:cNvCxnSpPr/>
          <p:nvPr/>
        </p:nvCxnSpPr>
        <p:spPr>
          <a:xfrm>
            <a:off x="621792" y="3017520"/>
            <a:ext cx="1161288" cy="0"/>
          </a:xfrm>
          <a:prstGeom prst="line">
            <a:avLst/>
          </a:prstGeom>
          <a:ln w="10160">
            <a:solidFill>
              <a:srgbClr val="DCE6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1792" y="3136392"/>
            <a:ext cx="1143000" cy="228600"/>
          </a:xfrm>
          <a:prstGeom prst="rect">
            <a:avLst/>
          </a:prstGeom>
          <a:noFill/>
        </p:spPr>
        <p:txBody>
          <a:bodyPr wrap="square" anchor="t" lIns="0" rIns="0" tIns="0" bIns="0">
            <a:spAutoFit/>
          </a:bodyPr>
          <a:lstStyle/>
          <a:p>
            <a:pPr algn="l"/>
            <a:r>
              <a:rPr sz="900" b="1">
                <a:solidFill>
                  <a:srgbClr val="637074"/>
                </a:solidFill>
                <a:latin typeface="맑은 고딕"/>
              </a:rPr>
              <a:t>후보 1,064곳</a:t>
            </a:r>
          </a:p>
        </p:txBody>
      </p:sp>
      <p:sp>
        <p:nvSpPr>
          <p:cNvPr id="11" name="TextBox 10"/>
          <p:cNvSpPr txBox="1"/>
          <p:nvPr/>
        </p:nvSpPr>
        <p:spPr>
          <a:xfrm>
            <a:off x="1929384" y="2331720"/>
            <a:ext cx="256032" cy="320040"/>
          </a:xfrm>
          <a:prstGeom prst="rect">
            <a:avLst/>
          </a:prstGeom>
          <a:noFill/>
        </p:spPr>
        <p:txBody>
          <a:bodyPr wrap="square" anchor="t" lIns="0" rIns="0" tIns="0" bIns="0">
            <a:spAutoFit/>
          </a:bodyPr>
          <a:lstStyle/>
          <a:p>
            <a:pPr algn="ctr"/>
            <a:r>
              <a:rPr sz="1500" b="1">
                <a:solidFill>
                  <a:srgbClr val="637074"/>
                </a:solidFill>
                <a:latin typeface="맑은 고딕"/>
              </a:rPr>
              <a:t>→</a:t>
            </a:r>
          </a:p>
        </p:txBody>
      </p:sp>
      <p:sp>
        <p:nvSpPr>
          <p:cNvPr id="12" name="Rectangle 11"/>
          <p:cNvSpPr/>
          <p:nvPr/>
        </p:nvSpPr>
        <p:spPr>
          <a:xfrm>
            <a:off x="2185416" y="1581912"/>
            <a:ext cx="1408176" cy="1956816"/>
          </a:xfrm>
          <a:prstGeom prst="rect">
            <a:avLst/>
          </a:prstGeom>
          <a:solidFill>
            <a:srgbClr val="E7F3F1"/>
          </a:solidFill>
          <a:ln w="10160">
            <a:solidFill>
              <a:srgbClr val="DC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04288" y="1719072"/>
            <a:ext cx="475488" cy="274320"/>
          </a:xfrm>
          <a:prstGeom prst="rect">
            <a:avLst/>
          </a:prstGeom>
          <a:noFill/>
        </p:spPr>
        <p:txBody>
          <a:bodyPr wrap="square" anchor="t" lIns="0" rIns="0" tIns="0" bIns="0">
            <a:spAutoFit/>
          </a:bodyPr>
          <a:lstStyle/>
          <a:p>
            <a:pPr algn="l"/>
            <a:r>
              <a:rPr sz="1100" b="1">
                <a:solidFill>
                  <a:srgbClr val="0F5257"/>
                </a:solidFill>
                <a:latin typeface="맑은 고딕"/>
              </a:rPr>
              <a:t>V1</a:t>
            </a:r>
          </a:p>
        </p:txBody>
      </p:sp>
      <p:sp>
        <p:nvSpPr>
          <p:cNvPr id="14" name="TextBox 13"/>
          <p:cNvSpPr txBox="1"/>
          <p:nvPr/>
        </p:nvSpPr>
        <p:spPr>
          <a:xfrm>
            <a:off x="2304288" y="2039112"/>
            <a:ext cx="1115568" cy="347472"/>
          </a:xfrm>
          <a:prstGeom prst="rect">
            <a:avLst/>
          </a:prstGeom>
          <a:noFill/>
        </p:spPr>
        <p:txBody>
          <a:bodyPr wrap="square" anchor="t" lIns="0" rIns="0" tIns="0" bIns="0">
            <a:spAutoFit/>
          </a:bodyPr>
          <a:lstStyle/>
          <a:p>
            <a:pPr algn="l"/>
            <a:r>
              <a:rPr sz="1700" b="1">
                <a:solidFill>
                  <a:srgbClr val="20282C"/>
                </a:solidFill>
                <a:latin typeface="맑은 고딕"/>
              </a:rPr>
              <a:t>근거</a:t>
            </a:r>
          </a:p>
        </p:txBody>
      </p:sp>
      <p:sp>
        <p:nvSpPr>
          <p:cNvPr id="15" name="TextBox 14"/>
          <p:cNvSpPr txBox="1"/>
          <p:nvPr/>
        </p:nvSpPr>
        <p:spPr>
          <a:xfrm>
            <a:off x="2304288" y="2487168"/>
            <a:ext cx="1152144" cy="457200"/>
          </a:xfrm>
          <a:prstGeom prst="rect">
            <a:avLst/>
          </a:prstGeom>
          <a:noFill/>
        </p:spPr>
        <p:txBody>
          <a:bodyPr wrap="square" anchor="t" lIns="0" rIns="0" tIns="0" bIns="0">
            <a:spAutoFit/>
          </a:bodyPr>
          <a:lstStyle/>
          <a:p>
            <a:pPr algn="l"/>
            <a:r>
              <a:rPr sz="850" b="0">
                <a:solidFill>
                  <a:srgbClr val="637074"/>
                </a:solidFill>
                <a:latin typeface="맑은 고딕"/>
              </a:rPr>
              <a:t>블로그·댓글 보강</a:t>
            </a:r>
          </a:p>
        </p:txBody>
      </p:sp>
      <p:cxnSp>
        <p:nvCxnSpPr>
          <p:cNvPr id="16" name="Connector 15"/>
          <p:cNvCxnSpPr/>
          <p:nvPr/>
        </p:nvCxnSpPr>
        <p:spPr>
          <a:xfrm>
            <a:off x="2304288" y="3017520"/>
            <a:ext cx="1161288" cy="0"/>
          </a:xfrm>
          <a:prstGeom prst="line">
            <a:avLst/>
          </a:prstGeom>
          <a:ln w="10160">
            <a:solidFill>
              <a:srgbClr val="DCE6E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304288" y="3136392"/>
            <a:ext cx="1143000" cy="228600"/>
          </a:xfrm>
          <a:prstGeom prst="rect">
            <a:avLst/>
          </a:prstGeom>
          <a:noFill/>
        </p:spPr>
        <p:txBody>
          <a:bodyPr wrap="square" anchor="t" lIns="0" rIns="0" tIns="0" bIns="0">
            <a:spAutoFit/>
          </a:bodyPr>
          <a:lstStyle/>
          <a:p>
            <a:pPr algn="l"/>
            <a:r>
              <a:rPr sz="900" b="1">
                <a:solidFill>
                  <a:srgbClr val="0F5257"/>
                </a:solidFill>
                <a:latin typeface="맑은 고딕"/>
              </a:rPr>
              <a:t>Must@5 42%</a:t>
            </a:r>
          </a:p>
        </p:txBody>
      </p:sp>
      <p:sp>
        <p:nvSpPr>
          <p:cNvPr id="18" name="TextBox 17"/>
          <p:cNvSpPr txBox="1"/>
          <p:nvPr/>
        </p:nvSpPr>
        <p:spPr>
          <a:xfrm>
            <a:off x="3611880" y="2331720"/>
            <a:ext cx="256032" cy="320040"/>
          </a:xfrm>
          <a:prstGeom prst="rect">
            <a:avLst/>
          </a:prstGeom>
          <a:noFill/>
        </p:spPr>
        <p:txBody>
          <a:bodyPr wrap="square" anchor="t" lIns="0" rIns="0" tIns="0" bIns="0">
            <a:spAutoFit/>
          </a:bodyPr>
          <a:lstStyle/>
          <a:p>
            <a:pPr algn="ctr"/>
            <a:r>
              <a:rPr sz="1500" b="1">
                <a:solidFill>
                  <a:srgbClr val="637074"/>
                </a:solidFill>
                <a:latin typeface="맑은 고딕"/>
              </a:rPr>
              <a:t>→</a:t>
            </a:r>
          </a:p>
        </p:txBody>
      </p:sp>
      <p:sp>
        <p:nvSpPr>
          <p:cNvPr id="19" name="Rectangle 18"/>
          <p:cNvSpPr/>
          <p:nvPr/>
        </p:nvSpPr>
        <p:spPr>
          <a:xfrm>
            <a:off x="3867912" y="1581912"/>
            <a:ext cx="1408176" cy="1956816"/>
          </a:xfrm>
          <a:prstGeom prst="rect">
            <a:avLst/>
          </a:prstGeom>
          <a:solidFill>
            <a:srgbClr val="F4FAF9"/>
          </a:solidFill>
          <a:ln w="10160">
            <a:solidFill>
              <a:srgbClr val="DC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86784" y="1719072"/>
            <a:ext cx="475488" cy="274320"/>
          </a:xfrm>
          <a:prstGeom prst="rect">
            <a:avLst/>
          </a:prstGeom>
          <a:noFill/>
        </p:spPr>
        <p:txBody>
          <a:bodyPr wrap="square" anchor="t" lIns="0" rIns="0" tIns="0" bIns="0">
            <a:spAutoFit/>
          </a:bodyPr>
          <a:lstStyle/>
          <a:p>
            <a:pPr algn="l"/>
            <a:r>
              <a:rPr sz="1100" b="1">
                <a:solidFill>
                  <a:srgbClr val="0F5257"/>
                </a:solidFill>
                <a:latin typeface="맑은 고딕"/>
              </a:rPr>
              <a:t>V2</a:t>
            </a:r>
          </a:p>
        </p:txBody>
      </p:sp>
      <p:sp>
        <p:nvSpPr>
          <p:cNvPr id="21" name="TextBox 20"/>
          <p:cNvSpPr txBox="1"/>
          <p:nvPr/>
        </p:nvSpPr>
        <p:spPr>
          <a:xfrm>
            <a:off x="3986784" y="2039112"/>
            <a:ext cx="1115568" cy="347472"/>
          </a:xfrm>
          <a:prstGeom prst="rect">
            <a:avLst/>
          </a:prstGeom>
          <a:noFill/>
        </p:spPr>
        <p:txBody>
          <a:bodyPr wrap="square" anchor="t" lIns="0" rIns="0" tIns="0" bIns="0">
            <a:spAutoFit/>
          </a:bodyPr>
          <a:lstStyle/>
          <a:p>
            <a:pPr algn="l"/>
            <a:r>
              <a:rPr sz="1700" b="1">
                <a:solidFill>
                  <a:srgbClr val="20282C"/>
                </a:solidFill>
                <a:latin typeface="맑은 고딕"/>
              </a:rPr>
              <a:t>검색</a:t>
            </a:r>
          </a:p>
        </p:txBody>
      </p:sp>
      <p:sp>
        <p:nvSpPr>
          <p:cNvPr id="22" name="TextBox 21"/>
          <p:cNvSpPr txBox="1"/>
          <p:nvPr/>
        </p:nvSpPr>
        <p:spPr>
          <a:xfrm>
            <a:off x="3986784" y="2487168"/>
            <a:ext cx="1152144" cy="457200"/>
          </a:xfrm>
          <a:prstGeom prst="rect">
            <a:avLst/>
          </a:prstGeom>
          <a:noFill/>
        </p:spPr>
        <p:txBody>
          <a:bodyPr wrap="square" anchor="t" lIns="0" rIns="0" tIns="0" bIns="0">
            <a:spAutoFit/>
          </a:bodyPr>
          <a:lstStyle/>
          <a:p>
            <a:pPr algn="l"/>
            <a:r>
              <a:rPr sz="850" b="0">
                <a:solidFill>
                  <a:srgbClr val="637074"/>
                </a:solidFill>
                <a:latin typeface="맑은 고딕"/>
              </a:rPr>
              <a:t>조회·브라우즈·조건</a:t>
            </a:r>
          </a:p>
        </p:txBody>
      </p:sp>
      <p:cxnSp>
        <p:nvCxnSpPr>
          <p:cNvPr id="23" name="Connector 22"/>
          <p:cNvCxnSpPr/>
          <p:nvPr/>
        </p:nvCxnSpPr>
        <p:spPr>
          <a:xfrm>
            <a:off x="3986784" y="3017520"/>
            <a:ext cx="1161288" cy="0"/>
          </a:xfrm>
          <a:prstGeom prst="line">
            <a:avLst/>
          </a:prstGeom>
          <a:ln w="10160">
            <a:solidFill>
              <a:srgbClr val="DCE6E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986784" y="3136392"/>
            <a:ext cx="1143000" cy="228600"/>
          </a:xfrm>
          <a:prstGeom prst="rect">
            <a:avLst/>
          </a:prstGeom>
          <a:noFill/>
        </p:spPr>
        <p:txBody>
          <a:bodyPr wrap="square" anchor="t" lIns="0" rIns="0" tIns="0" bIns="0">
            <a:spAutoFit/>
          </a:bodyPr>
          <a:lstStyle/>
          <a:p>
            <a:pPr algn="l"/>
            <a:r>
              <a:rPr sz="900" b="1">
                <a:solidFill>
                  <a:srgbClr val="0F5257"/>
                </a:solidFill>
                <a:latin typeface="맑은 고딕"/>
              </a:rPr>
              <a:t>Must@5 62%</a:t>
            </a:r>
          </a:p>
        </p:txBody>
      </p:sp>
      <p:sp>
        <p:nvSpPr>
          <p:cNvPr id="25" name="TextBox 24"/>
          <p:cNvSpPr txBox="1"/>
          <p:nvPr/>
        </p:nvSpPr>
        <p:spPr>
          <a:xfrm>
            <a:off x="5294376" y="2331720"/>
            <a:ext cx="256032" cy="320040"/>
          </a:xfrm>
          <a:prstGeom prst="rect">
            <a:avLst/>
          </a:prstGeom>
          <a:noFill/>
        </p:spPr>
        <p:txBody>
          <a:bodyPr wrap="square" anchor="t" lIns="0" rIns="0" tIns="0" bIns="0">
            <a:spAutoFit/>
          </a:bodyPr>
          <a:lstStyle/>
          <a:p>
            <a:pPr algn="ctr"/>
            <a:r>
              <a:rPr sz="1500" b="1">
                <a:solidFill>
                  <a:srgbClr val="637074"/>
                </a:solidFill>
                <a:latin typeface="맑은 고딕"/>
              </a:rPr>
              <a:t>→</a:t>
            </a:r>
          </a:p>
        </p:txBody>
      </p:sp>
      <p:sp>
        <p:nvSpPr>
          <p:cNvPr id="26" name="Rectangle 25"/>
          <p:cNvSpPr/>
          <p:nvPr/>
        </p:nvSpPr>
        <p:spPr>
          <a:xfrm>
            <a:off x="5550408" y="1581912"/>
            <a:ext cx="1408176" cy="1956816"/>
          </a:xfrm>
          <a:prstGeom prst="rect">
            <a:avLst/>
          </a:prstGeom>
          <a:solidFill>
            <a:srgbClr val="FBEEE0"/>
          </a:solidFill>
          <a:ln w="10160">
            <a:solidFill>
              <a:srgbClr val="DC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1719072"/>
            <a:ext cx="475488" cy="274320"/>
          </a:xfrm>
          <a:prstGeom prst="rect">
            <a:avLst/>
          </a:prstGeom>
          <a:noFill/>
        </p:spPr>
        <p:txBody>
          <a:bodyPr wrap="square" anchor="t" lIns="0" rIns="0" tIns="0" bIns="0">
            <a:spAutoFit/>
          </a:bodyPr>
          <a:lstStyle/>
          <a:p>
            <a:pPr algn="l"/>
            <a:r>
              <a:rPr sz="1100" b="1">
                <a:solidFill>
                  <a:srgbClr val="B4530E"/>
                </a:solidFill>
                <a:latin typeface="맑은 고딕"/>
              </a:rPr>
              <a:t>V3</a:t>
            </a:r>
          </a:p>
        </p:txBody>
      </p:sp>
      <p:sp>
        <p:nvSpPr>
          <p:cNvPr id="28" name="TextBox 27"/>
          <p:cNvSpPr txBox="1"/>
          <p:nvPr/>
        </p:nvSpPr>
        <p:spPr>
          <a:xfrm>
            <a:off x="5669280" y="2039112"/>
            <a:ext cx="1115568" cy="347472"/>
          </a:xfrm>
          <a:prstGeom prst="rect">
            <a:avLst/>
          </a:prstGeom>
          <a:noFill/>
        </p:spPr>
        <p:txBody>
          <a:bodyPr wrap="square" anchor="t" lIns="0" rIns="0" tIns="0" bIns="0">
            <a:spAutoFit/>
          </a:bodyPr>
          <a:lstStyle/>
          <a:p>
            <a:pPr algn="l"/>
            <a:r>
              <a:rPr sz="1700" b="1">
                <a:solidFill>
                  <a:srgbClr val="20282C"/>
                </a:solidFill>
                <a:latin typeface="맑은 고딕"/>
              </a:rPr>
              <a:t>신뢰</a:t>
            </a:r>
          </a:p>
        </p:txBody>
      </p:sp>
      <p:sp>
        <p:nvSpPr>
          <p:cNvPr id="29" name="TextBox 28"/>
          <p:cNvSpPr txBox="1"/>
          <p:nvPr/>
        </p:nvSpPr>
        <p:spPr>
          <a:xfrm>
            <a:off x="5669280" y="2487168"/>
            <a:ext cx="1152144" cy="457200"/>
          </a:xfrm>
          <a:prstGeom prst="rect">
            <a:avLst/>
          </a:prstGeom>
          <a:noFill/>
        </p:spPr>
        <p:txBody>
          <a:bodyPr wrap="square" anchor="t" lIns="0" rIns="0" tIns="0" bIns="0">
            <a:spAutoFit/>
          </a:bodyPr>
          <a:lstStyle/>
          <a:p>
            <a:pPr algn="l"/>
            <a:r>
              <a:rPr sz="850" b="0">
                <a:solidFill>
                  <a:srgbClr val="637074"/>
                </a:solidFill>
                <a:latin typeface="맑은 고딕"/>
              </a:rPr>
              <a:t>canonical + 결정론</a:t>
            </a:r>
          </a:p>
        </p:txBody>
      </p:sp>
      <p:cxnSp>
        <p:nvCxnSpPr>
          <p:cNvPr id="30" name="Connector 29"/>
          <p:cNvCxnSpPr/>
          <p:nvPr/>
        </p:nvCxnSpPr>
        <p:spPr>
          <a:xfrm>
            <a:off x="5669280" y="3017520"/>
            <a:ext cx="1161288" cy="0"/>
          </a:xfrm>
          <a:prstGeom prst="line">
            <a:avLst/>
          </a:prstGeom>
          <a:ln w="10160">
            <a:solidFill>
              <a:srgbClr val="DCE6E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669280" y="3136392"/>
            <a:ext cx="1143000" cy="228600"/>
          </a:xfrm>
          <a:prstGeom prst="rect">
            <a:avLst/>
          </a:prstGeom>
          <a:noFill/>
        </p:spPr>
        <p:txBody>
          <a:bodyPr wrap="square" anchor="t" lIns="0" rIns="0" tIns="0" bIns="0">
            <a:spAutoFit/>
          </a:bodyPr>
          <a:lstStyle/>
          <a:p>
            <a:pPr algn="l"/>
            <a:r>
              <a:rPr sz="900" b="1">
                <a:solidFill>
                  <a:srgbClr val="B4530E"/>
                </a:solidFill>
                <a:latin typeface="맑은 고딕"/>
              </a:rPr>
              <a:t>Region 70.8%</a:t>
            </a:r>
          </a:p>
        </p:txBody>
      </p:sp>
      <p:sp>
        <p:nvSpPr>
          <p:cNvPr id="32" name="TextBox 31"/>
          <p:cNvSpPr txBox="1"/>
          <p:nvPr/>
        </p:nvSpPr>
        <p:spPr>
          <a:xfrm>
            <a:off x="6976872" y="2331720"/>
            <a:ext cx="256032" cy="320040"/>
          </a:xfrm>
          <a:prstGeom prst="rect">
            <a:avLst/>
          </a:prstGeom>
          <a:noFill/>
        </p:spPr>
        <p:txBody>
          <a:bodyPr wrap="square" anchor="t" lIns="0" rIns="0" tIns="0" bIns="0">
            <a:spAutoFit/>
          </a:bodyPr>
          <a:lstStyle/>
          <a:p>
            <a:pPr algn="ctr"/>
            <a:r>
              <a:rPr sz="1500" b="1">
                <a:solidFill>
                  <a:srgbClr val="637074"/>
                </a:solidFill>
                <a:latin typeface="맑은 고딕"/>
              </a:rPr>
              <a:t>→</a:t>
            </a:r>
          </a:p>
        </p:txBody>
      </p:sp>
      <p:sp>
        <p:nvSpPr>
          <p:cNvPr id="33" name="Rectangle 32"/>
          <p:cNvSpPr/>
          <p:nvPr/>
        </p:nvSpPr>
        <p:spPr>
          <a:xfrm>
            <a:off x="7232904" y="1581912"/>
            <a:ext cx="1408176" cy="1956816"/>
          </a:xfrm>
          <a:prstGeom prst="rect">
            <a:avLst/>
          </a:prstGeom>
          <a:solidFill>
            <a:srgbClr val="168A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51776" y="1719072"/>
            <a:ext cx="475488" cy="274320"/>
          </a:xfrm>
          <a:prstGeom prst="rect">
            <a:avLst/>
          </a:prstGeom>
          <a:noFill/>
        </p:spPr>
        <p:txBody>
          <a:bodyPr wrap="square" anchor="t" lIns="0" rIns="0" tIns="0" bIns="0">
            <a:spAutoFit/>
          </a:bodyPr>
          <a:lstStyle/>
          <a:p>
            <a:pPr algn="l"/>
            <a:r>
              <a:rPr sz="1100" b="1">
                <a:solidFill>
                  <a:srgbClr val="FFFFFF"/>
                </a:solidFill>
                <a:latin typeface="맑은 고딕"/>
              </a:rPr>
              <a:t>V4</a:t>
            </a:r>
          </a:p>
        </p:txBody>
      </p:sp>
      <p:sp>
        <p:nvSpPr>
          <p:cNvPr id="35" name="TextBox 34"/>
          <p:cNvSpPr txBox="1"/>
          <p:nvPr/>
        </p:nvSpPr>
        <p:spPr>
          <a:xfrm>
            <a:off x="7351776" y="2039112"/>
            <a:ext cx="1115568" cy="347472"/>
          </a:xfrm>
          <a:prstGeom prst="rect">
            <a:avLst/>
          </a:prstGeom>
          <a:noFill/>
        </p:spPr>
        <p:txBody>
          <a:bodyPr wrap="square" anchor="t" lIns="0" rIns="0" tIns="0" bIns="0">
            <a:spAutoFit/>
          </a:bodyPr>
          <a:lstStyle/>
          <a:p>
            <a:pPr algn="l"/>
            <a:r>
              <a:rPr sz="1700" b="1">
                <a:solidFill>
                  <a:srgbClr val="FFFFFF"/>
                </a:solidFill>
                <a:latin typeface="맑은 고딕"/>
              </a:rPr>
              <a:t>정합</a:t>
            </a:r>
          </a:p>
        </p:txBody>
      </p:sp>
      <p:sp>
        <p:nvSpPr>
          <p:cNvPr id="36" name="TextBox 35"/>
          <p:cNvSpPr txBox="1"/>
          <p:nvPr/>
        </p:nvSpPr>
        <p:spPr>
          <a:xfrm>
            <a:off x="7351776" y="2487168"/>
            <a:ext cx="1152144" cy="457200"/>
          </a:xfrm>
          <a:prstGeom prst="rect">
            <a:avLst/>
          </a:prstGeom>
          <a:noFill/>
        </p:spPr>
        <p:txBody>
          <a:bodyPr wrap="square" anchor="t" lIns="0" rIns="0" tIns="0" bIns="0">
            <a:spAutoFit/>
          </a:bodyPr>
          <a:lstStyle/>
          <a:p>
            <a:pPr algn="l"/>
            <a:r>
              <a:rPr sz="850" b="0">
                <a:solidFill>
                  <a:srgbClr val="FFFFFF"/>
                </a:solidFill>
                <a:latin typeface="맑은 고딕"/>
              </a:rPr>
              <a:t>번역·게이트·배제</a:t>
            </a:r>
          </a:p>
        </p:txBody>
      </p:sp>
      <p:cxnSp>
        <p:nvCxnSpPr>
          <p:cNvPr id="37" name="Connector 36"/>
          <p:cNvCxnSpPr/>
          <p:nvPr/>
        </p:nvCxnSpPr>
        <p:spPr>
          <a:xfrm>
            <a:off x="7351776" y="3017520"/>
            <a:ext cx="1161288" cy="0"/>
          </a:xfrm>
          <a:prstGeom prst="line">
            <a:avLst/>
          </a:prstGeom>
          <a:ln w="10160">
            <a:solidFill>
              <a:srgbClr val="8CCDC6"/>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51776" y="3136392"/>
            <a:ext cx="1143000" cy="228600"/>
          </a:xfrm>
          <a:prstGeom prst="rect">
            <a:avLst/>
          </a:prstGeom>
          <a:noFill/>
        </p:spPr>
        <p:txBody>
          <a:bodyPr wrap="square" anchor="t" lIns="0" rIns="0" tIns="0" bIns="0">
            <a:spAutoFit/>
          </a:bodyPr>
          <a:lstStyle/>
          <a:p>
            <a:pPr algn="l"/>
            <a:r>
              <a:rPr sz="900" b="1">
                <a:solidFill>
                  <a:srgbClr val="FFFFFF"/>
                </a:solidFill>
                <a:latin typeface="맑은 고딕"/>
              </a:rPr>
              <a:t>Must@5 70%</a:t>
            </a:r>
          </a:p>
        </p:txBody>
      </p:sp>
      <p:sp>
        <p:nvSpPr>
          <p:cNvPr id="39" name="Rectangle 38"/>
          <p:cNvSpPr/>
          <p:nvPr/>
        </p:nvSpPr>
        <p:spPr>
          <a:xfrm>
            <a:off x="502920" y="3749039"/>
            <a:ext cx="8138160" cy="658368"/>
          </a:xfrm>
          <a:prstGeom prst="rect">
            <a:avLst/>
          </a:prstGeom>
          <a:solidFill>
            <a:srgbClr val="F4FAF9"/>
          </a:solidFill>
          <a:ln w="10160">
            <a:solidFill>
              <a:srgbClr val="DC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3941063"/>
            <a:ext cx="7680960" cy="274320"/>
          </a:xfrm>
          <a:prstGeom prst="rect">
            <a:avLst/>
          </a:prstGeom>
          <a:noFill/>
        </p:spPr>
        <p:txBody>
          <a:bodyPr wrap="square" anchor="ctr" lIns="0" rIns="0" tIns="0" bIns="0">
            <a:spAutoFit/>
          </a:bodyPr>
          <a:lstStyle/>
          <a:p>
            <a:pPr algn="l"/>
            <a:r>
              <a:rPr sz="1000" b="1">
                <a:solidFill>
                  <a:srgbClr val="168A7E"/>
                </a:solidFill>
                <a:latin typeface="맑은 고딕"/>
              </a:rPr>
              <a:t>핵심 변화  </a:t>
            </a:r>
            <a:r>
              <a:rPr sz="1200" b="1">
                <a:solidFill>
                  <a:srgbClr val="20282C"/>
                </a:solidFill>
                <a:latin typeface="맑은 고딕"/>
              </a:rPr>
              <a:t>데이터 확보 → 근거 보강 → 검색 구조화 → 운영 신뢰 → 의도 정합</a:t>
            </a:r>
          </a:p>
        </p:txBody>
      </p:sp>
      <p:sp>
        <p:nvSpPr>
          <p:cNvPr id="41" name="TextBox 40"/>
          <p:cNvSpPr txBox="1"/>
          <p:nvPr/>
        </p:nvSpPr>
        <p:spPr>
          <a:xfrm>
            <a:off x="502920" y="4718304"/>
            <a:ext cx="3657600" cy="256032"/>
          </a:xfrm>
          <a:prstGeom prst="rect">
            <a:avLst/>
          </a:prstGeom>
          <a:noFill/>
        </p:spPr>
        <p:txBody>
          <a:bodyPr wrap="square" anchor="t" lIns="0" rIns="0" tIns="0" bIns="0">
            <a:spAutoFit/>
          </a:bodyPr>
          <a:lstStyle/>
          <a:p>
            <a:pPr algn="l"/>
            <a:r>
              <a:rPr sz="900" b="0">
                <a:solidFill>
                  <a:srgbClr val="637074"/>
                </a:solidFill>
                <a:latin typeface="맑은 고딕"/>
              </a:rPr>
              <a:t>카페인제주  ·  팀 마요선수</a:t>
            </a:r>
          </a:p>
        </p:txBody>
      </p:sp>
      <p:sp>
        <p:nvSpPr>
          <p:cNvPr id="42" name="TextBox 41"/>
          <p:cNvSpPr txBox="1"/>
          <p:nvPr/>
        </p:nvSpPr>
        <p:spPr>
          <a:xfrm>
            <a:off x="8092440" y="4718304"/>
            <a:ext cx="548640" cy="256032"/>
          </a:xfrm>
          <a:prstGeom prst="rect">
            <a:avLst/>
          </a:prstGeom>
          <a:noFill/>
        </p:spPr>
        <p:txBody>
          <a:bodyPr wrap="square" anchor="t" lIns="0" rIns="0" tIns="0" bIns="0">
            <a:spAutoFit/>
          </a:bodyPr>
          <a:lstStyle/>
          <a:p>
            <a:pPr algn="r"/>
            <a:r>
              <a:rPr sz="1100" b="1">
                <a:solidFill>
                  <a:srgbClr val="20282C"/>
                </a:solidFill>
                <a:latin typeface="맑은 고딕"/>
              </a:rPr>
              <a:t>12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7315200" cy="256032"/>
          </a:xfrm>
          <a:prstGeom prst="rect">
            <a:avLst/>
          </a:prstGeom>
          <a:noFill/>
        </p:spPr>
        <p:txBody>
          <a:bodyPr wrap="square" anchor="t" lIns="0" rIns="0" tIns="0" bIns="0">
            <a:spAutoFit/>
          </a:bodyPr>
          <a:lstStyle/>
          <a:p>
            <a:pPr algn="l"/>
            <a:r>
              <a:rPr sz="1100" b="1">
                <a:solidFill>
                  <a:srgbClr val="20282C"/>
                </a:solidFill>
                <a:latin typeface="맑은 고딕"/>
              </a:rPr>
              <a:t>06  EVALUATION ③</a:t>
            </a:r>
          </a:p>
        </p:txBody>
      </p:sp>
      <p:sp>
        <p:nvSpPr>
          <p:cNvPr id="3" name="TextBox 2"/>
          <p:cNvSpPr txBox="1"/>
          <p:nvPr/>
        </p:nvSpPr>
        <p:spPr>
          <a:xfrm>
            <a:off x="502920" y="548640"/>
            <a:ext cx="8138160" cy="530352"/>
          </a:xfrm>
          <a:prstGeom prst="rect">
            <a:avLst/>
          </a:prstGeom>
          <a:noFill/>
        </p:spPr>
        <p:txBody>
          <a:bodyPr wrap="square" anchor="t" lIns="0" rIns="0" tIns="0" bIns="0">
            <a:spAutoFit/>
          </a:bodyPr>
          <a:lstStyle/>
          <a:p>
            <a:pPr algn="l"/>
            <a:r>
              <a:rPr sz="2700" b="1">
                <a:solidFill>
                  <a:srgbClr val="20282C"/>
                </a:solidFill>
                <a:latin typeface="맑은 고딕"/>
              </a:rPr>
              <a:t>V4는 정확도를 높이고, 금지조건 노출을 줄였다</a:t>
            </a:r>
          </a:p>
        </p:txBody>
      </p:sp>
      <p:sp>
        <p:nvSpPr>
          <p:cNvPr id="4" name="TextBox 3"/>
          <p:cNvSpPr txBox="1"/>
          <p:nvPr/>
        </p:nvSpPr>
        <p:spPr>
          <a:xfrm>
            <a:off x="502920" y="1060704"/>
            <a:ext cx="8138160" cy="256032"/>
          </a:xfrm>
          <a:prstGeom prst="rect">
            <a:avLst/>
          </a:prstGeom>
          <a:noFill/>
        </p:spPr>
        <p:txBody>
          <a:bodyPr wrap="square" anchor="t" lIns="0" rIns="0" tIns="0" bIns="0">
            <a:spAutoFit/>
          </a:bodyPr>
          <a:lstStyle/>
          <a:p>
            <a:pPr algn="l"/>
            <a:r>
              <a:rPr sz="900" b="0">
                <a:solidFill>
                  <a:srgbClr val="637074"/>
                </a:solidFill>
                <a:latin typeface="맑은 고딕"/>
              </a:rPr>
              <a:t>Gold 50 · V2는 replay, V3/V4는 live 실행 · Forbidden은 낮을수록 좋음</a:t>
            </a:r>
          </a:p>
        </p:txBody>
      </p:sp>
      <p:sp>
        <p:nvSpPr>
          <p:cNvPr id="5" name="TextBox 4"/>
          <p:cNvSpPr txBox="1"/>
          <p:nvPr/>
        </p:nvSpPr>
        <p:spPr>
          <a:xfrm>
            <a:off x="502920" y="1499616"/>
            <a:ext cx="1234440" cy="274320"/>
          </a:xfrm>
          <a:prstGeom prst="rect">
            <a:avLst/>
          </a:prstGeom>
          <a:noFill/>
        </p:spPr>
        <p:txBody>
          <a:bodyPr wrap="square" anchor="t" lIns="0" rIns="0" tIns="0" bIns="0">
            <a:spAutoFit/>
          </a:bodyPr>
          <a:lstStyle/>
          <a:p>
            <a:pPr algn="l"/>
            <a:r>
              <a:rPr sz="1000" b="1">
                <a:solidFill>
                  <a:srgbClr val="20282C"/>
                </a:solidFill>
                <a:latin typeface="맑은 고딕"/>
              </a:rPr>
              <a:t>Must Hit@5</a:t>
            </a:r>
          </a:p>
        </p:txBody>
      </p:sp>
      <p:sp>
        <p:nvSpPr>
          <p:cNvPr id="6" name="TextBox 5"/>
          <p:cNvSpPr txBox="1"/>
          <p:nvPr/>
        </p:nvSpPr>
        <p:spPr>
          <a:xfrm>
            <a:off x="1691640" y="1316736"/>
            <a:ext cx="310896" cy="182880"/>
          </a:xfrm>
          <a:prstGeom prst="rect">
            <a:avLst/>
          </a:prstGeom>
          <a:noFill/>
        </p:spPr>
        <p:txBody>
          <a:bodyPr wrap="square" anchor="t" lIns="0" rIns="0" tIns="0" bIns="0">
            <a:spAutoFit/>
          </a:bodyPr>
          <a:lstStyle/>
          <a:p>
            <a:pPr algn="l"/>
            <a:r>
              <a:rPr sz="750" b="1">
                <a:solidFill>
                  <a:srgbClr val="637074"/>
                </a:solidFill>
                <a:latin typeface="맑은 고딕"/>
              </a:rPr>
              <a:t>V1</a:t>
            </a:r>
          </a:p>
        </p:txBody>
      </p:sp>
      <p:sp>
        <p:nvSpPr>
          <p:cNvPr id="7" name="Rectangle 6"/>
          <p:cNvSpPr/>
          <p:nvPr/>
        </p:nvSpPr>
        <p:spPr>
          <a:xfrm>
            <a:off x="1691640" y="1554480"/>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91640" y="1554480"/>
            <a:ext cx="422452" cy="173736"/>
          </a:xfrm>
          <a:prstGeom prst="rect">
            <a:avLst/>
          </a:prstGeom>
          <a:solidFill>
            <a:srgbClr val="AAB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68956" y="1481328"/>
            <a:ext cx="502920" cy="292608"/>
          </a:xfrm>
          <a:prstGeom prst="rect">
            <a:avLst/>
          </a:prstGeom>
          <a:noFill/>
        </p:spPr>
        <p:txBody>
          <a:bodyPr wrap="square" anchor="t" lIns="0" rIns="0" tIns="0" bIns="0">
            <a:spAutoFit/>
          </a:bodyPr>
          <a:lstStyle/>
          <a:p>
            <a:pPr algn="l"/>
            <a:r>
              <a:rPr sz="900" b="1">
                <a:solidFill>
                  <a:srgbClr val="AAB6B8"/>
                </a:solidFill>
                <a:latin typeface="맑은 고딕"/>
              </a:rPr>
              <a:t>42.0</a:t>
            </a:r>
          </a:p>
        </p:txBody>
      </p:sp>
      <p:sp>
        <p:nvSpPr>
          <p:cNvPr id="10" name="TextBox 9"/>
          <p:cNvSpPr txBox="1"/>
          <p:nvPr/>
        </p:nvSpPr>
        <p:spPr>
          <a:xfrm>
            <a:off x="2807208" y="1316736"/>
            <a:ext cx="310896" cy="182880"/>
          </a:xfrm>
          <a:prstGeom prst="rect">
            <a:avLst/>
          </a:prstGeom>
          <a:noFill/>
        </p:spPr>
        <p:txBody>
          <a:bodyPr wrap="square" anchor="t" lIns="0" rIns="0" tIns="0" bIns="0">
            <a:spAutoFit/>
          </a:bodyPr>
          <a:lstStyle/>
          <a:p>
            <a:pPr algn="l"/>
            <a:r>
              <a:rPr sz="750" b="1">
                <a:solidFill>
                  <a:srgbClr val="637074"/>
                </a:solidFill>
                <a:latin typeface="맑은 고딕"/>
              </a:rPr>
              <a:t>V2</a:t>
            </a:r>
          </a:p>
        </p:txBody>
      </p:sp>
      <p:sp>
        <p:nvSpPr>
          <p:cNvPr id="11" name="Rectangle 10"/>
          <p:cNvSpPr/>
          <p:nvPr/>
        </p:nvSpPr>
        <p:spPr>
          <a:xfrm>
            <a:off x="2807208" y="1554480"/>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07208" y="1554480"/>
            <a:ext cx="623620" cy="173736"/>
          </a:xfrm>
          <a:prstGeom prst="rect">
            <a:avLst/>
          </a:prstGeom>
          <a:solidFill>
            <a:srgbClr val="4C9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5692" y="1481328"/>
            <a:ext cx="502920" cy="292608"/>
          </a:xfrm>
          <a:prstGeom prst="rect">
            <a:avLst/>
          </a:prstGeom>
          <a:noFill/>
        </p:spPr>
        <p:txBody>
          <a:bodyPr wrap="square" anchor="t" lIns="0" rIns="0" tIns="0" bIns="0">
            <a:spAutoFit/>
          </a:bodyPr>
          <a:lstStyle/>
          <a:p>
            <a:pPr algn="l"/>
            <a:r>
              <a:rPr sz="900" b="1">
                <a:solidFill>
                  <a:srgbClr val="4C9D95"/>
                </a:solidFill>
                <a:latin typeface="맑은 고딕"/>
              </a:rPr>
              <a:t>62.0</a:t>
            </a:r>
          </a:p>
        </p:txBody>
      </p:sp>
      <p:sp>
        <p:nvSpPr>
          <p:cNvPr id="14" name="TextBox 13"/>
          <p:cNvSpPr txBox="1"/>
          <p:nvPr/>
        </p:nvSpPr>
        <p:spPr>
          <a:xfrm>
            <a:off x="3922776" y="1316736"/>
            <a:ext cx="310896" cy="182880"/>
          </a:xfrm>
          <a:prstGeom prst="rect">
            <a:avLst/>
          </a:prstGeom>
          <a:noFill/>
        </p:spPr>
        <p:txBody>
          <a:bodyPr wrap="square" anchor="t" lIns="0" rIns="0" tIns="0" bIns="0">
            <a:spAutoFit/>
          </a:bodyPr>
          <a:lstStyle/>
          <a:p>
            <a:pPr algn="l"/>
            <a:r>
              <a:rPr sz="750" b="1">
                <a:solidFill>
                  <a:srgbClr val="637074"/>
                </a:solidFill>
                <a:latin typeface="맑은 고딕"/>
              </a:rPr>
              <a:t>V3</a:t>
            </a:r>
          </a:p>
        </p:txBody>
      </p:sp>
      <p:sp>
        <p:nvSpPr>
          <p:cNvPr id="15" name="Rectangle 14"/>
          <p:cNvSpPr/>
          <p:nvPr/>
        </p:nvSpPr>
        <p:spPr>
          <a:xfrm>
            <a:off x="3922776" y="1554480"/>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22776" y="1554480"/>
            <a:ext cx="623620" cy="173736"/>
          </a:xfrm>
          <a:prstGeom prst="rect">
            <a:avLst/>
          </a:prstGeom>
          <a:solidFill>
            <a:srgbClr val="E884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01260" y="1481328"/>
            <a:ext cx="502920" cy="292608"/>
          </a:xfrm>
          <a:prstGeom prst="rect">
            <a:avLst/>
          </a:prstGeom>
          <a:noFill/>
        </p:spPr>
        <p:txBody>
          <a:bodyPr wrap="square" anchor="t" lIns="0" rIns="0" tIns="0" bIns="0">
            <a:spAutoFit/>
          </a:bodyPr>
          <a:lstStyle/>
          <a:p>
            <a:pPr algn="l"/>
            <a:r>
              <a:rPr sz="900" b="1">
                <a:solidFill>
                  <a:srgbClr val="E8842B"/>
                </a:solidFill>
                <a:latin typeface="맑은 고딕"/>
              </a:rPr>
              <a:t>62.0</a:t>
            </a:r>
          </a:p>
        </p:txBody>
      </p:sp>
      <p:sp>
        <p:nvSpPr>
          <p:cNvPr id="18" name="TextBox 17"/>
          <p:cNvSpPr txBox="1"/>
          <p:nvPr/>
        </p:nvSpPr>
        <p:spPr>
          <a:xfrm>
            <a:off x="5038344" y="1316736"/>
            <a:ext cx="310896" cy="182880"/>
          </a:xfrm>
          <a:prstGeom prst="rect">
            <a:avLst/>
          </a:prstGeom>
          <a:noFill/>
        </p:spPr>
        <p:txBody>
          <a:bodyPr wrap="square" anchor="t" lIns="0" rIns="0" tIns="0" bIns="0">
            <a:spAutoFit/>
          </a:bodyPr>
          <a:lstStyle/>
          <a:p>
            <a:pPr algn="l"/>
            <a:r>
              <a:rPr sz="750" b="1">
                <a:solidFill>
                  <a:srgbClr val="637074"/>
                </a:solidFill>
                <a:latin typeface="맑은 고딕"/>
              </a:rPr>
              <a:t>V4</a:t>
            </a:r>
          </a:p>
        </p:txBody>
      </p:sp>
      <p:sp>
        <p:nvSpPr>
          <p:cNvPr id="19" name="Rectangle 18"/>
          <p:cNvSpPr/>
          <p:nvPr/>
        </p:nvSpPr>
        <p:spPr>
          <a:xfrm>
            <a:off x="5038344" y="1554480"/>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38344" y="1554480"/>
            <a:ext cx="704088" cy="173736"/>
          </a:xfrm>
          <a:prstGeom prst="rect">
            <a:avLst/>
          </a:prstGeom>
          <a:solidFill>
            <a:srgbClr val="168A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97295" y="1481328"/>
            <a:ext cx="502920" cy="292608"/>
          </a:xfrm>
          <a:prstGeom prst="rect">
            <a:avLst/>
          </a:prstGeom>
          <a:noFill/>
        </p:spPr>
        <p:txBody>
          <a:bodyPr wrap="square" anchor="t" lIns="0" rIns="0" tIns="0" bIns="0">
            <a:spAutoFit/>
          </a:bodyPr>
          <a:lstStyle/>
          <a:p>
            <a:pPr algn="l"/>
            <a:r>
              <a:rPr sz="900" b="1">
                <a:solidFill>
                  <a:srgbClr val="168A7E"/>
                </a:solidFill>
                <a:latin typeface="맑은 고딕"/>
              </a:rPr>
              <a:t>70.0</a:t>
            </a:r>
          </a:p>
        </p:txBody>
      </p:sp>
      <p:sp>
        <p:nvSpPr>
          <p:cNvPr id="22" name="TextBox 21"/>
          <p:cNvSpPr txBox="1"/>
          <p:nvPr/>
        </p:nvSpPr>
        <p:spPr>
          <a:xfrm>
            <a:off x="502920" y="2258568"/>
            <a:ext cx="1234440" cy="274320"/>
          </a:xfrm>
          <a:prstGeom prst="rect">
            <a:avLst/>
          </a:prstGeom>
          <a:noFill/>
        </p:spPr>
        <p:txBody>
          <a:bodyPr wrap="square" anchor="t" lIns="0" rIns="0" tIns="0" bIns="0">
            <a:spAutoFit/>
          </a:bodyPr>
          <a:lstStyle/>
          <a:p>
            <a:pPr algn="l"/>
            <a:r>
              <a:rPr sz="1000" b="1">
                <a:solidFill>
                  <a:srgbClr val="20282C"/>
                </a:solidFill>
                <a:latin typeface="맑은 고딕"/>
              </a:rPr>
              <a:t>NDCG@5</a:t>
            </a:r>
          </a:p>
        </p:txBody>
      </p:sp>
      <p:sp>
        <p:nvSpPr>
          <p:cNvPr id="23" name="TextBox 22"/>
          <p:cNvSpPr txBox="1"/>
          <p:nvPr/>
        </p:nvSpPr>
        <p:spPr>
          <a:xfrm>
            <a:off x="1691640" y="2075687"/>
            <a:ext cx="310896" cy="182880"/>
          </a:xfrm>
          <a:prstGeom prst="rect">
            <a:avLst/>
          </a:prstGeom>
          <a:noFill/>
        </p:spPr>
        <p:txBody>
          <a:bodyPr wrap="square" anchor="t" lIns="0" rIns="0" tIns="0" bIns="0">
            <a:spAutoFit/>
          </a:bodyPr>
          <a:lstStyle/>
          <a:p>
            <a:pPr algn="l"/>
            <a:r>
              <a:rPr sz="750" b="1">
                <a:solidFill>
                  <a:srgbClr val="637074"/>
                </a:solidFill>
                <a:latin typeface="맑은 고딕"/>
              </a:rPr>
              <a:t>V1</a:t>
            </a:r>
          </a:p>
        </p:txBody>
      </p:sp>
      <p:sp>
        <p:nvSpPr>
          <p:cNvPr id="24" name="Rectangle 23"/>
          <p:cNvSpPr/>
          <p:nvPr/>
        </p:nvSpPr>
        <p:spPr>
          <a:xfrm>
            <a:off x="1691640" y="2313432"/>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691640" y="2313432"/>
            <a:ext cx="477975" cy="173736"/>
          </a:xfrm>
          <a:prstGeom prst="rect">
            <a:avLst/>
          </a:prstGeom>
          <a:solidFill>
            <a:srgbClr val="AAB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24479" y="2240279"/>
            <a:ext cx="502920" cy="292608"/>
          </a:xfrm>
          <a:prstGeom prst="rect">
            <a:avLst/>
          </a:prstGeom>
          <a:noFill/>
        </p:spPr>
        <p:txBody>
          <a:bodyPr wrap="square" anchor="t" lIns="0" rIns="0" tIns="0" bIns="0">
            <a:spAutoFit/>
          </a:bodyPr>
          <a:lstStyle/>
          <a:p>
            <a:pPr algn="l"/>
            <a:r>
              <a:rPr sz="900" b="1">
                <a:solidFill>
                  <a:srgbClr val="AAB6B8"/>
                </a:solidFill>
                <a:latin typeface="맑은 고딕"/>
              </a:rPr>
              <a:t>29.7</a:t>
            </a:r>
          </a:p>
        </p:txBody>
      </p:sp>
      <p:sp>
        <p:nvSpPr>
          <p:cNvPr id="27" name="TextBox 26"/>
          <p:cNvSpPr txBox="1"/>
          <p:nvPr/>
        </p:nvSpPr>
        <p:spPr>
          <a:xfrm>
            <a:off x="2807208" y="2075687"/>
            <a:ext cx="310896" cy="182880"/>
          </a:xfrm>
          <a:prstGeom prst="rect">
            <a:avLst/>
          </a:prstGeom>
          <a:noFill/>
        </p:spPr>
        <p:txBody>
          <a:bodyPr wrap="square" anchor="t" lIns="0" rIns="0" tIns="0" bIns="0">
            <a:spAutoFit/>
          </a:bodyPr>
          <a:lstStyle/>
          <a:p>
            <a:pPr algn="l"/>
            <a:r>
              <a:rPr sz="750" b="1">
                <a:solidFill>
                  <a:srgbClr val="637074"/>
                </a:solidFill>
                <a:latin typeface="맑은 고딕"/>
              </a:rPr>
              <a:t>V2</a:t>
            </a:r>
          </a:p>
        </p:txBody>
      </p:sp>
      <p:sp>
        <p:nvSpPr>
          <p:cNvPr id="28" name="Rectangle 27"/>
          <p:cNvSpPr/>
          <p:nvPr/>
        </p:nvSpPr>
        <p:spPr>
          <a:xfrm>
            <a:off x="2807208" y="2313432"/>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807208" y="2313432"/>
            <a:ext cx="593847" cy="173736"/>
          </a:xfrm>
          <a:prstGeom prst="rect">
            <a:avLst/>
          </a:prstGeom>
          <a:solidFill>
            <a:srgbClr val="4C9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55919" y="2240279"/>
            <a:ext cx="502920" cy="292608"/>
          </a:xfrm>
          <a:prstGeom prst="rect">
            <a:avLst/>
          </a:prstGeom>
          <a:noFill/>
        </p:spPr>
        <p:txBody>
          <a:bodyPr wrap="square" anchor="t" lIns="0" rIns="0" tIns="0" bIns="0">
            <a:spAutoFit/>
          </a:bodyPr>
          <a:lstStyle/>
          <a:p>
            <a:pPr algn="l"/>
            <a:r>
              <a:rPr sz="900" b="1">
                <a:solidFill>
                  <a:srgbClr val="4C9D95"/>
                </a:solidFill>
                <a:latin typeface="맑은 고딕"/>
              </a:rPr>
              <a:t>36.9</a:t>
            </a:r>
          </a:p>
        </p:txBody>
      </p:sp>
      <p:sp>
        <p:nvSpPr>
          <p:cNvPr id="31" name="TextBox 30"/>
          <p:cNvSpPr txBox="1"/>
          <p:nvPr/>
        </p:nvSpPr>
        <p:spPr>
          <a:xfrm>
            <a:off x="3922776" y="2075687"/>
            <a:ext cx="310896" cy="182880"/>
          </a:xfrm>
          <a:prstGeom prst="rect">
            <a:avLst/>
          </a:prstGeom>
          <a:noFill/>
        </p:spPr>
        <p:txBody>
          <a:bodyPr wrap="square" anchor="t" lIns="0" rIns="0" tIns="0" bIns="0">
            <a:spAutoFit/>
          </a:bodyPr>
          <a:lstStyle/>
          <a:p>
            <a:pPr algn="l"/>
            <a:r>
              <a:rPr sz="750" b="1">
                <a:solidFill>
                  <a:srgbClr val="637074"/>
                </a:solidFill>
                <a:latin typeface="맑은 고딕"/>
              </a:rPr>
              <a:t>V3</a:t>
            </a:r>
          </a:p>
        </p:txBody>
      </p:sp>
      <p:sp>
        <p:nvSpPr>
          <p:cNvPr id="32" name="Rectangle 31"/>
          <p:cNvSpPr/>
          <p:nvPr/>
        </p:nvSpPr>
        <p:spPr>
          <a:xfrm>
            <a:off x="3922776" y="2313432"/>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22776" y="2313432"/>
            <a:ext cx="563270" cy="173736"/>
          </a:xfrm>
          <a:prstGeom prst="rect">
            <a:avLst/>
          </a:prstGeom>
          <a:solidFill>
            <a:srgbClr val="E884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40910" y="2240279"/>
            <a:ext cx="502920" cy="292608"/>
          </a:xfrm>
          <a:prstGeom prst="rect">
            <a:avLst/>
          </a:prstGeom>
          <a:noFill/>
        </p:spPr>
        <p:txBody>
          <a:bodyPr wrap="square" anchor="t" lIns="0" rIns="0" tIns="0" bIns="0">
            <a:spAutoFit/>
          </a:bodyPr>
          <a:lstStyle/>
          <a:p>
            <a:pPr algn="l"/>
            <a:r>
              <a:rPr sz="900" b="1">
                <a:solidFill>
                  <a:srgbClr val="E8842B"/>
                </a:solidFill>
                <a:latin typeface="맑은 고딕"/>
              </a:rPr>
              <a:t>35.0</a:t>
            </a:r>
          </a:p>
        </p:txBody>
      </p:sp>
      <p:sp>
        <p:nvSpPr>
          <p:cNvPr id="35" name="TextBox 34"/>
          <p:cNvSpPr txBox="1"/>
          <p:nvPr/>
        </p:nvSpPr>
        <p:spPr>
          <a:xfrm>
            <a:off x="5038344" y="2075687"/>
            <a:ext cx="310896" cy="182880"/>
          </a:xfrm>
          <a:prstGeom prst="rect">
            <a:avLst/>
          </a:prstGeom>
          <a:noFill/>
        </p:spPr>
        <p:txBody>
          <a:bodyPr wrap="square" anchor="t" lIns="0" rIns="0" tIns="0" bIns="0">
            <a:spAutoFit/>
          </a:bodyPr>
          <a:lstStyle/>
          <a:p>
            <a:pPr algn="l"/>
            <a:r>
              <a:rPr sz="750" b="1">
                <a:solidFill>
                  <a:srgbClr val="637074"/>
                </a:solidFill>
                <a:latin typeface="맑은 고딕"/>
              </a:rPr>
              <a:t>V4</a:t>
            </a:r>
          </a:p>
        </p:txBody>
      </p:sp>
      <p:sp>
        <p:nvSpPr>
          <p:cNvPr id="36" name="Rectangle 35"/>
          <p:cNvSpPr/>
          <p:nvPr/>
        </p:nvSpPr>
        <p:spPr>
          <a:xfrm>
            <a:off x="5038344" y="2313432"/>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38344" y="2313432"/>
            <a:ext cx="643737" cy="173736"/>
          </a:xfrm>
          <a:prstGeom prst="rect">
            <a:avLst/>
          </a:prstGeom>
          <a:solidFill>
            <a:srgbClr val="168A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36945" y="2240279"/>
            <a:ext cx="502920" cy="292608"/>
          </a:xfrm>
          <a:prstGeom prst="rect">
            <a:avLst/>
          </a:prstGeom>
          <a:noFill/>
        </p:spPr>
        <p:txBody>
          <a:bodyPr wrap="square" anchor="t" lIns="0" rIns="0" tIns="0" bIns="0">
            <a:spAutoFit/>
          </a:bodyPr>
          <a:lstStyle/>
          <a:p>
            <a:pPr algn="l"/>
            <a:r>
              <a:rPr sz="900" b="1">
                <a:solidFill>
                  <a:srgbClr val="168A7E"/>
                </a:solidFill>
                <a:latin typeface="맑은 고딕"/>
              </a:rPr>
              <a:t>40.0</a:t>
            </a:r>
          </a:p>
        </p:txBody>
      </p:sp>
      <p:sp>
        <p:nvSpPr>
          <p:cNvPr id="39" name="TextBox 38"/>
          <p:cNvSpPr txBox="1"/>
          <p:nvPr/>
        </p:nvSpPr>
        <p:spPr>
          <a:xfrm>
            <a:off x="502920" y="3017520"/>
            <a:ext cx="1234440" cy="274320"/>
          </a:xfrm>
          <a:prstGeom prst="rect">
            <a:avLst/>
          </a:prstGeom>
          <a:noFill/>
        </p:spPr>
        <p:txBody>
          <a:bodyPr wrap="square" anchor="t" lIns="0" rIns="0" tIns="0" bIns="0">
            <a:spAutoFit/>
          </a:bodyPr>
          <a:lstStyle/>
          <a:p>
            <a:pPr algn="l"/>
            <a:r>
              <a:rPr sz="1000" b="1">
                <a:solidFill>
                  <a:srgbClr val="20282C"/>
                </a:solidFill>
                <a:latin typeface="맑은 고딕"/>
              </a:rPr>
              <a:t>Region@5</a:t>
            </a:r>
          </a:p>
        </p:txBody>
      </p:sp>
      <p:sp>
        <p:nvSpPr>
          <p:cNvPr id="40" name="TextBox 39"/>
          <p:cNvSpPr txBox="1"/>
          <p:nvPr/>
        </p:nvSpPr>
        <p:spPr>
          <a:xfrm>
            <a:off x="1691640" y="2834639"/>
            <a:ext cx="310896" cy="182880"/>
          </a:xfrm>
          <a:prstGeom prst="rect">
            <a:avLst/>
          </a:prstGeom>
          <a:noFill/>
        </p:spPr>
        <p:txBody>
          <a:bodyPr wrap="square" anchor="t" lIns="0" rIns="0" tIns="0" bIns="0">
            <a:spAutoFit/>
          </a:bodyPr>
          <a:lstStyle/>
          <a:p>
            <a:pPr algn="l"/>
            <a:r>
              <a:rPr sz="750" b="1">
                <a:solidFill>
                  <a:srgbClr val="637074"/>
                </a:solidFill>
                <a:latin typeface="맑은 고딕"/>
              </a:rPr>
              <a:t>V1</a:t>
            </a:r>
          </a:p>
        </p:txBody>
      </p:sp>
      <p:sp>
        <p:nvSpPr>
          <p:cNvPr id="41" name="Rectangle 40"/>
          <p:cNvSpPr/>
          <p:nvPr/>
        </p:nvSpPr>
        <p:spPr>
          <a:xfrm>
            <a:off x="1691640" y="3072384"/>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691640" y="3072384"/>
            <a:ext cx="387248" cy="173736"/>
          </a:xfrm>
          <a:prstGeom prst="rect">
            <a:avLst/>
          </a:prstGeom>
          <a:solidFill>
            <a:srgbClr val="AAB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133752" y="2999232"/>
            <a:ext cx="502920" cy="292608"/>
          </a:xfrm>
          <a:prstGeom prst="rect">
            <a:avLst/>
          </a:prstGeom>
          <a:noFill/>
        </p:spPr>
        <p:txBody>
          <a:bodyPr wrap="square" anchor="t" lIns="0" rIns="0" tIns="0" bIns="0">
            <a:spAutoFit/>
          </a:bodyPr>
          <a:lstStyle/>
          <a:p>
            <a:pPr algn="l"/>
            <a:r>
              <a:rPr sz="900" b="1">
                <a:solidFill>
                  <a:srgbClr val="AAB6B8"/>
                </a:solidFill>
                <a:latin typeface="맑은 고딕"/>
              </a:rPr>
              <a:t>38.5</a:t>
            </a:r>
          </a:p>
        </p:txBody>
      </p:sp>
      <p:sp>
        <p:nvSpPr>
          <p:cNvPr id="44" name="TextBox 43"/>
          <p:cNvSpPr txBox="1"/>
          <p:nvPr/>
        </p:nvSpPr>
        <p:spPr>
          <a:xfrm>
            <a:off x="2807208" y="2834639"/>
            <a:ext cx="310896" cy="182880"/>
          </a:xfrm>
          <a:prstGeom prst="rect">
            <a:avLst/>
          </a:prstGeom>
          <a:noFill/>
        </p:spPr>
        <p:txBody>
          <a:bodyPr wrap="square" anchor="t" lIns="0" rIns="0" tIns="0" bIns="0">
            <a:spAutoFit/>
          </a:bodyPr>
          <a:lstStyle/>
          <a:p>
            <a:pPr algn="l"/>
            <a:r>
              <a:rPr sz="750" b="1">
                <a:solidFill>
                  <a:srgbClr val="637074"/>
                </a:solidFill>
                <a:latin typeface="맑은 고딕"/>
              </a:rPr>
              <a:t>V2</a:t>
            </a:r>
          </a:p>
        </p:txBody>
      </p:sp>
      <p:sp>
        <p:nvSpPr>
          <p:cNvPr id="45" name="Rectangle 44"/>
          <p:cNvSpPr/>
          <p:nvPr/>
        </p:nvSpPr>
        <p:spPr>
          <a:xfrm>
            <a:off x="2807208" y="3072384"/>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807208" y="3072384"/>
            <a:ext cx="603503" cy="173736"/>
          </a:xfrm>
          <a:prstGeom prst="rect">
            <a:avLst/>
          </a:prstGeom>
          <a:solidFill>
            <a:srgbClr val="4C9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65576" y="2999232"/>
            <a:ext cx="502920" cy="292608"/>
          </a:xfrm>
          <a:prstGeom prst="rect">
            <a:avLst/>
          </a:prstGeom>
          <a:noFill/>
        </p:spPr>
        <p:txBody>
          <a:bodyPr wrap="square" anchor="t" lIns="0" rIns="0" tIns="0" bIns="0">
            <a:spAutoFit/>
          </a:bodyPr>
          <a:lstStyle/>
          <a:p>
            <a:pPr algn="l"/>
            <a:r>
              <a:rPr sz="900" b="1">
                <a:solidFill>
                  <a:srgbClr val="4C9D95"/>
                </a:solidFill>
                <a:latin typeface="맑은 고딕"/>
              </a:rPr>
              <a:t>60.0</a:t>
            </a:r>
          </a:p>
        </p:txBody>
      </p:sp>
      <p:sp>
        <p:nvSpPr>
          <p:cNvPr id="48" name="TextBox 47"/>
          <p:cNvSpPr txBox="1"/>
          <p:nvPr/>
        </p:nvSpPr>
        <p:spPr>
          <a:xfrm>
            <a:off x="3922776" y="2834639"/>
            <a:ext cx="310896" cy="182880"/>
          </a:xfrm>
          <a:prstGeom prst="rect">
            <a:avLst/>
          </a:prstGeom>
          <a:noFill/>
        </p:spPr>
        <p:txBody>
          <a:bodyPr wrap="square" anchor="t" lIns="0" rIns="0" tIns="0" bIns="0">
            <a:spAutoFit/>
          </a:bodyPr>
          <a:lstStyle/>
          <a:p>
            <a:pPr algn="l"/>
            <a:r>
              <a:rPr sz="750" b="1">
                <a:solidFill>
                  <a:srgbClr val="637074"/>
                </a:solidFill>
                <a:latin typeface="맑은 고딕"/>
              </a:rPr>
              <a:t>V3</a:t>
            </a:r>
          </a:p>
        </p:txBody>
      </p:sp>
      <p:sp>
        <p:nvSpPr>
          <p:cNvPr id="49" name="Rectangle 48"/>
          <p:cNvSpPr/>
          <p:nvPr/>
        </p:nvSpPr>
        <p:spPr>
          <a:xfrm>
            <a:off x="3922776" y="3072384"/>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922776" y="3072384"/>
            <a:ext cx="712134" cy="173736"/>
          </a:xfrm>
          <a:prstGeom prst="rect">
            <a:avLst/>
          </a:prstGeom>
          <a:solidFill>
            <a:srgbClr val="E884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689774" y="2999232"/>
            <a:ext cx="502920" cy="292608"/>
          </a:xfrm>
          <a:prstGeom prst="rect">
            <a:avLst/>
          </a:prstGeom>
          <a:noFill/>
        </p:spPr>
        <p:txBody>
          <a:bodyPr wrap="square" anchor="t" lIns="0" rIns="0" tIns="0" bIns="0">
            <a:spAutoFit/>
          </a:bodyPr>
          <a:lstStyle/>
          <a:p>
            <a:pPr algn="l"/>
            <a:r>
              <a:rPr sz="900" b="1">
                <a:solidFill>
                  <a:srgbClr val="E8842B"/>
                </a:solidFill>
                <a:latin typeface="맑은 고딕"/>
              </a:rPr>
              <a:t>70.8</a:t>
            </a:r>
          </a:p>
        </p:txBody>
      </p:sp>
      <p:sp>
        <p:nvSpPr>
          <p:cNvPr id="52" name="TextBox 51"/>
          <p:cNvSpPr txBox="1"/>
          <p:nvPr/>
        </p:nvSpPr>
        <p:spPr>
          <a:xfrm>
            <a:off x="5038344" y="2834639"/>
            <a:ext cx="310896" cy="182880"/>
          </a:xfrm>
          <a:prstGeom prst="rect">
            <a:avLst/>
          </a:prstGeom>
          <a:noFill/>
        </p:spPr>
        <p:txBody>
          <a:bodyPr wrap="square" anchor="t" lIns="0" rIns="0" tIns="0" bIns="0">
            <a:spAutoFit/>
          </a:bodyPr>
          <a:lstStyle/>
          <a:p>
            <a:pPr algn="l"/>
            <a:r>
              <a:rPr sz="750" b="1">
                <a:solidFill>
                  <a:srgbClr val="637074"/>
                </a:solidFill>
                <a:latin typeface="맑은 고딕"/>
              </a:rPr>
              <a:t>V4</a:t>
            </a:r>
          </a:p>
        </p:txBody>
      </p:sp>
      <p:sp>
        <p:nvSpPr>
          <p:cNvPr id="53" name="Rectangle 52"/>
          <p:cNvSpPr/>
          <p:nvPr/>
        </p:nvSpPr>
        <p:spPr>
          <a:xfrm>
            <a:off x="5038344" y="3072384"/>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38344" y="3072384"/>
            <a:ext cx="712134" cy="173736"/>
          </a:xfrm>
          <a:prstGeom prst="rect">
            <a:avLst/>
          </a:prstGeom>
          <a:solidFill>
            <a:srgbClr val="168A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805342" y="2999232"/>
            <a:ext cx="502920" cy="292608"/>
          </a:xfrm>
          <a:prstGeom prst="rect">
            <a:avLst/>
          </a:prstGeom>
          <a:noFill/>
        </p:spPr>
        <p:txBody>
          <a:bodyPr wrap="square" anchor="t" lIns="0" rIns="0" tIns="0" bIns="0">
            <a:spAutoFit/>
          </a:bodyPr>
          <a:lstStyle/>
          <a:p>
            <a:pPr algn="l"/>
            <a:r>
              <a:rPr sz="900" b="1">
                <a:solidFill>
                  <a:srgbClr val="168A7E"/>
                </a:solidFill>
                <a:latin typeface="맑은 고딕"/>
              </a:rPr>
              <a:t>70.8</a:t>
            </a:r>
          </a:p>
        </p:txBody>
      </p:sp>
      <p:sp>
        <p:nvSpPr>
          <p:cNvPr id="56" name="TextBox 55"/>
          <p:cNvSpPr txBox="1"/>
          <p:nvPr/>
        </p:nvSpPr>
        <p:spPr>
          <a:xfrm>
            <a:off x="502920" y="3776472"/>
            <a:ext cx="1234440" cy="274320"/>
          </a:xfrm>
          <a:prstGeom prst="rect">
            <a:avLst/>
          </a:prstGeom>
          <a:noFill/>
        </p:spPr>
        <p:txBody>
          <a:bodyPr wrap="square" anchor="t" lIns="0" rIns="0" tIns="0" bIns="0">
            <a:spAutoFit/>
          </a:bodyPr>
          <a:lstStyle/>
          <a:p>
            <a:pPr algn="l"/>
            <a:r>
              <a:rPr sz="1000" b="1">
                <a:solidFill>
                  <a:srgbClr val="20282C"/>
                </a:solidFill>
                <a:latin typeface="맑은 고딕"/>
              </a:rPr>
              <a:t>Forbidden@5 ↓</a:t>
            </a:r>
          </a:p>
        </p:txBody>
      </p:sp>
      <p:sp>
        <p:nvSpPr>
          <p:cNvPr id="57" name="TextBox 56"/>
          <p:cNvSpPr txBox="1"/>
          <p:nvPr/>
        </p:nvSpPr>
        <p:spPr>
          <a:xfrm>
            <a:off x="1691640" y="3593591"/>
            <a:ext cx="310896" cy="182880"/>
          </a:xfrm>
          <a:prstGeom prst="rect">
            <a:avLst/>
          </a:prstGeom>
          <a:noFill/>
        </p:spPr>
        <p:txBody>
          <a:bodyPr wrap="square" anchor="t" lIns="0" rIns="0" tIns="0" bIns="0">
            <a:spAutoFit/>
          </a:bodyPr>
          <a:lstStyle/>
          <a:p>
            <a:pPr algn="l"/>
            <a:r>
              <a:rPr sz="750" b="1">
                <a:solidFill>
                  <a:srgbClr val="637074"/>
                </a:solidFill>
                <a:latin typeface="맑은 고딕"/>
              </a:rPr>
              <a:t>V1</a:t>
            </a:r>
          </a:p>
        </p:txBody>
      </p:sp>
      <p:sp>
        <p:nvSpPr>
          <p:cNvPr id="58" name="Rectangle 57"/>
          <p:cNvSpPr/>
          <p:nvPr/>
        </p:nvSpPr>
        <p:spPr>
          <a:xfrm>
            <a:off x="1691640" y="3831335"/>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691640" y="3831335"/>
            <a:ext cx="651784" cy="173736"/>
          </a:xfrm>
          <a:prstGeom prst="rect">
            <a:avLst/>
          </a:prstGeom>
          <a:solidFill>
            <a:srgbClr val="AAB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398288" y="3758183"/>
            <a:ext cx="502920" cy="292608"/>
          </a:xfrm>
          <a:prstGeom prst="rect">
            <a:avLst/>
          </a:prstGeom>
          <a:noFill/>
        </p:spPr>
        <p:txBody>
          <a:bodyPr wrap="square" anchor="t" lIns="0" rIns="0" tIns="0" bIns="0">
            <a:spAutoFit/>
          </a:bodyPr>
          <a:lstStyle/>
          <a:p>
            <a:pPr algn="l"/>
            <a:r>
              <a:rPr sz="900" b="1">
                <a:solidFill>
                  <a:srgbClr val="AAB6B8"/>
                </a:solidFill>
                <a:latin typeface="맑은 고딕"/>
              </a:rPr>
              <a:t>24.3</a:t>
            </a:r>
          </a:p>
        </p:txBody>
      </p:sp>
      <p:sp>
        <p:nvSpPr>
          <p:cNvPr id="61" name="TextBox 60"/>
          <p:cNvSpPr txBox="1"/>
          <p:nvPr/>
        </p:nvSpPr>
        <p:spPr>
          <a:xfrm>
            <a:off x="2807208" y="3593591"/>
            <a:ext cx="310896" cy="182880"/>
          </a:xfrm>
          <a:prstGeom prst="rect">
            <a:avLst/>
          </a:prstGeom>
          <a:noFill/>
        </p:spPr>
        <p:txBody>
          <a:bodyPr wrap="square" anchor="t" lIns="0" rIns="0" tIns="0" bIns="0">
            <a:spAutoFit/>
          </a:bodyPr>
          <a:lstStyle/>
          <a:p>
            <a:pPr algn="l"/>
            <a:r>
              <a:rPr sz="750" b="1">
                <a:solidFill>
                  <a:srgbClr val="637074"/>
                </a:solidFill>
                <a:latin typeface="맑은 고딕"/>
              </a:rPr>
              <a:t>V2</a:t>
            </a:r>
          </a:p>
        </p:txBody>
      </p:sp>
      <p:sp>
        <p:nvSpPr>
          <p:cNvPr id="62" name="Rectangle 61"/>
          <p:cNvSpPr/>
          <p:nvPr/>
        </p:nvSpPr>
        <p:spPr>
          <a:xfrm>
            <a:off x="2807208" y="3831335"/>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807208" y="3831335"/>
            <a:ext cx="498896" cy="173736"/>
          </a:xfrm>
          <a:prstGeom prst="rect">
            <a:avLst/>
          </a:prstGeom>
          <a:solidFill>
            <a:srgbClr val="4C9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360968" y="3758183"/>
            <a:ext cx="502920" cy="292608"/>
          </a:xfrm>
          <a:prstGeom prst="rect">
            <a:avLst/>
          </a:prstGeom>
          <a:noFill/>
        </p:spPr>
        <p:txBody>
          <a:bodyPr wrap="square" anchor="t" lIns="0" rIns="0" tIns="0" bIns="0">
            <a:spAutoFit/>
          </a:bodyPr>
          <a:lstStyle/>
          <a:p>
            <a:pPr algn="l"/>
            <a:r>
              <a:rPr sz="900" b="1">
                <a:solidFill>
                  <a:srgbClr val="4C9D95"/>
                </a:solidFill>
                <a:latin typeface="맑은 고딕"/>
              </a:rPr>
              <a:t>18.6</a:t>
            </a:r>
          </a:p>
        </p:txBody>
      </p:sp>
      <p:sp>
        <p:nvSpPr>
          <p:cNvPr id="65" name="TextBox 64"/>
          <p:cNvSpPr txBox="1"/>
          <p:nvPr/>
        </p:nvSpPr>
        <p:spPr>
          <a:xfrm>
            <a:off x="3922776" y="3593591"/>
            <a:ext cx="310896" cy="182880"/>
          </a:xfrm>
          <a:prstGeom prst="rect">
            <a:avLst/>
          </a:prstGeom>
          <a:noFill/>
        </p:spPr>
        <p:txBody>
          <a:bodyPr wrap="square" anchor="t" lIns="0" rIns="0" tIns="0" bIns="0">
            <a:spAutoFit/>
          </a:bodyPr>
          <a:lstStyle/>
          <a:p>
            <a:pPr algn="l"/>
            <a:r>
              <a:rPr sz="750" b="1">
                <a:solidFill>
                  <a:srgbClr val="637074"/>
                </a:solidFill>
                <a:latin typeface="맑은 고딕"/>
              </a:rPr>
              <a:t>V3</a:t>
            </a:r>
          </a:p>
        </p:txBody>
      </p:sp>
      <p:sp>
        <p:nvSpPr>
          <p:cNvPr id="66" name="Rectangle 65"/>
          <p:cNvSpPr/>
          <p:nvPr/>
        </p:nvSpPr>
        <p:spPr>
          <a:xfrm>
            <a:off x="3922776" y="3831335"/>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922776" y="3831335"/>
            <a:ext cx="536448" cy="173736"/>
          </a:xfrm>
          <a:prstGeom prst="rect">
            <a:avLst/>
          </a:prstGeom>
          <a:solidFill>
            <a:srgbClr val="E884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14088" y="3758183"/>
            <a:ext cx="502920" cy="292608"/>
          </a:xfrm>
          <a:prstGeom prst="rect">
            <a:avLst/>
          </a:prstGeom>
          <a:noFill/>
        </p:spPr>
        <p:txBody>
          <a:bodyPr wrap="square" anchor="t" lIns="0" rIns="0" tIns="0" bIns="0">
            <a:spAutoFit/>
          </a:bodyPr>
          <a:lstStyle/>
          <a:p>
            <a:pPr algn="l"/>
            <a:r>
              <a:rPr sz="900" b="1">
                <a:solidFill>
                  <a:srgbClr val="E8842B"/>
                </a:solidFill>
                <a:latin typeface="맑은 고딕"/>
              </a:rPr>
              <a:t>20.0</a:t>
            </a:r>
          </a:p>
        </p:txBody>
      </p:sp>
      <p:sp>
        <p:nvSpPr>
          <p:cNvPr id="69" name="TextBox 68"/>
          <p:cNvSpPr txBox="1"/>
          <p:nvPr/>
        </p:nvSpPr>
        <p:spPr>
          <a:xfrm>
            <a:off x="5038344" y="3593591"/>
            <a:ext cx="310896" cy="182880"/>
          </a:xfrm>
          <a:prstGeom prst="rect">
            <a:avLst/>
          </a:prstGeom>
          <a:noFill/>
        </p:spPr>
        <p:txBody>
          <a:bodyPr wrap="square" anchor="t" lIns="0" rIns="0" tIns="0" bIns="0">
            <a:spAutoFit/>
          </a:bodyPr>
          <a:lstStyle/>
          <a:p>
            <a:pPr algn="l"/>
            <a:r>
              <a:rPr sz="750" b="1">
                <a:solidFill>
                  <a:srgbClr val="637074"/>
                </a:solidFill>
                <a:latin typeface="맑은 고딕"/>
              </a:rPr>
              <a:t>V4</a:t>
            </a:r>
          </a:p>
        </p:txBody>
      </p:sp>
      <p:sp>
        <p:nvSpPr>
          <p:cNvPr id="70" name="Rectangle 69"/>
          <p:cNvSpPr/>
          <p:nvPr/>
        </p:nvSpPr>
        <p:spPr>
          <a:xfrm>
            <a:off x="5038344" y="3831335"/>
            <a:ext cx="804672" cy="173736"/>
          </a:xfrm>
          <a:prstGeom prst="rect">
            <a:avLst/>
          </a:prstGeom>
          <a:solidFill>
            <a:srgbClr val="E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038344" y="3831335"/>
            <a:ext cx="421111" cy="173736"/>
          </a:xfrm>
          <a:prstGeom prst="rect">
            <a:avLst/>
          </a:prstGeom>
          <a:solidFill>
            <a:srgbClr val="168A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514319" y="3758183"/>
            <a:ext cx="502920" cy="292608"/>
          </a:xfrm>
          <a:prstGeom prst="rect">
            <a:avLst/>
          </a:prstGeom>
          <a:noFill/>
        </p:spPr>
        <p:txBody>
          <a:bodyPr wrap="square" anchor="t" lIns="0" rIns="0" tIns="0" bIns="0">
            <a:spAutoFit/>
          </a:bodyPr>
          <a:lstStyle/>
          <a:p>
            <a:pPr algn="l"/>
            <a:r>
              <a:rPr sz="900" b="1">
                <a:solidFill>
                  <a:srgbClr val="168A7E"/>
                </a:solidFill>
                <a:latin typeface="맑은 고딕"/>
              </a:rPr>
              <a:t>15.7</a:t>
            </a:r>
          </a:p>
        </p:txBody>
      </p:sp>
      <p:sp>
        <p:nvSpPr>
          <p:cNvPr id="73" name="Rectangle 72"/>
          <p:cNvSpPr/>
          <p:nvPr/>
        </p:nvSpPr>
        <p:spPr>
          <a:xfrm>
            <a:off x="6473952" y="1362456"/>
            <a:ext cx="2167128" cy="3328416"/>
          </a:xfrm>
          <a:prstGeom prst="rect">
            <a:avLst/>
          </a:prstGeom>
          <a:solidFill>
            <a:srgbClr val="F4FAF9"/>
          </a:solidFill>
          <a:ln w="10160">
            <a:solidFill>
              <a:srgbClr val="DC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711696" y="1572768"/>
            <a:ext cx="1463040" cy="274320"/>
          </a:xfrm>
          <a:prstGeom prst="rect">
            <a:avLst/>
          </a:prstGeom>
          <a:noFill/>
        </p:spPr>
        <p:txBody>
          <a:bodyPr wrap="square" anchor="t" lIns="0" rIns="0" tIns="0" bIns="0">
            <a:spAutoFit/>
          </a:bodyPr>
          <a:lstStyle/>
          <a:p>
            <a:pPr algn="l"/>
            <a:r>
              <a:rPr sz="1100" b="1">
                <a:solidFill>
                  <a:srgbClr val="168A7E"/>
                </a:solidFill>
                <a:latin typeface="맑은 고딕"/>
              </a:rPr>
              <a:t>V3 → V4</a:t>
            </a:r>
          </a:p>
        </p:txBody>
      </p:sp>
      <p:sp>
        <p:nvSpPr>
          <p:cNvPr id="75" name="TextBox 74"/>
          <p:cNvSpPr txBox="1"/>
          <p:nvPr/>
        </p:nvSpPr>
        <p:spPr>
          <a:xfrm>
            <a:off x="6711696" y="1993392"/>
            <a:ext cx="960120" cy="256032"/>
          </a:xfrm>
          <a:prstGeom prst="rect">
            <a:avLst/>
          </a:prstGeom>
          <a:noFill/>
        </p:spPr>
        <p:txBody>
          <a:bodyPr wrap="square" anchor="t" lIns="0" rIns="0" tIns="0" bIns="0">
            <a:spAutoFit/>
          </a:bodyPr>
          <a:lstStyle/>
          <a:p>
            <a:pPr algn="l"/>
            <a:r>
              <a:rPr sz="900" b="0">
                <a:solidFill>
                  <a:srgbClr val="637074"/>
                </a:solidFill>
                <a:latin typeface="맑은 고딕"/>
              </a:rPr>
              <a:t>Must@5</a:t>
            </a:r>
          </a:p>
        </p:txBody>
      </p:sp>
      <p:sp>
        <p:nvSpPr>
          <p:cNvPr id="76" name="TextBox 75"/>
          <p:cNvSpPr txBox="1"/>
          <p:nvPr/>
        </p:nvSpPr>
        <p:spPr>
          <a:xfrm>
            <a:off x="7644383" y="1965960"/>
            <a:ext cx="658368" cy="283464"/>
          </a:xfrm>
          <a:prstGeom prst="rect">
            <a:avLst/>
          </a:prstGeom>
          <a:noFill/>
        </p:spPr>
        <p:txBody>
          <a:bodyPr wrap="square" anchor="t" lIns="0" rIns="0" tIns="0" bIns="0">
            <a:spAutoFit/>
          </a:bodyPr>
          <a:lstStyle/>
          <a:p>
            <a:pPr algn="r"/>
            <a:r>
              <a:rPr sz="1300" b="1">
                <a:solidFill>
                  <a:srgbClr val="168A7E"/>
                </a:solidFill>
                <a:latin typeface="맑은 고딕"/>
              </a:rPr>
              <a:t>+8.0p</a:t>
            </a:r>
          </a:p>
        </p:txBody>
      </p:sp>
      <p:sp>
        <p:nvSpPr>
          <p:cNvPr id="77" name="TextBox 76"/>
          <p:cNvSpPr txBox="1"/>
          <p:nvPr/>
        </p:nvSpPr>
        <p:spPr>
          <a:xfrm>
            <a:off x="6711696" y="2496312"/>
            <a:ext cx="960120" cy="256032"/>
          </a:xfrm>
          <a:prstGeom prst="rect">
            <a:avLst/>
          </a:prstGeom>
          <a:noFill/>
        </p:spPr>
        <p:txBody>
          <a:bodyPr wrap="square" anchor="t" lIns="0" rIns="0" tIns="0" bIns="0">
            <a:spAutoFit/>
          </a:bodyPr>
          <a:lstStyle/>
          <a:p>
            <a:pPr algn="l"/>
            <a:r>
              <a:rPr sz="900" b="0">
                <a:solidFill>
                  <a:srgbClr val="637074"/>
                </a:solidFill>
                <a:latin typeface="맑은 고딕"/>
              </a:rPr>
              <a:t>NDCG@5</a:t>
            </a:r>
          </a:p>
        </p:txBody>
      </p:sp>
      <p:sp>
        <p:nvSpPr>
          <p:cNvPr id="78" name="TextBox 77"/>
          <p:cNvSpPr txBox="1"/>
          <p:nvPr/>
        </p:nvSpPr>
        <p:spPr>
          <a:xfrm>
            <a:off x="7644383" y="2468880"/>
            <a:ext cx="658368" cy="283464"/>
          </a:xfrm>
          <a:prstGeom prst="rect">
            <a:avLst/>
          </a:prstGeom>
          <a:noFill/>
        </p:spPr>
        <p:txBody>
          <a:bodyPr wrap="square" anchor="t" lIns="0" rIns="0" tIns="0" bIns="0">
            <a:spAutoFit/>
          </a:bodyPr>
          <a:lstStyle/>
          <a:p>
            <a:pPr algn="r"/>
            <a:r>
              <a:rPr sz="1300" b="1">
                <a:solidFill>
                  <a:srgbClr val="168A7E"/>
                </a:solidFill>
                <a:latin typeface="맑은 고딕"/>
              </a:rPr>
              <a:t>+5.0p</a:t>
            </a:r>
          </a:p>
        </p:txBody>
      </p:sp>
      <p:sp>
        <p:nvSpPr>
          <p:cNvPr id="79" name="TextBox 78"/>
          <p:cNvSpPr txBox="1"/>
          <p:nvPr/>
        </p:nvSpPr>
        <p:spPr>
          <a:xfrm>
            <a:off x="6711696" y="2999232"/>
            <a:ext cx="960120" cy="256032"/>
          </a:xfrm>
          <a:prstGeom prst="rect">
            <a:avLst/>
          </a:prstGeom>
          <a:noFill/>
        </p:spPr>
        <p:txBody>
          <a:bodyPr wrap="square" anchor="t" lIns="0" rIns="0" tIns="0" bIns="0">
            <a:spAutoFit/>
          </a:bodyPr>
          <a:lstStyle/>
          <a:p>
            <a:pPr algn="l"/>
            <a:r>
              <a:rPr sz="900" b="0">
                <a:solidFill>
                  <a:srgbClr val="637074"/>
                </a:solidFill>
                <a:latin typeface="맑은 고딕"/>
              </a:rPr>
              <a:t>Tag Match</a:t>
            </a:r>
          </a:p>
        </p:txBody>
      </p:sp>
      <p:sp>
        <p:nvSpPr>
          <p:cNvPr id="80" name="TextBox 79"/>
          <p:cNvSpPr txBox="1"/>
          <p:nvPr/>
        </p:nvSpPr>
        <p:spPr>
          <a:xfrm>
            <a:off x="7644383" y="2971800"/>
            <a:ext cx="658368" cy="283464"/>
          </a:xfrm>
          <a:prstGeom prst="rect">
            <a:avLst/>
          </a:prstGeom>
          <a:noFill/>
        </p:spPr>
        <p:txBody>
          <a:bodyPr wrap="square" anchor="t" lIns="0" rIns="0" tIns="0" bIns="0">
            <a:spAutoFit/>
          </a:bodyPr>
          <a:lstStyle/>
          <a:p>
            <a:pPr algn="r"/>
            <a:r>
              <a:rPr sz="1300" b="1">
                <a:solidFill>
                  <a:srgbClr val="168A7E"/>
                </a:solidFill>
                <a:latin typeface="맑은 고딕"/>
              </a:rPr>
              <a:t>+11.2p</a:t>
            </a:r>
          </a:p>
        </p:txBody>
      </p:sp>
      <p:sp>
        <p:nvSpPr>
          <p:cNvPr id="81" name="TextBox 80"/>
          <p:cNvSpPr txBox="1"/>
          <p:nvPr/>
        </p:nvSpPr>
        <p:spPr>
          <a:xfrm>
            <a:off x="6711696" y="3502152"/>
            <a:ext cx="960120" cy="256032"/>
          </a:xfrm>
          <a:prstGeom prst="rect">
            <a:avLst/>
          </a:prstGeom>
          <a:noFill/>
        </p:spPr>
        <p:txBody>
          <a:bodyPr wrap="square" anchor="t" lIns="0" rIns="0" tIns="0" bIns="0">
            <a:spAutoFit/>
          </a:bodyPr>
          <a:lstStyle/>
          <a:p>
            <a:pPr algn="l"/>
            <a:r>
              <a:rPr sz="900" b="0">
                <a:solidFill>
                  <a:srgbClr val="637074"/>
                </a:solidFill>
                <a:latin typeface="맑은 고딕"/>
              </a:rPr>
              <a:t>Forbidden</a:t>
            </a:r>
          </a:p>
        </p:txBody>
      </p:sp>
      <p:sp>
        <p:nvSpPr>
          <p:cNvPr id="82" name="TextBox 81"/>
          <p:cNvSpPr txBox="1"/>
          <p:nvPr/>
        </p:nvSpPr>
        <p:spPr>
          <a:xfrm>
            <a:off x="7644383" y="3474720"/>
            <a:ext cx="658368" cy="283464"/>
          </a:xfrm>
          <a:prstGeom prst="rect">
            <a:avLst/>
          </a:prstGeom>
          <a:noFill/>
        </p:spPr>
        <p:txBody>
          <a:bodyPr wrap="square" anchor="t" lIns="0" rIns="0" tIns="0" bIns="0">
            <a:spAutoFit/>
          </a:bodyPr>
          <a:lstStyle/>
          <a:p>
            <a:pPr algn="r"/>
            <a:r>
              <a:rPr sz="1300" b="1">
                <a:solidFill>
                  <a:srgbClr val="168A7E"/>
                </a:solidFill>
                <a:latin typeface="맑은 고딕"/>
              </a:rPr>
              <a:t>−4.3p</a:t>
            </a:r>
          </a:p>
        </p:txBody>
      </p:sp>
      <p:cxnSp>
        <p:nvCxnSpPr>
          <p:cNvPr id="83" name="Connector 82"/>
          <p:cNvCxnSpPr/>
          <p:nvPr/>
        </p:nvCxnSpPr>
        <p:spPr>
          <a:xfrm>
            <a:off x="6711696" y="4059936"/>
            <a:ext cx="1682496" cy="0"/>
          </a:xfrm>
          <a:prstGeom prst="line">
            <a:avLst/>
          </a:prstGeom>
          <a:ln w="10160">
            <a:solidFill>
              <a:srgbClr val="DCE6E3"/>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711696" y="4197096"/>
            <a:ext cx="1682496" cy="228600"/>
          </a:xfrm>
          <a:prstGeom prst="rect">
            <a:avLst/>
          </a:prstGeom>
          <a:noFill/>
        </p:spPr>
        <p:txBody>
          <a:bodyPr wrap="square" anchor="t" lIns="0" rIns="0" tIns="0" bIns="0">
            <a:spAutoFit/>
          </a:bodyPr>
          <a:lstStyle/>
          <a:p>
            <a:pPr algn="l"/>
            <a:r>
              <a:rPr sz="850" b="1">
                <a:solidFill>
                  <a:srgbClr val="20282C"/>
                </a:solidFill>
                <a:latin typeface="맑은 고딕"/>
              </a:rPr>
              <a:t>Must@10 78% · MRR 42.5%</a:t>
            </a:r>
          </a:p>
        </p:txBody>
      </p:sp>
      <p:sp>
        <p:nvSpPr>
          <p:cNvPr id="85" name="TextBox 84"/>
          <p:cNvSpPr txBox="1"/>
          <p:nvPr/>
        </p:nvSpPr>
        <p:spPr>
          <a:xfrm>
            <a:off x="6711696" y="4443984"/>
            <a:ext cx="1682496" cy="201168"/>
          </a:xfrm>
          <a:prstGeom prst="rect">
            <a:avLst/>
          </a:prstGeom>
          <a:noFill/>
        </p:spPr>
        <p:txBody>
          <a:bodyPr wrap="square" anchor="t" lIns="0" rIns="0" tIns="0" bIns="0">
            <a:spAutoFit/>
          </a:bodyPr>
          <a:lstStyle/>
          <a:p>
            <a:pPr algn="l"/>
            <a:r>
              <a:rPr sz="800" b="0">
                <a:solidFill>
                  <a:srgbClr val="637074"/>
                </a:solidFill>
                <a:latin typeface="맑은 고딕"/>
              </a:rPr>
              <a:t>중복·폐업·비서빙 누수 0</a:t>
            </a:r>
          </a:p>
        </p:txBody>
      </p:sp>
      <p:sp>
        <p:nvSpPr>
          <p:cNvPr id="86" name="TextBox 85"/>
          <p:cNvSpPr txBox="1"/>
          <p:nvPr/>
        </p:nvSpPr>
        <p:spPr>
          <a:xfrm>
            <a:off x="502920" y="4718304"/>
            <a:ext cx="3657600" cy="256032"/>
          </a:xfrm>
          <a:prstGeom prst="rect">
            <a:avLst/>
          </a:prstGeom>
          <a:noFill/>
        </p:spPr>
        <p:txBody>
          <a:bodyPr wrap="square" anchor="t" lIns="0" rIns="0" tIns="0" bIns="0">
            <a:spAutoFit/>
          </a:bodyPr>
          <a:lstStyle/>
          <a:p>
            <a:pPr algn="l"/>
            <a:r>
              <a:rPr sz="900" b="0">
                <a:solidFill>
                  <a:srgbClr val="637074"/>
                </a:solidFill>
                <a:latin typeface="맑은 고딕"/>
              </a:rPr>
              <a:t>카페인제주  ·  팀 마요선수</a:t>
            </a:r>
          </a:p>
        </p:txBody>
      </p:sp>
      <p:sp>
        <p:nvSpPr>
          <p:cNvPr id="87" name="TextBox 86"/>
          <p:cNvSpPr txBox="1"/>
          <p:nvPr/>
        </p:nvSpPr>
        <p:spPr>
          <a:xfrm>
            <a:off x="8092440" y="4718304"/>
            <a:ext cx="548640" cy="256032"/>
          </a:xfrm>
          <a:prstGeom prst="rect">
            <a:avLst/>
          </a:prstGeom>
          <a:noFill/>
        </p:spPr>
        <p:txBody>
          <a:bodyPr wrap="square" anchor="t" lIns="0" rIns="0" tIns="0" bIns="0">
            <a:spAutoFit/>
          </a:bodyPr>
          <a:lstStyle/>
          <a:p>
            <a:pPr algn="r"/>
            <a:r>
              <a:rPr sz="1100" b="1">
                <a:solidFill>
                  <a:srgbClr val="20282C"/>
                </a:solidFill>
                <a:latin typeface="맑은 고딕"/>
              </a:rPr>
              <a:t>13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7315200" cy="256032"/>
          </a:xfrm>
          <a:prstGeom prst="rect">
            <a:avLst/>
          </a:prstGeom>
          <a:noFill/>
        </p:spPr>
        <p:txBody>
          <a:bodyPr wrap="square" anchor="t" lIns="0" rIns="0" tIns="0" bIns="0">
            <a:spAutoFit/>
          </a:bodyPr>
          <a:lstStyle/>
          <a:p>
            <a:pPr algn="l"/>
            <a:r>
              <a:rPr sz="1100" b="1">
                <a:solidFill>
                  <a:srgbClr val="20282C"/>
                </a:solidFill>
                <a:latin typeface="맑은 고딕"/>
              </a:rPr>
              <a:t>06  EVALUATION ④</a:t>
            </a:r>
          </a:p>
        </p:txBody>
      </p:sp>
      <p:sp>
        <p:nvSpPr>
          <p:cNvPr id="3" name="TextBox 2"/>
          <p:cNvSpPr txBox="1"/>
          <p:nvPr/>
        </p:nvSpPr>
        <p:spPr>
          <a:xfrm>
            <a:off x="502920" y="548640"/>
            <a:ext cx="8138160" cy="530352"/>
          </a:xfrm>
          <a:prstGeom prst="rect">
            <a:avLst/>
          </a:prstGeom>
          <a:noFill/>
        </p:spPr>
        <p:txBody>
          <a:bodyPr wrap="square" anchor="t" lIns="0" rIns="0" tIns="0" bIns="0">
            <a:spAutoFit/>
          </a:bodyPr>
          <a:lstStyle/>
          <a:p>
            <a:pPr algn="l"/>
            <a:r>
              <a:rPr sz="2700" b="1">
                <a:solidFill>
                  <a:srgbClr val="20282C"/>
                </a:solidFill>
                <a:latin typeface="맑은 고딕"/>
              </a:rPr>
              <a:t>정확도는 코어가, 예외 처리는 에이전트가 책임진다</a:t>
            </a:r>
          </a:p>
        </p:txBody>
      </p:sp>
      <p:sp>
        <p:nvSpPr>
          <p:cNvPr id="4" name="TextBox 3"/>
          <p:cNvSpPr txBox="1"/>
          <p:nvPr/>
        </p:nvSpPr>
        <p:spPr>
          <a:xfrm>
            <a:off x="502920" y="1060704"/>
            <a:ext cx="8138160" cy="256032"/>
          </a:xfrm>
          <a:prstGeom prst="rect">
            <a:avLst/>
          </a:prstGeom>
          <a:noFill/>
        </p:spPr>
        <p:txBody>
          <a:bodyPr wrap="square" anchor="t" lIns="0" rIns="0" tIns="0" bIns="0">
            <a:spAutoFit/>
          </a:bodyPr>
          <a:lstStyle/>
          <a:p>
            <a:pPr algn="l"/>
            <a:r>
              <a:rPr sz="950" b="0">
                <a:solidFill>
                  <a:srgbClr val="637074"/>
                </a:solidFill>
                <a:latin typeface="맑은 고딕"/>
              </a:rPr>
              <a:t>V4 /search와 /agent의 Gold 50 순위 지표는 완전히 동일했습니다.</a:t>
            </a:r>
          </a:p>
        </p:txBody>
      </p:sp>
      <p:sp>
        <p:nvSpPr>
          <p:cNvPr id="5" name="Rectangle 4"/>
          <p:cNvSpPr/>
          <p:nvPr/>
        </p:nvSpPr>
        <p:spPr>
          <a:xfrm>
            <a:off x="502920" y="1417320"/>
            <a:ext cx="3822191" cy="1947672"/>
          </a:xfrm>
          <a:prstGeom prst="rect">
            <a:avLst/>
          </a:prstGeom>
          <a:solidFill>
            <a:srgbClr val="E7F3F1"/>
          </a:solidFill>
          <a:ln w="10160">
            <a:solidFill>
              <a:srgbClr val="DC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600200"/>
            <a:ext cx="685800" cy="210312"/>
          </a:xfrm>
          <a:prstGeom prst="rect">
            <a:avLst/>
          </a:prstGeom>
          <a:noFill/>
        </p:spPr>
        <p:txBody>
          <a:bodyPr wrap="square" anchor="t" lIns="0" rIns="0" tIns="0" bIns="0">
            <a:spAutoFit/>
          </a:bodyPr>
          <a:lstStyle/>
          <a:p>
            <a:pPr algn="l"/>
            <a:r>
              <a:rPr sz="800" b="1">
                <a:solidFill>
                  <a:srgbClr val="0F5257"/>
                </a:solidFill>
                <a:latin typeface="맑은 고딕"/>
              </a:rPr>
              <a:t>항상 실행</a:t>
            </a:r>
          </a:p>
        </p:txBody>
      </p:sp>
      <p:sp>
        <p:nvSpPr>
          <p:cNvPr id="7" name="TextBox 6"/>
          <p:cNvSpPr txBox="1"/>
          <p:nvPr/>
        </p:nvSpPr>
        <p:spPr>
          <a:xfrm>
            <a:off x="713232" y="1883664"/>
            <a:ext cx="2011680" cy="365760"/>
          </a:xfrm>
          <a:prstGeom prst="rect">
            <a:avLst/>
          </a:prstGeom>
          <a:noFill/>
        </p:spPr>
        <p:txBody>
          <a:bodyPr wrap="square" anchor="t" lIns="0" rIns="0" tIns="0" bIns="0">
            <a:spAutoFit/>
          </a:bodyPr>
          <a:lstStyle/>
          <a:p>
            <a:pPr algn="l"/>
            <a:r>
              <a:rPr sz="1900" b="1">
                <a:solidFill>
                  <a:srgbClr val="0F5257"/>
                </a:solidFill>
                <a:latin typeface="맑은 고딕"/>
              </a:rPr>
              <a:t>/search core</a:t>
            </a:r>
          </a:p>
        </p:txBody>
      </p:sp>
      <p:sp>
        <p:nvSpPr>
          <p:cNvPr id="8" name="TextBox 7"/>
          <p:cNvSpPr txBox="1"/>
          <p:nvPr/>
        </p:nvSpPr>
        <p:spPr>
          <a:xfrm>
            <a:off x="713232" y="2313432"/>
            <a:ext cx="3108960" cy="274320"/>
          </a:xfrm>
          <a:prstGeom prst="rect">
            <a:avLst/>
          </a:prstGeom>
          <a:noFill/>
        </p:spPr>
        <p:txBody>
          <a:bodyPr wrap="square" anchor="t" lIns="0" rIns="0" tIns="0" bIns="0">
            <a:spAutoFit/>
          </a:bodyPr>
          <a:lstStyle/>
          <a:p>
            <a:pPr algn="l"/>
            <a:r>
              <a:rPr sz="1000" b="1">
                <a:solidFill>
                  <a:srgbClr val="20282C"/>
                </a:solidFill>
                <a:latin typeface="맑은 고딕"/>
              </a:rPr>
              <a:t>태그 번역 · 어휘 게이트 · 하드 배제</a:t>
            </a:r>
          </a:p>
        </p:txBody>
      </p:sp>
      <p:sp>
        <p:nvSpPr>
          <p:cNvPr id="9" name="TextBox 8"/>
          <p:cNvSpPr txBox="1"/>
          <p:nvPr/>
        </p:nvSpPr>
        <p:spPr>
          <a:xfrm>
            <a:off x="713232" y="2660904"/>
            <a:ext cx="2651760" cy="246888"/>
          </a:xfrm>
          <a:prstGeom prst="rect">
            <a:avLst/>
          </a:prstGeom>
          <a:noFill/>
        </p:spPr>
        <p:txBody>
          <a:bodyPr wrap="square" anchor="t" lIns="0" rIns="0" tIns="0" bIns="0">
            <a:spAutoFit/>
          </a:bodyPr>
          <a:lstStyle/>
          <a:p>
            <a:pPr algn="l"/>
            <a:r>
              <a:rPr sz="1000" b="1">
                <a:solidFill>
                  <a:srgbClr val="0F5257"/>
                </a:solidFill>
                <a:latin typeface="맑은 고딕"/>
              </a:rPr>
              <a:t>Must@5 70% · NDCG@5 40%</a:t>
            </a:r>
          </a:p>
        </p:txBody>
      </p:sp>
      <p:sp>
        <p:nvSpPr>
          <p:cNvPr id="10" name="TextBox 9"/>
          <p:cNvSpPr txBox="1"/>
          <p:nvPr/>
        </p:nvSpPr>
        <p:spPr>
          <a:xfrm>
            <a:off x="713232" y="2990088"/>
            <a:ext cx="3127248" cy="210312"/>
          </a:xfrm>
          <a:prstGeom prst="rect">
            <a:avLst/>
          </a:prstGeom>
          <a:noFill/>
        </p:spPr>
        <p:txBody>
          <a:bodyPr wrap="square" anchor="t" lIns="0" rIns="0" tIns="0" bIns="0">
            <a:spAutoFit/>
          </a:bodyPr>
          <a:lstStyle/>
          <a:p>
            <a:pPr algn="l"/>
            <a:r>
              <a:rPr sz="850" b="0">
                <a:solidFill>
                  <a:srgbClr val="637074"/>
                </a:solidFill>
                <a:latin typeface="맑은 고딕"/>
              </a:rPr>
              <a:t>평균 1.55초  |  p95 2.27초  (10문항 표본)</a:t>
            </a:r>
          </a:p>
        </p:txBody>
      </p:sp>
      <p:sp>
        <p:nvSpPr>
          <p:cNvPr id="11" name="Rectangle 10"/>
          <p:cNvSpPr/>
          <p:nvPr/>
        </p:nvSpPr>
        <p:spPr>
          <a:xfrm>
            <a:off x="4590288" y="1417320"/>
            <a:ext cx="4050791" cy="1947672"/>
          </a:xfrm>
          <a:prstGeom prst="rect">
            <a:avLst/>
          </a:prstGeom>
          <a:solidFill>
            <a:srgbClr val="FBEEE0"/>
          </a:solidFill>
          <a:ln w="10160">
            <a:solidFill>
              <a:srgbClr val="DC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1600200"/>
            <a:ext cx="804672" cy="210312"/>
          </a:xfrm>
          <a:prstGeom prst="rect">
            <a:avLst/>
          </a:prstGeom>
          <a:noFill/>
        </p:spPr>
        <p:txBody>
          <a:bodyPr wrap="square" anchor="t" lIns="0" rIns="0" tIns="0" bIns="0">
            <a:spAutoFit/>
          </a:bodyPr>
          <a:lstStyle/>
          <a:p>
            <a:pPr algn="l"/>
            <a:r>
              <a:rPr sz="800" b="1">
                <a:solidFill>
                  <a:srgbClr val="B4530E"/>
                </a:solidFill>
                <a:latin typeface="맑은 고딕"/>
              </a:rPr>
              <a:t>조건부 실행</a:t>
            </a:r>
          </a:p>
        </p:txBody>
      </p:sp>
      <p:sp>
        <p:nvSpPr>
          <p:cNvPr id="13" name="TextBox 12"/>
          <p:cNvSpPr txBox="1"/>
          <p:nvPr/>
        </p:nvSpPr>
        <p:spPr>
          <a:xfrm>
            <a:off x="4800600" y="1883664"/>
            <a:ext cx="2011680" cy="365760"/>
          </a:xfrm>
          <a:prstGeom prst="rect">
            <a:avLst/>
          </a:prstGeom>
          <a:noFill/>
        </p:spPr>
        <p:txBody>
          <a:bodyPr wrap="square" anchor="t" lIns="0" rIns="0" tIns="0" bIns="0">
            <a:spAutoFit/>
          </a:bodyPr>
          <a:lstStyle/>
          <a:p>
            <a:pPr algn="l"/>
            <a:r>
              <a:rPr sz="1900" b="1">
                <a:solidFill>
                  <a:srgbClr val="B4530E"/>
                </a:solidFill>
                <a:latin typeface="맑은 고딕"/>
              </a:rPr>
              <a:t>/agent loop</a:t>
            </a:r>
          </a:p>
        </p:txBody>
      </p:sp>
      <p:sp>
        <p:nvSpPr>
          <p:cNvPr id="14" name="TextBox 13"/>
          <p:cNvSpPr txBox="1"/>
          <p:nvPr/>
        </p:nvSpPr>
        <p:spPr>
          <a:xfrm>
            <a:off x="4800600" y="2313432"/>
            <a:ext cx="3200400" cy="274320"/>
          </a:xfrm>
          <a:prstGeom prst="rect">
            <a:avLst/>
          </a:prstGeom>
          <a:noFill/>
        </p:spPr>
        <p:txBody>
          <a:bodyPr wrap="square" anchor="t" lIns="0" rIns="0" tIns="0" bIns="0">
            <a:spAutoFit/>
          </a:bodyPr>
          <a:lstStyle/>
          <a:p>
            <a:pPr algn="l"/>
            <a:r>
              <a:rPr sz="1000" b="1">
                <a:solidFill>
                  <a:srgbClr val="20282C"/>
                </a:solidFill>
                <a:latin typeface="맑은 고딕"/>
              </a:rPr>
              <a:t>LLM 판단 · 완화 · 외부검색 · 종합</a:t>
            </a:r>
          </a:p>
        </p:txBody>
      </p:sp>
      <p:sp>
        <p:nvSpPr>
          <p:cNvPr id="15" name="TextBox 14"/>
          <p:cNvSpPr txBox="1"/>
          <p:nvPr/>
        </p:nvSpPr>
        <p:spPr>
          <a:xfrm>
            <a:off x="4800600" y="2660904"/>
            <a:ext cx="3383280" cy="246888"/>
          </a:xfrm>
          <a:prstGeom prst="rect">
            <a:avLst/>
          </a:prstGeom>
          <a:noFill/>
        </p:spPr>
        <p:txBody>
          <a:bodyPr wrap="square" anchor="t" lIns="0" rIns="0" tIns="0" bIns="0">
            <a:spAutoFit/>
          </a:bodyPr>
          <a:lstStyle/>
          <a:p>
            <a:pPr algn="l"/>
            <a:r>
              <a:rPr sz="950" b="1">
                <a:solidFill>
                  <a:srgbClr val="B4530E"/>
                </a:solidFill>
                <a:latin typeface="맑은 고딕"/>
              </a:rPr>
              <a:t>Gold 50: 완화 0 · 외부검색 0 · 순위 변화 0</a:t>
            </a:r>
          </a:p>
        </p:txBody>
      </p:sp>
      <p:sp>
        <p:nvSpPr>
          <p:cNvPr id="16" name="TextBox 15"/>
          <p:cNvSpPr txBox="1"/>
          <p:nvPr/>
        </p:nvSpPr>
        <p:spPr>
          <a:xfrm>
            <a:off x="4800600" y="2990088"/>
            <a:ext cx="3154680" cy="210312"/>
          </a:xfrm>
          <a:prstGeom prst="rect">
            <a:avLst/>
          </a:prstGeom>
          <a:noFill/>
        </p:spPr>
        <p:txBody>
          <a:bodyPr wrap="square" anchor="t" lIns="0" rIns="0" tIns="0" bIns="0">
            <a:spAutoFit/>
          </a:bodyPr>
          <a:lstStyle/>
          <a:p>
            <a:pPr algn="l"/>
            <a:r>
              <a:rPr sz="850" b="0">
                <a:solidFill>
                  <a:srgbClr val="637074"/>
                </a:solidFill>
                <a:latin typeface="맑은 고딕"/>
              </a:rPr>
              <a:t>평균 10.39초  |  p95 14.68초</a:t>
            </a:r>
          </a:p>
        </p:txBody>
      </p:sp>
      <p:sp>
        <p:nvSpPr>
          <p:cNvPr id="17" name="Rectangle 16"/>
          <p:cNvSpPr/>
          <p:nvPr/>
        </p:nvSpPr>
        <p:spPr>
          <a:xfrm>
            <a:off x="502920" y="3639312"/>
            <a:ext cx="2560320" cy="859536"/>
          </a:xfrm>
          <a:prstGeom prst="rect">
            <a:avLst/>
          </a:prstGeom>
          <a:solidFill>
            <a:srgbClr val="E7F3F1"/>
          </a:solidFill>
          <a:ln w="10160">
            <a:solidFill>
              <a:srgbClr val="DC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730752"/>
            <a:ext cx="365760" cy="201168"/>
          </a:xfrm>
          <a:prstGeom prst="rect">
            <a:avLst/>
          </a:prstGeom>
          <a:noFill/>
        </p:spPr>
        <p:txBody>
          <a:bodyPr wrap="square" anchor="t" lIns="0" rIns="0" tIns="0" bIns="0">
            <a:spAutoFit/>
          </a:bodyPr>
          <a:lstStyle/>
          <a:p>
            <a:pPr algn="l"/>
            <a:r>
              <a:rPr sz="850" b="1">
                <a:solidFill>
                  <a:srgbClr val="0F5257"/>
                </a:solidFill>
                <a:latin typeface="맑은 고딕"/>
              </a:rPr>
              <a:t>P0</a:t>
            </a:r>
          </a:p>
        </p:txBody>
      </p:sp>
      <p:sp>
        <p:nvSpPr>
          <p:cNvPr id="19" name="TextBox 18"/>
          <p:cNvSpPr txBox="1"/>
          <p:nvPr/>
        </p:nvSpPr>
        <p:spPr>
          <a:xfrm>
            <a:off x="1051560" y="3712463"/>
            <a:ext cx="1783080" cy="237744"/>
          </a:xfrm>
          <a:prstGeom prst="rect">
            <a:avLst/>
          </a:prstGeom>
          <a:noFill/>
        </p:spPr>
        <p:txBody>
          <a:bodyPr wrap="square" anchor="t" lIns="0" rIns="0" tIns="0" bIns="0">
            <a:spAutoFit/>
          </a:bodyPr>
          <a:lstStyle/>
          <a:p>
            <a:pPr algn="l"/>
            <a:r>
              <a:rPr sz="1000" b="1">
                <a:solidFill>
                  <a:srgbClr val="20282C"/>
                </a:solidFill>
                <a:latin typeface="맑은 고딕"/>
              </a:rPr>
              <a:t>코어 기본값</a:t>
            </a:r>
          </a:p>
        </p:txBody>
      </p:sp>
      <p:sp>
        <p:nvSpPr>
          <p:cNvPr id="20" name="TextBox 19"/>
          <p:cNvSpPr txBox="1"/>
          <p:nvPr/>
        </p:nvSpPr>
        <p:spPr>
          <a:xfrm>
            <a:off x="1051560" y="3995928"/>
            <a:ext cx="1783080" cy="384048"/>
          </a:xfrm>
          <a:prstGeom prst="rect">
            <a:avLst/>
          </a:prstGeom>
          <a:noFill/>
        </p:spPr>
        <p:txBody>
          <a:bodyPr wrap="square" anchor="t" lIns="0" rIns="0" tIns="0" bIns="0">
            <a:spAutoFit/>
          </a:bodyPr>
          <a:lstStyle/>
          <a:p>
            <a:pPr algn="l"/>
            <a:r>
              <a:rPr sz="800" b="0">
                <a:solidFill>
                  <a:srgbClr val="637074"/>
                </a:solidFill>
                <a:latin typeface="맑은 고딕"/>
              </a:rPr>
              <a:t>V4 guarded search를
기본 검색으로 유지</a:t>
            </a:r>
          </a:p>
        </p:txBody>
      </p:sp>
      <p:sp>
        <p:nvSpPr>
          <p:cNvPr id="21" name="Rectangle 20"/>
          <p:cNvSpPr/>
          <p:nvPr/>
        </p:nvSpPr>
        <p:spPr>
          <a:xfrm>
            <a:off x="3291839" y="3639312"/>
            <a:ext cx="2560320" cy="859536"/>
          </a:xfrm>
          <a:prstGeom prst="rect">
            <a:avLst/>
          </a:prstGeom>
          <a:solidFill>
            <a:srgbClr val="FBEEE0"/>
          </a:solidFill>
          <a:ln w="10160">
            <a:solidFill>
              <a:srgbClr val="DC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19856" y="3730752"/>
            <a:ext cx="365760" cy="201168"/>
          </a:xfrm>
          <a:prstGeom prst="rect">
            <a:avLst/>
          </a:prstGeom>
          <a:noFill/>
        </p:spPr>
        <p:txBody>
          <a:bodyPr wrap="square" anchor="t" lIns="0" rIns="0" tIns="0" bIns="0">
            <a:spAutoFit/>
          </a:bodyPr>
          <a:lstStyle/>
          <a:p>
            <a:pPr algn="l"/>
            <a:r>
              <a:rPr sz="850" b="1">
                <a:solidFill>
                  <a:srgbClr val="B4530E"/>
                </a:solidFill>
                <a:latin typeface="맑은 고딕"/>
              </a:rPr>
              <a:t>P1</a:t>
            </a:r>
          </a:p>
        </p:txBody>
      </p:sp>
      <p:sp>
        <p:nvSpPr>
          <p:cNvPr id="23" name="TextBox 22"/>
          <p:cNvSpPr txBox="1"/>
          <p:nvPr/>
        </p:nvSpPr>
        <p:spPr>
          <a:xfrm>
            <a:off x="3840479" y="3712463"/>
            <a:ext cx="1783080" cy="237744"/>
          </a:xfrm>
          <a:prstGeom prst="rect">
            <a:avLst/>
          </a:prstGeom>
          <a:noFill/>
        </p:spPr>
        <p:txBody>
          <a:bodyPr wrap="square" anchor="t" lIns="0" rIns="0" tIns="0" bIns="0">
            <a:spAutoFit/>
          </a:bodyPr>
          <a:lstStyle/>
          <a:p>
            <a:pPr algn="l"/>
            <a:r>
              <a:rPr sz="1000" b="1">
                <a:solidFill>
                  <a:srgbClr val="20282C"/>
                </a:solidFill>
                <a:latin typeface="맑은 고딕"/>
              </a:rPr>
              <a:t>에이전트 조건부</a:t>
            </a:r>
          </a:p>
        </p:txBody>
      </p:sp>
      <p:sp>
        <p:nvSpPr>
          <p:cNvPr id="24" name="TextBox 23"/>
          <p:cNvSpPr txBox="1"/>
          <p:nvPr/>
        </p:nvSpPr>
        <p:spPr>
          <a:xfrm>
            <a:off x="3840479" y="3995928"/>
            <a:ext cx="1783080" cy="384048"/>
          </a:xfrm>
          <a:prstGeom prst="rect">
            <a:avLst/>
          </a:prstGeom>
          <a:noFill/>
        </p:spPr>
        <p:txBody>
          <a:bodyPr wrap="square" anchor="t" lIns="0" rIns="0" tIns="0" bIns="0">
            <a:spAutoFit/>
          </a:bodyPr>
          <a:lstStyle/>
          <a:p>
            <a:pPr algn="l"/>
            <a:r>
              <a:rPr sz="800" b="0">
                <a:solidFill>
                  <a:srgbClr val="637074"/>
                </a:solidFill>
                <a:latin typeface="맑은 고딕"/>
              </a:rPr>
              <a:t>0건·저신뢰일 때만
판단 루프 호출</a:t>
            </a:r>
          </a:p>
        </p:txBody>
      </p:sp>
      <p:sp>
        <p:nvSpPr>
          <p:cNvPr id="25" name="Rectangle 24"/>
          <p:cNvSpPr/>
          <p:nvPr/>
        </p:nvSpPr>
        <p:spPr>
          <a:xfrm>
            <a:off x="6080759" y="3639312"/>
            <a:ext cx="2560320" cy="859536"/>
          </a:xfrm>
          <a:prstGeom prst="rect">
            <a:avLst/>
          </a:prstGeom>
          <a:solidFill>
            <a:srgbClr val="EDF1F0"/>
          </a:solidFill>
          <a:ln w="10160">
            <a:solidFill>
              <a:srgbClr val="DC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08775" y="3730752"/>
            <a:ext cx="365760" cy="201168"/>
          </a:xfrm>
          <a:prstGeom prst="rect">
            <a:avLst/>
          </a:prstGeom>
          <a:noFill/>
        </p:spPr>
        <p:txBody>
          <a:bodyPr wrap="square" anchor="t" lIns="0" rIns="0" tIns="0" bIns="0">
            <a:spAutoFit/>
          </a:bodyPr>
          <a:lstStyle/>
          <a:p>
            <a:pPr algn="l"/>
            <a:r>
              <a:rPr sz="850" b="1">
                <a:solidFill>
                  <a:srgbClr val="637074"/>
                </a:solidFill>
                <a:latin typeface="맑은 고딕"/>
              </a:rPr>
              <a:t>P2</a:t>
            </a:r>
          </a:p>
        </p:txBody>
      </p:sp>
      <p:sp>
        <p:nvSpPr>
          <p:cNvPr id="27" name="TextBox 26"/>
          <p:cNvSpPr txBox="1"/>
          <p:nvPr/>
        </p:nvSpPr>
        <p:spPr>
          <a:xfrm>
            <a:off x="6629399" y="3712463"/>
            <a:ext cx="1783080" cy="237744"/>
          </a:xfrm>
          <a:prstGeom prst="rect">
            <a:avLst/>
          </a:prstGeom>
          <a:noFill/>
        </p:spPr>
        <p:txBody>
          <a:bodyPr wrap="square" anchor="t" lIns="0" rIns="0" tIns="0" bIns="0">
            <a:spAutoFit/>
          </a:bodyPr>
          <a:lstStyle/>
          <a:p>
            <a:pPr algn="l"/>
            <a:r>
              <a:rPr sz="1000" b="1">
                <a:solidFill>
                  <a:srgbClr val="20282C"/>
                </a:solidFill>
                <a:latin typeface="맑은 고딕"/>
              </a:rPr>
              <a:t>다음 검증</a:t>
            </a:r>
          </a:p>
        </p:txBody>
      </p:sp>
      <p:sp>
        <p:nvSpPr>
          <p:cNvPr id="28" name="TextBox 27"/>
          <p:cNvSpPr txBox="1"/>
          <p:nvPr/>
        </p:nvSpPr>
        <p:spPr>
          <a:xfrm>
            <a:off x="6629399" y="3995928"/>
            <a:ext cx="1783080" cy="384048"/>
          </a:xfrm>
          <a:prstGeom prst="rect">
            <a:avLst/>
          </a:prstGeom>
          <a:noFill/>
        </p:spPr>
        <p:txBody>
          <a:bodyPr wrap="square" anchor="t" lIns="0" rIns="0" tIns="0" bIns="0">
            <a:spAutoFit/>
          </a:bodyPr>
          <a:lstStyle/>
          <a:p>
            <a:pPr algn="l"/>
            <a:r>
              <a:rPr sz="800" b="0">
                <a:solidFill>
                  <a:srgbClr val="637074"/>
                </a:solidFill>
                <a:latin typeface="맑은 고딕"/>
              </a:rPr>
              <a:t>번역 threshold·Kakao·
Human Top-5 평가</a:t>
            </a:r>
          </a:p>
        </p:txBody>
      </p:sp>
      <p:sp>
        <p:nvSpPr>
          <p:cNvPr id="29" name="TextBox 28"/>
          <p:cNvSpPr txBox="1"/>
          <p:nvPr/>
        </p:nvSpPr>
        <p:spPr>
          <a:xfrm>
            <a:off x="502920" y="4553712"/>
            <a:ext cx="8138160" cy="164592"/>
          </a:xfrm>
          <a:prstGeom prst="rect">
            <a:avLst/>
          </a:prstGeom>
          <a:noFill/>
        </p:spPr>
        <p:txBody>
          <a:bodyPr wrap="square" anchor="t" lIns="0" rIns="0" tIns="0" bIns="0">
            <a:spAutoFit/>
          </a:bodyPr>
          <a:lstStyle/>
          <a:p>
            <a:pPr algn="l"/>
            <a:r>
              <a:rPr sz="750" b="0">
                <a:solidFill>
                  <a:srgbClr val="637074"/>
                </a:solidFill>
                <a:latin typeface="맑은 고딕"/>
              </a:rPr>
              <a:t>주의: Kakao 키 미설정으로 외부 폴백은 이번 Gold 50에서 미검증 · 미해석 조건 36/50</a:t>
            </a:r>
          </a:p>
        </p:txBody>
      </p:sp>
      <p:sp>
        <p:nvSpPr>
          <p:cNvPr id="30" name="TextBox 29"/>
          <p:cNvSpPr txBox="1"/>
          <p:nvPr/>
        </p:nvSpPr>
        <p:spPr>
          <a:xfrm>
            <a:off x="502920" y="4718304"/>
            <a:ext cx="3657600" cy="256032"/>
          </a:xfrm>
          <a:prstGeom prst="rect">
            <a:avLst/>
          </a:prstGeom>
          <a:noFill/>
        </p:spPr>
        <p:txBody>
          <a:bodyPr wrap="square" anchor="t" lIns="0" rIns="0" tIns="0" bIns="0">
            <a:spAutoFit/>
          </a:bodyPr>
          <a:lstStyle/>
          <a:p>
            <a:pPr algn="l"/>
            <a:r>
              <a:rPr sz="900" b="0">
                <a:solidFill>
                  <a:srgbClr val="637074"/>
                </a:solidFill>
                <a:latin typeface="맑은 고딕"/>
              </a:rPr>
              <a:t>카페인제주  ·  팀 마요선수</a:t>
            </a:r>
          </a:p>
        </p:txBody>
      </p:sp>
      <p:sp>
        <p:nvSpPr>
          <p:cNvPr id="31" name="TextBox 30"/>
          <p:cNvSpPr txBox="1"/>
          <p:nvPr/>
        </p:nvSpPr>
        <p:spPr>
          <a:xfrm>
            <a:off x="8092440" y="4718304"/>
            <a:ext cx="548640" cy="256032"/>
          </a:xfrm>
          <a:prstGeom prst="rect">
            <a:avLst/>
          </a:prstGeom>
          <a:noFill/>
        </p:spPr>
        <p:txBody>
          <a:bodyPr wrap="square" anchor="t" lIns="0" rIns="0" tIns="0" bIns="0">
            <a:spAutoFit/>
          </a:bodyPr>
          <a:lstStyle/>
          <a:p>
            <a:pPr algn="r"/>
            <a:r>
              <a:rPr sz="1100" b="1">
                <a:solidFill>
                  <a:srgbClr val="20282C"/>
                </a:solidFill>
                <a:latin typeface="맑은 고딕"/>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TotalTime>
  <Words>3906</Words>
  <Application>Microsoft Office PowerPoint</Application>
  <PresentationFormat>화면 슬라이드 쇼(16:9)</PresentationFormat>
  <Paragraphs>521</Paragraphs>
  <Slides>25</Slides>
  <Notes>23</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25</vt:i4>
      </vt:variant>
    </vt:vector>
  </HeadingPairs>
  <TitlesOfParts>
    <vt:vector size="28" baseType="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카페인제주 — 제주 카페 추천 RAG 검색 서비스</dc:title>
  <dc:subject>PptxGenJS Presentation</dc:subject>
  <dc:creator>팀 마요선수</dc:creator>
  <cp:lastModifiedBy>e31866</cp:lastModifiedBy>
  <cp:revision>11</cp:revision>
  <dcterms:created xsi:type="dcterms:W3CDTF">2026-07-09T14:56:54Z</dcterms:created>
  <dcterms:modified xsi:type="dcterms:W3CDTF">2026-07-09T18:01:56Z</dcterms:modified>
</cp:coreProperties>
</file>