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저희는 유튜브 쇼츠와 블로그, 실방문 리뷰를 근거로 제주 카페를 추천하는 서비스를 만들었습니다. 핵심은 한 문장입니다 — 검색엔진 뒤에 LLM을 장식으로 붙인 게 아니라, LLM에게 잘 정제된 데이터와 읽을 수 있는 검색 도구를 쥐여줬다는 것. 오늘 이 문장이 무슨 뜻인지, 데이터가 어떻게 만들어지고 질문이 어떻게 추천이 되는지 순서대로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세 겹입니다. 첫째, 크롤링 데이터에서 같은 카페가 표기 차이로 여러 개로 잡힙니다 — 실제로 중복이 122그룹이었습니다. 둘째, 폐업한 카페가 걸러지지 않고 추천됩니다. 셋째가 제일 중요한데, 통상적인 RAG 구조는 문서를 통째로 임베딩해서 유사도 점수로 줄을 세우기 때문에 '왜 이 카페가 1등인가요'라는 질문에 답할 수 없습니다. 저희는 이 세 가지 — 하나로 묶기, 살아있는 곳만 남기기, 모든 문장에 출처 붙이기 — 를 시스템 전체의 목표로 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재료는 네 가지인데, 핵심은 각 매체가 잘하는 것만 맡긴다는 겁니다. 유튜브는 어떤 카페가 화제인지 발견하는 그물입니다. 네이버 블로그는 그 카페가 무엇인지 알려주는 정보원이고, 동시에 몇 명의 블로거가 언급했는지라는 표 계산의 재료입니다. 카카오맵은 텍스트가 아니라 신원을 줍니다 — place_id라는 영구 번호로 중복을 해소하고, 별점 달린 실방문 리뷰 2만 건을 줍니다. 마지막으로 쇼츠 댓글은 유일한 감정 데이터입니다. '2층이 무덥다', '에어컨이 고장났다' 같은 이야기는 블로그에는 절대 안 나오고 댓글에만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처리 결과를 숫자로 보면 이렇습니다. 고유 카페 1,064곳. 유튜브만으로는 3분의 2가 정보 부족이었는데 블로그 보강으로 947곳이 정보 풍부 등급이 됐습니다. 실존 판정을 통과한 카페가 876곳이고 폐업 11곳을 걸러냈습니다. 주목할 숫자는 24.6%입니다 — LLM이 추측한 지역 라벨의 오염률인데, 넷에 하나가 틀렸다는 뜻이라 전부 폐기하고 주소에서 코드로 유도하는 방식으로 교체했습니다. 여기서 저희 원칙이 나옵니다. 판단은 LLM에게 시키되, 사실과 규칙 강제는 코드가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구조는 공장과 상담 창구, 두 무대입니다. 이 슬라이드가 공장입니다. 수집한 원문에서 카페 이름을 뽑고, 요약과 태그를 만들고, 살아있는 카페인지 판정하고, 지역과 신원을 정본화해서, 마지막에 카페 한 곳당 카드 한 장을 조립합니다. LLM이 실수할 수 있는 판단은 전부 이 단계에서 끝나고, 결과는 파일로 남아 사람이 검수할 수 있습니다. 그리고 각 단계에서 버려지는 것들도 그냥 사라지지 않습니다 — 사전에 없는 태그, 귀속이 애매한 댓글은 전부 기록으로 쌓여서 다음 개선의 재료가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공장의 최종 산출물이 카드입니다. 다섯 층으로 쌓입니다. 맨 아래 신원층은 place_id 기반의 정본 이름과 좌표 — 이름 문자열 조인은 은퇴시켰습니다. 이름은 흔들리지만 식별자는 흔들리지 않으니까요. 그 위에 검색용 요약, 통제 사전 태그, 그리고 좋았던 점과 아쉬운 점으로 극성이 나뉜 원문 인용이 올라가고, 맨 위 신호층에는 다수결 숫자가 올라갑니다. 여기서 다수결이란 언급 횟수가 아니라 언급한 사람 수입니다. 한 명이 열 번 말한 카페보다 열 명이 한 번씩 말한 카페가 진짜입니다. 그리고 이 카드는 런타임 내내 읽기 전용입니다 — 카드가 틀리면 서비스를 고치는 게 아니라 카드를 다시 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검색의 뼈대인 태그 사전은 세 시점에 기준이 다릅니다. 초안은 사람의 도메인 감각으로 20개를 골랐습니다 — 기준은 여행자가 실제로 검색창에 칠 법한 조건이면서, 블로그 글에서 근거를 찾을 수 있는 어휘입니다. 확장은 데이터가 합니다. LLM이 사전 밖 태그를 만들면 버리지 않고 쌓아두는데, 포토존이 22번 쌓이면 데이터가 스스로 '사전이 이 어휘를 놓쳤다'고 신고하는 셈이라 승격시킵니다. 마지막으로 퇴출과 강등은 증거와의 모순으로 판단합니다. 예를 들어 주차편함 태그가 전체의 79%에 붙어 있다는 게 실측됐는데, 이러면 필터로서 변별력이 없고 신뢰도 의심스러워서 하드 필터에서 보류시켰습니다.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근거 표시의 원칙은 좋은 말만 고르지 않는다는 겁니다. 카페마다 좋았던 점과 아쉬운 점을 나란히 보여줍니다. '창문 열면 바로 바다' 옆에 '2층 무더움, 에어컨 고장'이 함께 있습니다. 그리고 이 인용들이 진짜라는 걸 시스템이 보장합니다 — LLM이 잘라낸 모든 인용문을 코드가 원문과 글자 단위로 대조해서, 한 글자라도 바뀌었으면 폐기합니다. 파일럿 75건에서 검증 실패 0건이었습니다. 인용의 주력 소스는 별점 달린 실방문 리뷰이고, 블로그는 검색 미리보기 조각이라 86%가 잘린 문장이어서 완결된 4%만 인용으로 씁니다 — 대신 블로그는 '블로거 40명이 언급'이라는 표수로 기여합니다.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상담 창구, 런타임입니다. LLM 호출은 처음과 끝, 딱 두 번입니다. 첫 번째 LLM은 접수원입니다 — '애월에서 노을 보기 좋은 카페'를 지역과 조건으로 구조화하는 것뿐, 창의적인 일은 하지 않습니다. 그 다음은 전부 몇 밀리초짜리 코드입니다. 지역 필터, 조건 번역, 태그 매칭, 정렬. 마지막 LLM은 변호사입니다 — 골라진 카드의 증거를 인용해서 추천문을 쓰는데, 카드에 없는 사실은 쓸 수 없고 쓴 인용은 코드가 재검문합니다. 중요한 건 검색과 발췌의 주어가 코드라는 점입니다. LLM에게는 필요한 필드만 건네지고, 조회수 같은 숫자는 아예 차단됩니다. 접근 통제는 받는 쪽의 절제가 아니라 주는 쪽의 설계로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통상 RAG와 갈라지는 지점이 여기입니다. 보통은 문서 전체를 임베딩해서 유사도로 줄을 세우는데, 그 점수는 아무도 설명할 수 없습니다. 저희는 임베딩을 강등시켰습니다. 임베딩 공간에 카페가 아니라 태그 사전이 들어 있습니다 — 사용자가 '노을 맛집'이라고 치면 사전을 펼쳐 '노을' 태그로 번역하는 역할만 합니다. 번역의 확신도까지 사용자에게 공개되고요. 카드 쪽 임베딩은 요약 한 문장뿐이고, 태그로 표현이 안 되는 열린 질문에만 예비로 씁니다. 결국 카페의 순위는 태그 충족과 다수결이라는, 전부 셀 수 있고 설명할 수 있는 숫자로만 정해집니다. 참고로 감정 텍스트는 임베딩에서 아예 금지했습니다 — '너무 좋아요' 같은 문장은 아무 검색어에나 걸리는 만능 자석이 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하나의 여정을 그대로 보여드리면 이렇습니다. 애월에서 노을 보기 좋은 카페 — 전체 1,064장의 카드에서 지역 필터가 87장으로, 노을 태그 매칭이 12장으로, 다수결 정렬이 상위 5장으로 좁힙니다. 단계마다 몇 장에서 몇 장이 됐는지가 기록되고, 이 깔때기가 사용자 화면에 '이렇게 찾았어요'로 그대로 노출됩니다. 최종 추천문에는 블로거 21명이 언급했다는 표수, 원문 인용, 그리고 주차 불편이 3건 반복된다는 경고까지 함께 나갑니다. 추천의 어느 문장을 짚어도 출처까지 거슬러 올라갈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검색이 0건일 때가 이 서비스의 진짜 성격이 드러나는 순간입니다. 억지로 비슷한 걸 채워 넣지 않고, 완화 사다리를 탑니다. 먼저 해석 확신이 낮은 소프트조건부터 하나 빼고 다시 찾습니다 — 그리고 '조용함 조건을 빼고 찾았어요'라고 반드시 밝힙니다. 그래도 없으면 옆 동네로 넓히는데, 이것도 명시합니다. 그리고 절대 규칙이 하나 있습니다. 하드조건은 어떤 경우에도 완화하지 않습니다. 강아지 동반이 필수인 분에게 동반 불가 카페를 대안이라고 내미는 순간 신뢰는 끝나기 때문입니다. 사다리 끝까지 가도 없으면, 없다고 말합니다. 그 정직함까지가 기능입니다.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팀의 작업 방식 자체도 말씀드리고 싶습니다. 설계 논쟁이 생기면 회의를 늘리는 대신 실험을 돌렸습니다. 임베딩에 어떤 텍스트를 넣을지 세 가지 방식을 실제로 붙여봤고, 자연어 요약이 이겨서 채택했습니다. LLM이 추측한 지역 라벨은 오염률을 실측해보니 24.6%라 전량 폐기했고요. 동료가 만든 구조화 데이터도 시드 평가를 돌려서, 임베딩에는 독이지만 라벨층에는 자산이라는 결론을 얻었습니다 — 같은 데이터도 놓이는 층에 따라 독이 되고 약이 됩니다. 그리고 모든 LLM 배치는 소표본 파일럿으로 오염 유형을 눈으로 확인한 뒤에 전량을 돌렸습니다.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상태입니다. 수집과 정제, 실존 판정, 지역 정본화, 신원 확보까지는 완료됐고, 검색과 원문 근거 표시는 배포 상태입니다. 지금 진행 중인 것은 카드 정본 병합과 태그 사전 확장, 근거 극성의 전량 배치입니다. 예정된 것은 의도 분석의 LLM 승계, 완화 사다리, 그리고 골든셋 정량 평가입니다. 완료와 진행 중을 정직하게 구분해서 말씀드리는 것도 저희 컨셉의 일부입니다.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저희 시스템에서 임베딩은 카페를 찾지 않고 사용자의 언어를 번역합니다. LLM은 사실을 만들어내지 않고 검증된 증언을 배열합니다. 그래서 모든 추천 문장에는 출처가 있고, 없는 것은 없다고 말합니다. 신뢰가 저희의 컨셉입니다.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31B"/>
        </a:solidFill>
      </p:bgPr>
    </p:bg>
    <p:spTree>
      <p:nvGrpSpPr>
        <p:cNvPr id="1" name=""/>
        <p:cNvGrpSpPr/>
        <p:nvPr/>
      </p:nvGrpSpPr>
      <p:grpSpPr>
        <a:xfrm>
          <a:off x="0" y="0"/>
          <a:ext cx="0" cy="0"/>
          <a:chOff x="0" y="0"/>
          <a:chExt cx="0" cy="0"/>
        </a:xfrm>
      </p:grpSpPr>
      <p:sp>
        <p:nvSpPr>
          <p:cNvPr id="2" name="Shape 0"/>
          <p:cNvSpPr/>
          <p:nvPr/>
        </p:nvSpPr>
        <p:spPr>
          <a:xfrm>
            <a:off x="7589520" y="-1005840"/>
            <a:ext cx="2926080" cy="2926080"/>
          </a:xfrm>
          <a:prstGeom prst="ellipse">
            <a:avLst/>
          </a:prstGeom>
          <a:solidFill>
            <a:srgbClr val="F72585">
              <a:alpha val="18000"/>
            </a:srgbClr>
          </a:solidFill>
          <a:ln w="12700">
            <a:solidFill>
              <a:srgbClr val="13131B"/>
            </a:solidFill>
            <a:prstDash val="solid"/>
          </a:ln>
        </p:spPr>
      </p:sp>
      <p:sp>
        <p:nvSpPr>
          <p:cNvPr id="3" name="Shape 1"/>
          <p:cNvSpPr/>
          <p:nvPr/>
        </p:nvSpPr>
        <p:spPr>
          <a:xfrm>
            <a:off x="-1188720" y="3566160"/>
            <a:ext cx="3108960" cy="3108960"/>
          </a:xfrm>
          <a:prstGeom prst="ellipse">
            <a:avLst/>
          </a:prstGeom>
          <a:solidFill>
            <a:srgbClr val="4CC9F0">
              <a:alpha val="16000"/>
            </a:srgbClr>
          </a:solidFill>
          <a:ln w="12700">
            <a:solidFill>
              <a:srgbClr val="13131B"/>
            </a:solidFill>
            <a:prstDash val="solid"/>
          </a:ln>
        </p:spPr>
      </p:sp>
      <p:sp>
        <p:nvSpPr>
          <p:cNvPr id="4" name="Text 2"/>
          <p:cNvSpPr/>
          <p:nvPr/>
        </p:nvSpPr>
        <p:spPr>
          <a:xfrm>
            <a:off x="640080" y="1234440"/>
            <a:ext cx="7863840" cy="914400"/>
          </a:xfrm>
          <a:prstGeom prst="rect">
            <a:avLst/>
          </a:prstGeom>
          <a:noFill/>
          <a:ln/>
        </p:spPr>
        <p:txBody>
          <a:bodyPr wrap="square" lIns="0" tIns="0" rIns="0" bIns="0" rtlCol="0" anchor="ctr"/>
          <a:lstStyle/>
          <a:p>
            <a:pPr indent="0" marL="0">
              <a:buNone/>
            </a:pPr>
            <a:r>
              <a:rPr lang="en-US" sz="5200" b="1" spc="300" kern="0" dirty="0">
                <a:solidFill>
                  <a:srgbClr val="F2F2F6"/>
                </a:solidFill>
                <a:latin typeface="Arial" pitchFamily="34" charset="0"/>
                <a:ea typeface="Arial" pitchFamily="34" charset="-122"/>
                <a:cs typeface="Arial" pitchFamily="34" charset="-120"/>
              </a:rPr>
              <a:t>JEJU POP TRAIL</a:t>
            </a:r>
            <a:endParaRPr lang="en-US" sz="5200" dirty="0"/>
          </a:p>
        </p:txBody>
      </p:sp>
      <p:sp>
        <p:nvSpPr>
          <p:cNvPr id="5" name="Text 3"/>
          <p:cNvSpPr/>
          <p:nvPr/>
        </p:nvSpPr>
        <p:spPr>
          <a:xfrm>
            <a:off x="658368" y="2240280"/>
            <a:ext cx="7863840" cy="502920"/>
          </a:xfrm>
          <a:prstGeom prst="rect">
            <a:avLst/>
          </a:prstGeom>
          <a:noFill/>
          <a:ln/>
        </p:spPr>
        <p:txBody>
          <a:bodyPr wrap="square" lIns="0" tIns="0" rIns="0" bIns="0" rtlCol="0" anchor="ctr"/>
          <a:lstStyle/>
          <a:p>
            <a:pPr indent="0" marL="0">
              <a:buNone/>
            </a:pPr>
            <a:r>
              <a:rPr lang="en-US" sz="2400" b="1" dirty="0">
                <a:solidFill>
                  <a:srgbClr val="F72585"/>
                </a:solidFill>
                <a:latin typeface="Arial" pitchFamily="34" charset="0"/>
                <a:ea typeface="Arial" pitchFamily="34" charset="-122"/>
                <a:cs typeface="Arial" pitchFamily="34" charset="-120"/>
              </a:rPr>
              <a:t>근거로 증명하는 제주 카페 추천</a:t>
            </a:r>
            <a:endParaRPr lang="en-US" sz="2400" dirty="0"/>
          </a:p>
        </p:txBody>
      </p:sp>
      <p:sp>
        <p:nvSpPr>
          <p:cNvPr id="6" name="Text 4"/>
          <p:cNvSpPr/>
          <p:nvPr/>
        </p:nvSpPr>
        <p:spPr>
          <a:xfrm>
            <a:off x="658368" y="2880360"/>
            <a:ext cx="7863840" cy="411480"/>
          </a:xfrm>
          <a:prstGeom prst="rect">
            <a:avLst/>
          </a:prstGeom>
          <a:noFill/>
          <a:ln/>
        </p:spPr>
        <p:txBody>
          <a:bodyPr wrap="square" lIns="0" tIns="0" rIns="0" bIns="0" rtlCol="0" anchor="ctr"/>
          <a:lstStyle/>
          <a:p>
            <a:pPr indent="0" marL="0">
              <a:buNone/>
            </a:pPr>
            <a:r>
              <a:rPr lang="en-US" sz="1500" i="1" dirty="0">
                <a:solidFill>
                  <a:srgbClr val="4CC9F0"/>
                </a:solidFill>
                <a:latin typeface="Arial" pitchFamily="34" charset="0"/>
                <a:ea typeface="Arial" pitchFamily="34" charset="-122"/>
                <a:cs typeface="Arial" pitchFamily="34" charset="-120"/>
              </a:rPr>
              <a:t>“검색엔진에 LLM을 붙인 게 아니라, LLM에게 검색 도구를 줬다”</a:t>
            </a:r>
            <a:endParaRPr lang="en-US" sz="1500" dirty="0"/>
          </a:p>
        </p:txBody>
      </p:sp>
      <p:sp>
        <p:nvSpPr>
          <p:cNvPr id="7" name="Text 5"/>
          <p:cNvSpPr/>
          <p:nvPr/>
        </p:nvSpPr>
        <p:spPr>
          <a:xfrm>
            <a:off x="658368" y="4343400"/>
            <a:ext cx="7863840" cy="320040"/>
          </a:xfrm>
          <a:prstGeom prst="rect">
            <a:avLst/>
          </a:prstGeom>
          <a:noFill/>
          <a:ln/>
        </p:spPr>
        <p:txBody>
          <a:bodyPr wrap="square" lIns="0" tIns="0" rIns="0" bIns="0" rtlCol="0" anchor="ctr"/>
          <a:lstStyle/>
          <a:p>
            <a:pPr indent="0" marL="0">
              <a:buNone/>
            </a:pPr>
            <a:r>
              <a:rPr lang="en-US" sz="1200" dirty="0">
                <a:solidFill>
                  <a:srgbClr val="9BA0B0"/>
                </a:solidFill>
                <a:latin typeface="Arial" pitchFamily="34" charset="0"/>
                <a:ea typeface="Arial" pitchFamily="34" charset="-122"/>
                <a:cs typeface="Arial" pitchFamily="34" charset="-120"/>
              </a:rPr>
              <a:t>데이터 파이프라인 · 검색 아키텍처 발표  |  2026. 07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추천은 많다. 근거가 없다.</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왜 이 서비스를 만들었는가</a:t>
            </a:r>
            <a:endParaRPr lang="en-US" sz="1250" dirty="0"/>
          </a:p>
        </p:txBody>
      </p:sp>
      <p:sp>
        <p:nvSpPr>
          <p:cNvPr id="4" name="Shape 2"/>
          <p:cNvSpPr/>
          <p:nvPr/>
        </p:nvSpPr>
        <p:spPr>
          <a:xfrm>
            <a:off x="457200" y="1234440"/>
            <a:ext cx="5120640" cy="841248"/>
          </a:xfrm>
          <a:prstGeom prst="roundRect">
            <a:avLst>
              <a:gd name="adj" fmla="val 86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685800" y="1508760"/>
            <a:ext cx="292608" cy="292608"/>
          </a:xfrm>
          <a:prstGeom prst="rect">
            <a:avLst/>
          </a:prstGeom>
        </p:spPr>
      </p:pic>
      <p:sp>
        <p:nvSpPr>
          <p:cNvPr id="6" name="Text 3"/>
          <p:cNvSpPr/>
          <p:nvPr/>
        </p:nvSpPr>
        <p:spPr>
          <a:xfrm>
            <a:off x="1143000" y="1325880"/>
            <a:ext cx="4297680" cy="292608"/>
          </a:xfrm>
          <a:prstGeom prst="rect">
            <a:avLst/>
          </a:prstGeom>
          <a:noFill/>
          <a:ln/>
        </p:spPr>
        <p:txBody>
          <a:bodyPr wrap="square" lIns="0" tIns="0" rIns="0" bIns="0" rtlCol="0" anchor="ctr"/>
          <a:lstStyle/>
          <a:p>
            <a:pPr indent="0" marL="0">
              <a:buNone/>
            </a:pPr>
            <a:r>
              <a:rPr lang="en-US" sz="1450" b="1" dirty="0">
                <a:solidFill>
                  <a:srgbClr val="F2F2F6"/>
                </a:solidFill>
                <a:latin typeface="Arial" pitchFamily="34" charset="0"/>
                <a:ea typeface="Arial" pitchFamily="34" charset="-122"/>
                <a:cs typeface="Arial" pitchFamily="34" charset="-120"/>
              </a:rPr>
              <a:t>같은 카페가 세 개로</a:t>
            </a:r>
            <a:endParaRPr lang="en-US" sz="1450" dirty="0"/>
          </a:p>
        </p:txBody>
      </p:sp>
      <p:sp>
        <p:nvSpPr>
          <p:cNvPr id="7" name="Text 4"/>
          <p:cNvSpPr/>
          <p:nvPr/>
        </p:nvSpPr>
        <p:spPr>
          <a:xfrm>
            <a:off x="1143000" y="1636776"/>
            <a:ext cx="4297680" cy="384048"/>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“카페한라 / 카페 한라 / 한라카페” — 이름 표기 차이로 중복 122그룹</a:t>
            </a:r>
            <a:endParaRPr lang="en-US" sz="1100" dirty="0"/>
          </a:p>
        </p:txBody>
      </p:sp>
      <p:sp>
        <p:nvSpPr>
          <p:cNvPr id="8" name="Shape 5"/>
          <p:cNvSpPr/>
          <p:nvPr/>
        </p:nvSpPr>
        <p:spPr>
          <a:xfrm>
            <a:off x="457200" y="2203704"/>
            <a:ext cx="5120640" cy="841248"/>
          </a:xfrm>
          <a:prstGeom prst="roundRect">
            <a:avLst>
              <a:gd name="adj" fmla="val 86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685800" y="2478024"/>
            <a:ext cx="292608" cy="292608"/>
          </a:xfrm>
          <a:prstGeom prst="rect">
            <a:avLst/>
          </a:prstGeom>
        </p:spPr>
      </p:pic>
      <p:sp>
        <p:nvSpPr>
          <p:cNvPr id="10" name="Text 6"/>
          <p:cNvSpPr/>
          <p:nvPr/>
        </p:nvSpPr>
        <p:spPr>
          <a:xfrm>
            <a:off x="1143000" y="2295144"/>
            <a:ext cx="4297680" cy="292608"/>
          </a:xfrm>
          <a:prstGeom prst="rect">
            <a:avLst/>
          </a:prstGeom>
          <a:noFill/>
          <a:ln/>
        </p:spPr>
        <p:txBody>
          <a:bodyPr wrap="square" lIns="0" tIns="0" rIns="0" bIns="0" rtlCol="0" anchor="ctr"/>
          <a:lstStyle/>
          <a:p>
            <a:pPr indent="0" marL="0">
              <a:buNone/>
            </a:pPr>
            <a:r>
              <a:rPr lang="en-US" sz="1450" b="1" dirty="0">
                <a:solidFill>
                  <a:srgbClr val="F2F2F6"/>
                </a:solidFill>
                <a:latin typeface="Arial" pitchFamily="34" charset="0"/>
                <a:ea typeface="Arial" pitchFamily="34" charset="-122"/>
                <a:cs typeface="Arial" pitchFamily="34" charset="-120"/>
              </a:rPr>
              <a:t>폐업한 곳을 추천</a:t>
            </a:r>
            <a:endParaRPr lang="en-US" sz="1450" dirty="0"/>
          </a:p>
        </p:txBody>
      </p:sp>
      <p:sp>
        <p:nvSpPr>
          <p:cNvPr id="11" name="Text 7"/>
          <p:cNvSpPr/>
          <p:nvPr/>
        </p:nvSpPr>
        <p:spPr>
          <a:xfrm>
            <a:off x="1143000" y="2606040"/>
            <a:ext cx="4297680" cy="384048"/>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크롤링 데이터엔 어제 문 닫은 카페가 그대로 살아 있다</a:t>
            </a:r>
            <a:endParaRPr lang="en-US" sz="1100" dirty="0"/>
          </a:p>
        </p:txBody>
      </p:sp>
      <p:sp>
        <p:nvSpPr>
          <p:cNvPr id="12" name="Shape 8"/>
          <p:cNvSpPr/>
          <p:nvPr/>
        </p:nvSpPr>
        <p:spPr>
          <a:xfrm>
            <a:off x="457200" y="3172968"/>
            <a:ext cx="5120640" cy="841248"/>
          </a:xfrm>
          <a:prstGeom prst="roundRect">
            <a:avLst>
              <a:gd name="adj" fmla="val 86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685800" y="3447288"/>
            <a:ext cx="292608" cy="292608"/>
          </a:xfrm>
          <a:prstGeom prst="rect">
            <a:avLst/>
          </a:prstGeom>
        </p:spPr>
      </p:pic>
      <p:sp>
        <p:nvSpPr>
          <p:cNvPr id="14" name="Text 9"/>
          <p:cNvSpPr/>
          <p:nvPr/>
        </p:nvSpPr>
        <p:spPr>
          <a:xfrm>
            <a:off x="1143000" y="3264408"/>
            <a:ext cx="4297680" cy="292608"/>
          </a:xfrm>
          <a:prstGeom prst="rect">
            <a:avLst/>
          </a:prstGeom>
          <a:noFill/>
          <a:ln/>
        </p:spPr>
        <p:txBody>
          <a:bodyPr wrap="square" lIns="0" tIns="0" rIns="0" bIns="0" rtlCol="0" anchor="ctr"/>
          <a:lstStyle/>
          <a:p>
            <a:pPr indent="0" marL="0">
              <a:buNone/>
            </a:pPr>
            <a:r>
              <a:rPr lang="en-US" sz="1450" b="1" dirty="0">
                <a:solidFill>
                  <a:srgbClr val="F2F2F6"/>
                </a:solidFill>
                <a:latin typeface="Arial" pitchFamily="34" charset="0"/>
                <a:ea typeface="Arial" pitchFamily="34" charset="-122"/>
                <a:cs typeface="Arial" pitchFamily="34" charset="-120"/>
              </a:rPr>
              <a:t>“왜 이 카페인가요?”에 침묵</a:t>
            </a:r>
            <a:endParaRPr lang="en-US" sz="1450" dirty="0"/>
          </a:p>
        </p:txBody>
      </p:sp>
      <p:sp>
        <p:nvSpPr>
          <p:cNvPr id="15" name="Text 10"/>
          <p:cNvSpPr/>
          <p:nvPr/>
        </p:nvSpPr>
        <p:spPr>
          <a:xfrm>
            <a:off x="1143000" y="3575304"/>
            <a:ext cx="4297680" cy="384048"/>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유사도 0.83점 — 이 숫자는 사용자에게 아무것도 설명하지 못한다</a:t>
            </a:r>
            <a:endParaRPr lang="en-US" sz="1100" dirty="0"/>
          </a:p>
        </p:txBody>
      </p:sp>
      <p:sp>
        <p:nvSpPr>
          <p:cNvPr id="16" name="Shape 11"/>
          <p:cNvSpPr/>
          <p:nvPr/>
        </p:nvSpPr>
        <p:spPr>
          <a:xfrm>
            <a:off x="5852160" y="1234440"/>
            <a:ext cx="2834640" cy="2907792"/>
          </a:xfrm>
          <a:prstGeom prst="roundRect">
            <a:avLst>
              <a:gd name="adj" fmla="val 2581"/>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17" name="Text 12"/>
          <p:cNvSpPr/>
          <p:nvPr/>
        </p:nvSpPr>
        <p:spPr>
          <a:xfrm>
            <a:off x="6080760" y="1417320"/>
            <a:ext cx="2377440" cy="274320"/>
          </a:xfrm>
          <a:prstGeom prst="rect">
            <a:avLst/>
          </a:prstGeom>
          <a:noFill/>
          <a:ln/>
        </p:spPr>
        <p:txBody>
          <a:bodyPr wrap="square" lIns="0" tIns="0" rIns="0" bIns="0" rtlCol="0" anchor="ctr"/>
          <a:lstStyle/>
          <a:p>
            <a:pPr indent="0" marL="0">
              <a:buNone/>
            </a:pPr>
            <a:r>
              <a:rPr lang="en-US" sz="1300" b="1" dirty="0">
                <a:solidFill>
                  <a:srgbClr val="4CC9F0"/>
                </a:solidFill>
                <a:latin typeface="Arial" pitchFamily="34" charset="0"/>
                <a:ea typeface="Arial" pitchFamily="34" charset="-122"/>
                <a:cs typeface="Arial" pitchFamily="34" charset="-120"/>
              </a:rPr>
              <a:t>통상 RAG의 구조</a:t>
            </a:r>
            <a:endParaRPr lang="en-US" sz="1300" dirty="0"/>
          </a:p>
        </p:txBody>
      </p:sp>
      <p:sp>
        <p:nvSpPr>
          <p:cNvPr id="18" name="Text 13"/>
          <p:cNvSpPr/>
          <p:nvPr/>
        </p:nvSpPr>
        <p:spPr>
          <a:xfrm>
            <a:off x="6080760" y="1783080"/>
            <a:ext cx="2423160" cy="2194560"/>
          </a:xfrm>
          <a:prstGeom prst="rect">
            <a:avLst/>
          </a:prstGeom>
          <a:noFill/>
          <a:ln/>
        </p:spPr>
        <p:txBody>
          <a:bodyPr wrap="square" rtlCol="0" anchor="t"/>
          <a:lstStyle/>
          <a:p>
            <a:pPr marL="342900" indent="-342900">
              <a:spcAft>
                <a:spcPts val="800"/>
              </a:spcAft>
              <a:buSzPct val="100000"/>
              <a:buChar char="•"/>
            </a:pPr>
            <a:r>
              <a:rPr lang="en-US" sz="1200" dirty="0">
                <a:solidFill>
                  <a:srgbClr val="F2F2F6"/>
                </a:solidFill>
                <a:latin typeface="Arial" pitchFamily="34" charset="0"/>
                <a:ea typeface="Arial" pitchFamily="34" charset="-122"/>
                <a:cs typeface="Arial" pitchFamily="34" charset="-120"/>
              </a:rPr>
              <a:t>문서를 통째로 임베딩</a:t>
            </a:r>
            <a:endParaRPr lang="en-US" sz="1200" dirty="0"/>
          </a:p>
          <a:p>
            <a:pPr marL="342900" indent="-342900">
              <a:spcAft>
                <a:spcPts val="800"/>
              </a:spcAft>
              <a:buSzPct val="100000"/>
              <a:buChar char="•"/>
            </a:pPr>
            <a:r>
              <a:rPr lang="en-US" sz="1200" dirty="0">
                <a:solidFill>
                  <a:srgbClr val="F2F2F6"/>
                </a:solidFill>
                <a:latin typeface="Arial" pitchFamily="34" charset="0"/>
                <a:ea typeface="Arial" pitchFamily="34" charset="-122"/>
                <a:cs typeface="Arial" pitchFamily="34" charset="-120"/>
              </a:rPr>
              <a:t>유사도 점수로 줄 세움</a:t>
            </a:r>
            <a:endParaRPr lang="en-US" sz="1200" dirty="0"/>
          </a:p>
          <a:p>
            <a:pPr marL="342900" indent="-342900">
              <a:spcAft>
                <a:spcPts val="800"/>
              </a:spcAft>
              <a:buSzPct val="100000"/>
              <a:buChar char="•"/>
            </a:pPr>
            <a:r>
              <a:rPr lang="en-US" sz="1200" dirty="0">
                <a:solidFill>
                  <a:srgbClr val="F2F2F6"/>
                </a:solidFill>
                <a:latin typeface="Arial" pitchFamily="34" charset="0"/>
                <a:ea typeface="Arial" pitchFamily="34" charset="-122"/>
                <a:cs typeface="Arial" pitchFamily="34" charset="-120"/>
              </a:rPr>
              <a:t>LLM은 마지막에 문장 생성</a:t>
            </a:r>
            <a:endParaRPr lang="en-US" sz="1200" dirty="0"/>
          </a:p>
          <a:p>
            <a:pPr marL="342900" indent="-342900">
              <a:spcAft>
                <a:spcPts val="800"/>
              </a:spcAft>
              <a:buSzPct val="100000"/>
              <a:buChar char="•"/>
            </a:pPr>
            <a:r>
              <a:rPr lang="en-US" sz="1200" b="1" dirty="0">
                <a:solidFill>
                  <a:srgbClr val="F72585"/>
                </a:solidFill>
                <a:latin typeface="Arial" pitchFamily="34" charset="0"/>
                <a:ea typeface="Arial" pitchFamily="34" charset="-122"/>
                <a:cs typeface="Arial" pitchFamily="34" charset="-120"/>
              </a:rPr>
              <a:t>점수의 이유는 아무도 모름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재료 — 성격이 다른 네 개의 데이터</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각 매체는 자기가 제일 잘하는 것만 맡는다</a:t>
            </a:r>
            <a:endParaRPr lang="en-US" sz="1250" dirty="0"/>
          </a:p>
        </p:txBody>
      </p:sp>
      <p:sp>
        <p:nvSpPr>
          <p:cNvPr id="4" name="Shape 2"/>
          <p:cNvSpPr/>
          <p:nvPr/>
        </p:nvSpPr>
        <p:spPr>
          <a:xfrm>
            <a:off x="457200" y="1207008"/>
            <a:ext cx="4005072" cy="1664208"/>
          </a:xfrm>
          <a:prstGeom prst="roundRect">
            <a:avLst>
              <a:gd name="adj" fmla="val 43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676656" y="1426464"/>
            <a:ext cx="384048" cy="384048"/>
          </a:xfrm>
          <a:prstGeom prst="rect">
            <a:avLst/>
          </a:prstGeom>
        </p:spPr>
      </p:pic>
      <p:sp>
        <p:nvSpPr>
          <p:cNvPr id="6" name="Text 3"/>
          <p:cNvSpPr/>
          <p:nvPr/>
        </p:nvSpPr>
        <p:spPr>
          <a:xfrm>
            <a:off x="1207008" y="1371600"/>
            <a:ext cx="3108960" cy="274320"/>
          </a:xfrm>
          <a:prstGeom prst="rect">
            <a:avLst/>
          </a:prstGeom>
          <a:noFill/>
          <a:ln/>
        </p:spPr>
        <p:txBody>
          <a:bodyPr wrap="square" lIns="0" tIns="0" rIns="0" bIns="0" rtlCol="0" anchor="ctr"/>
          <a:lstStyle/>
          <a:p>
            <a:pPr indent="0" marL="0">
              <a:buNone/>
            </a:pPr>
            <a:r>
              <a:rPr lang="en-US" sz="1500" b="1" dirty="0">
                <a:solidFill>
                  <a:srgbClr val="F2F2F6"/>
                </a:solidFill>
                <a:latin typeface="Arial" pitchFamily="34" charset="0"/>
                <a:ea typeface="Arial" pitchFamily="34" charset="-122"/>
                <a:cs typeface="Arial" pitchFamily="34" charset="-120"/>
              </a:rPr>
              <a:t>유튜브 영상·쇼츠</a:t>
            </a:r>
            <a:endParaRPr lang="en-US" sz="1500" dirty="0"/>
          </a:p>
        </p:txBody>
      </p:sp>
      <p:sp>
        <p:nvSpPr>
          <p:cNvPr id="7" name="Text 4"/>
          <p:cNvSpPr/>
          <p:nvPr/>
        </p:nvSpPr>
        <p:spPr>
          <a:xfrm>
            <a:off x="1207008" y="1664208"/>
            <a:ext cx="3108960" cy="228600"/>
          </a:xfrm>
          <a:prstGeom prst="rect">
            <a:avLst/>
          </a:prstGeom>
          <a:noFill/>
          <a:ln/>
        </p:spPr>
        <p:txBody>
          <a:bodyPr wrap="square" lIns="0" tIns="0" rIns="0" bIns="0" rtlCol="0" anchor="ctr"/>
          <a:lstStyle/>
          <a:p>
            <a:pPr indent="0" marL="0">
              <a:buNone/>
            </a:pPr>
            <a:r>
              <a:rPr lang="en-US" sz="1050" dirty="0">
                <a:solidFill>
                  <a:srgbClr val="9BA0B0"/>
                </a:solidFill>
                <a:latin typeface="Arial" pitchFamily="34" charset="0"/>
                <a:ea typeface="Arial" pitchFamily="34" charset="-122"/>
                <a:cs typeface="Arial" pitchFamily="34" charset="-120"/>
              </a:rPr>
              <a:t>1,359건 · 키워드 격자 41+18</a:t>
            </a:r>
            <a:endParaRPr lang="en-US" sz="1050" dirty="0"/>
          </a:p>
        </p:txBody>
      </p:sp>
      <p:sp>
        <p:nvSpPr>
          <p:cNvPr id="8" name="Text 5"/>
          <p:cNvSpPr/>
          <p:nvPr/>
        </p:nvSpPr>
        <p:spPr>
          <a:xfrm>
            <a:off x="676656" y="1993392"/>
            <a:ext cx="3566160" cy="256032"/>
          </a:xfrm>
          <a:prstGeom prst="rect">
            <a:avLst/>
          </a:prstGeom>
          <a:noFill/>
          <a:ln/>
        </p:spPr>
        <p:txBody>
          <a:bodyPr wrap="square" lIns="0" tIns="0" rIns="0" bIns="0" rtlCol="0" anchor="ctr"/>
          <a:lstStyle/>
          <a:p>
            <a:pPr indent="0" marL="0">
              <a:buNone/>
            </a:pPr>
            <a:r>
              <a:rPr lang="en-US" sz="1250" b="1" dirty="0">
                <a:solidFill>
                  <a:srgbClr val="4CC9F0"/>
                </a:solidFill>
                <a:latin typeface="Arial" pitchFamily="34" charset="0"/>
                <a:ea typeface="Arial" pitchFamily="34" charset="-122"/>
                <a:cs typeface="Arial" pitchFamily="34" charset="-120"/>
              </a:rPr>
              <a:t>발견과 화제성</a:t>
            </a:r>
            <a:endParaRPr lang="en-US" sz="1250" dirty="0"/>
          </a:p>
        </p:txBody>
      </p:sp>
      <p:sp>
        <p:nvSpPr>
          <p:cNvPr id="9" name="Text 6"/>
          <p:cNvSpPr/>
          <p:nvPr/>
        </p:nvSpPr>
        <p:spPr>
          <a:xfrm>
            <a:off x="676656" y="2267712"/>
            <a:ext cx="3611880" cy="548640"/>
          </a:xfrm>
          <a:prstGeom prst="rect">
            <a:avLst/>
          </a:prstGeom>
          <a:noFill/>
          <a:ln/>
        </p:spPr>
        <p:txBody>
          <a:bodyPr wrap="square" lIns="0" tIns="0" rIns="0" bIns="0" rtlCol="0" anchor="ctr"/>
          <a:lstStyle/>
          <a:p>
            <a:pPr indent="0" marL="0">
              <a:buNone/>
            </a:pPr>
            <a:r>
              <a:rPr lang="en-US" sz="1050" dirty="0">
                <a:solidFill>
                  <a:srgbClr val="F2F2F6"/>
                </a:solidFill>
                <a:latin typeface="Arial" pitchFamily="34" charset="0"/>
                <a:ea typeface="Arial" pitchFamily="34" charset="-122"/>
                <a:cs typeface="Arial" pitchFamily="34" charset="-120"/>
              </a:rPr>
              <a:t>“어떤 카페가 언급되는가” — 카페 명단의 출발점, 근거 영상 링크·썸네일</a:t>
            </a:r>
            <a:endParaRPr lang="en-US" sz="1050" dirty="0"/>
          </a:p>
        </p:txBody>
      </p:sp>
      <p:sp>
        <p:nvSpPr>
          <p:cNvPr id="10" name="Shape 7"/>
          <p:cNvSpPr/>
          <p:nvPr/>
        </p:nvSpPr>
        <p:spPr>
          <a:xfrm>
            <a:off x="4681728" y="1207008"/>
            <a:ext cx="4005072" cy="1664208"/>
          </a:xfrm>
          <a:prstGeom prst="roundRect">
            <a:avLst>
              <a:gd name="adj" fmla="val 43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1" name="Image 1" descr="preencoded.png">    </p:cNvPr>
          <p:cNvPicPr>
            <a:picLocks noChangeAspect="1"/>
          </p:cNvPicPr>
          <p:nvPr/>
        </p:nvPicPr>
        <p:blipFill>
          <a:blip r:embed="rId2"/>
          <a:stretch>
            <a:fillRect/>
          </a:stretch>
        </p:blipFill>
        <p:spPr>
          <a:xfrm>
            <a:off x="4901184" y="1426464"/>
            <a:ext cx="384048" cy="384048"/>
          </a:xfrm>
          <a:prstGeom prst="rect">
            <a:avLst/>
          </a:prstGeom>
        </p:spPr>
      </p:pic>
      <p:sp>
        <p:nvSpPr>
          <p:cNvPr id="12" name="Text 8"/>
          <p:cNvSpPr/>
          <p:nvPr/>
        </p:nvSpPr>
        <p:spPr>
          <a:xfrm>
            <a:off x="5431536" y="1371600"/>
            <a:ext cx="3108960" cy="274320"/>
          </a:xfrm>
          <a:prstGeom prst="rect">
            <a:avLst/>
          </a:prstGeom>
          <a:noFill/>
          <a:ln/>
        </p:spPr>
        <p:txBody>
          <a:bodyPr wrap="square" lIns="0" tIns="0" rIns="0" bIns="0" rtlCol="0" anchor="ctr"/>
          <a:lstStyle/>
          <a:p>
            <a:pPr indent="0" marL="0">
              <a:buNone/>
            </a:pPr>
            <a:r>
              <a:rPr lang="en-US" sz="1500" b="1" dirty="0">
                <a:solidFill>
                  <a:srgbClr val="F2F2F6"/>
                </a:solidFill>
                <a:latin typeface="Arial" pitchFamily="34" charset="0"/>
                <a:ea typeface="Arial" pitchFamily="34" charset="-122"/>
                <a:cs typeface="Arial" pitchFamily="34" charset="-120"/>
              </a:rPr>
              <a:t>네이버 블로그</a:t>
            </a:r>
            <a:endParaRPr lang="en-US" sz="1500" dirty="0"/>
          </a:p>
        </p:txBody>
      </p:sp>
      <p:sp>
        <p:nvSpPr>
          <p:cNvPr id="13" name="Text 9"/>
          <p:cNvSpPr/>
          <p:nvPr/>
        </p:nvSpPr>
        <p:spPr>
          <a:xfrm>
            <a:off x="5431536" y="1664208"/>
            <a:ext cx="3108960" cy="228600"/>
          </a:xfrm>
          <a:prstGeom prst="rect">
            <a:avLst/>
          </a:prstGeom>
          <a:noFill/>
          <a:ln/>
        </p:spPr>
        <p:txBody>
          <a:bodyPr wrap="square" lIns="0" tIns="0" rIns="0" bIns="0" rtlCol="0" anchor="ctr"/>
          <a:lstStyle/>
          <a:p>
            <a:pPr indent="0" marL="0">
              <a:buNone/>
            </a:pPr>
            <a:r>
              <a:rPr lang="en-US" sz="1050" dirty="0">
                <a:solidFill>
                  <a:srgbClr val="9BA0B0"/>
                </a:solidFill>
                <a:latin typeface="Arial" pitchFamily="34" charset="0"/>
                <a:ea typeface="Arial" pitchFamily="34" charset="-122"/>
                <a:cs typeface="Arial" pitchFamily="34" charset="-120"/>
              </a:rPr>
              <a:t>1,064곳 × 후기 100건 크롤</a:t>
            </a:r>
            <a:endParaRPr lang="en-US" sz="1050" dirty="0"/>
          </a:p>
        </p:txBody>
      </p:sp>
      <p:sp>
        <p:nvSpPr>
          <p:cNvPr id="14" name="Text 10"/>
          <p:cNvSpPr/>
          <p:nvPr/>
        </p:nvSpPr>
        <p:spPr>
          <a:xfrm>
            <a:off x="4901184" y="1993392"/>
            <a:ext cx="3566160" cy="256032"/>
          </a:xfrm>
          <a:prstGeom prst="rect">
            <a:avLst/>
          </a:prstGeom>
          <a:noFill/>
          <a:ln/>
        </p:spPr>
        <p:txBody>
          <a:bodyPr wrap="square" lIns="0" tIns="0" rIns="0" bIns="0" rtlCol="0" anchor="ctr"/>
          <a:lstStyle/>
          <a:p>
            <a:pPr indent="0" marL="0">
              <a:buNone/>
            </a:pPr>
            <a:r>
              <a:rPr lang="en-US" sz="1250" b="1" dirty="0">
                <a:solidFill>
                  <a:srgbClr val="4CC9F0"/>
                </a:solidFill>
                <a:latin typeface="Arial" pitchFamily="34" charset="0"/>
                <a:ea typeface="Arial" pitchFamily="34" charset="-122"/>
                <a:cs typeface="Arial" pitchFamily="34" charset="-120"/>
              </a:rPr>
              <a:t>정보와 표수</a:t>
            </a:r>
            <a:endParaRPr lang="en-US" sz="1250" dirty="0"/>
          </a:p>
        </p:txBody>
      </p:sp>
      <p:sp>
        <p:nvSpPr>
          <p:cNvPr id="15" name="Text 11"/>
          <p:cNvSpPr/>
          <p:nvPr/>
        </p:nvSpPr>
        <p:spPr>
          <a:xfrm>
            <a:off x="4901184" y="2267712"/>
            <a:ext cx="3611880" cy="548640"/>
          </a:xfrm>
          <a:prstGeom prst="rect">
            <a:avLst/>
          </a:prstGeom>
          <a:noFill/>
          <a:ln/>
        </p:spPr>
        <p:txBody>
          <a:bodyPr wrap="square" lIns="0" tIns="0" rIns="0" bIns="0" rtlCol="0" anchor="ctr"/>
          <a:lstStyle/>
          <a:p>
            <a:pPr indent="0" marL="0">
              <a:buNone/>
            </a:pPr>
            <a:r>
              <a:rPr lang="en-US" sz="1050" dirty="0">
                <a:solidFill>
                  <a:srgbClr val="F2F2F6"/>
                </a:solidFill>
                <a:latin typeface="Arial" pitchFamily="34" charset="0"/>
                <a:ea typeface="Arial" pitchFamily="34" charset="-122"/>
                <a:cs typeface="Arial" pitchFamily="34" charset="-120"/>
              </a:rPr>
              <a:t>“이 카페가 무엇인가” — 요약·태그의 재료 + 고유 블로거 수(다수결)</a:t>
            </a:r>
            <a:endParaRPr lang="en-US" sz="1050" dirty="0"/>
          </a:p>
        </p:txBody>
      </p:sp>
      <p:sp>
        <p:nvSpPr>
          <p:cNvPr id="16" name="Shape 12"/>
          <p:cNvSpPr/>
          <p:nvPr/>
        </p:nvSpPr>
        <p:spPr>
          <a:xfrm>
            <a:off x="457200" y="3017520"/>
            <a:ext cx="4005072" cy="1664208"/>
          </a:xfrm>
          <a:prstGeom prst="roundRect">
            <a:avLst>
              <a:gd name="adj" fmla="val 43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7" name="Image 2" descr="preencoded.png">    </p:cNvPr>
          <p:cNvPicPr>
            <a:picLocks noChangeAspect="1"/>
          </p:cNvPicPr>
          <p:nvPr/>
        </p:nvPicPr>
        <p:blipFill>
          <a:blip r:embed="rId3"/>
          <a:stretch>
            <a:fillRect/>
          </a:stretch>
        </p:blipFill>
        <p:spPr>
          <a:xfrm>
            <a:off x="676656" y="3236976"/>
            <a:ext cx="384048" cy="384048"/>
          </a:xfrm>
          <a:prstGeom prst="rect">
            <a:avLst/>
          </a:prstGeom>
        </p:spPr>
      </p:pic>
      <p:sp>
        <p:nvSpPr>
          <p:cNvPr id="18" name="Text 13"/>
          <p:cNvSpPr/>
          <p:nvPr/>
        </p:nvSpPr>
        <p:spPr>
          <a:xfrm>
            <a:off x="1207008" y="3182112"/>
            <a:ext cx="3108960" cy="274320"/>
          </a:xfrm>
          <a:prstGeom prst="rect">
            <a:avLst/>
          </a:prstGeom>
          <a:noFill/>
          <a:ln/>
        </p:spPr>
        <p:txBody>
          <a:bodyPr wrap="square" lIns="0" tIns="0" rIns="0" bIns="0" rtlCol="0" anchor="ctr"/>
          <a:lstStyle/>
          <a:p>
            <a:pPr indent="0" marL="0">
              <a:buNone/>
            </a:pPr>
            <a:r>
              <a:rPr lang="en-US" sz="1500" b="1" dirty="0">
                <a:solidFill>
                  <a:srgbClr val="F2F2F6"/>
                </a:solidFill>
                <a:latin typeface="Arial" pitchFamily="34" charset="0"/>
                <a:ea typeface="Arial" pitchFamily="34" charset="-122"/>
                <a:cs typeface="Arial" pitchFamily="34" charset="-120"/>
              </a:rPr>
              <a:t>카카오맵</a:t>
            </a:r>
            <a:endParaRPr lang="en-US" sz="1500" dirty="0"/>
          </a:p>
        </p:txBody>
      </p:sp>
      <p:sp>
        <p:nvSpPr>
          <p:cNvPr id="19" name="Text 14"/>
          <p:cNvSpPr/>
          <p:nvPr/>
        </p:nvSpPr>
        <p:spPr>
          <a:xfrm>
            <a:off x="1207008" y="3474720"/>
            <a:ext cx="3108960" cy="228600"/>
          </a:xfrm>
          <a:prstGeom prst="rect">
            <a:avLst/>
          </a:prstGeom>
          <a:noFill/>
          <a:ln/>
        </p:spPr>
        <p:txBody>
          <a:bodyPr wrap="square" lIns="0" tIns="0" rIns="0" bIns="0" rtlCol="0" anchor="ctr"/>
          <a:lstStyle/>
          <a:p>
            <a:pPr indent="0" marL="0">
              <a:buNone/>
            </a:pPr>
            <a:r>
              <a:rPr lang="en-US" sz="1050" dirty="0">
                <a:solidFill>
                  <a:srgbClr val="9BA0B0"/>
                </a:solidFill>
                <a:latin typeface="Arial" pitchFamily="34" charset="0"/>
                <a:ea typeface="Arial" pitchFamily="34" charset="-122"/>
                <a:cs typeface="Arial" pitchFamily="34" charset="-120"/>
              </a:rPr>
              <a:t>place_id 787곳 · 리뷰 20,328건</a:t>
            </a:r>
            <a:endParaRPr lang="en-US" sz="1050" dirty="0"/>
          </a:p>
        </p:txBody>
      </p:sp>
      <p:sp>
        <p:nvSpPr>
          <p:cNvPr id="20" name="Text 15"/>
          <p:cNvSpPr/>
          <p:nvPr/>
        </p:nvSpPr>
        <p:spPr>
          <a:xfrm>
            <a:off x="676656" y="3803904"/>
            <a:ext cx="3566160" cy="256032"/>
          </a:xfrm>
          <a:prstGeom prst="rect">
            <a:avLst/>
          </a:prstGeom>
          <a:noFill/>
          <a:ln/>
        </p:spPr>
        <p:txBody>
          <a:bodyPr wrap="square" lIns="0" tIns="0" rIns="0" bIns="0" rtlCol="0" anchor="ctr"/>
          <a:lstStyle/>
          <a:p>
            <a:pPr indent="0" marL="0">
              <a:buNone/>
            </a:pPr>
            <a:r>
              <a:rPr lang="en-US" sz="1250" b="1" dirty="0">
                <a:solidFill>
                  <a:srgbClr val="4CC9F0"/>
                </a:solidFill>
                <a:latin typeface="Arial" pitchFamily="34" charset="0"/>
                <a:ea typeface="Arial" pitchFamily="34" charset="-122"/>
                <a:cs typeface="Arial" pitchFamily="34" charset="-120"/>
              </a:rPr>
              <a:t>신원과 실방문 증언</a:t>
            </a:r>
            <a:endParaRPr lang="en-US" sz="1250" dirty="0"/>
          </a:p>
        </p:txBody>
      </p:sp>
      <p:sp>
        <p:nvSpPr>
          <p:cNvPr id="21" name="Text 16"/>
          <p:cNvSpPr/>
          <p:nvPr/>
        </p:nvSpPr>
        <p:spPr>
          <a:xfrm>
            <a:off x="676656" y="4078224"/>
            <a:ext cx="3611880" cy="548640"/>
          </a:xfrm>
          <a:prstGeom prst="rect">
            <a:avLst/>
          </a:prstGeom>
          <a:noFill/>
          <a:ln/>
        </p:spPr>
        <p:txBody>
          <a:bodyPr wrap="square" lIns="0" tIns="0" rIns="0" bIns="0" rtlCol="0" anchor="ctr"/>
          <a:lstStyle/>
          <a:p>
            <a:pPr indent="0" marL="0">
              <a:buNone/>
            </a:pPr>
            <a:r>
              <a:rPr lang="en-US" sz="1050" dirty="0">
                <a:solidFill>
                  <a:srgbClr val="F2F2F6"/>
                </a:solidFill>
                <a:latin typeface="Arial" pitchFamily="34" charset="0"/>
                <a:ea typeface="Arial" pitchFamily="34" charset="-122"/>
                <a:cs typeface="Arial" pitchFamily="34" charset="-120"/>
              </a:rPr>
              <a:t>영구 식별자로 중복 해소 + 별점 달린 전문 리뷰</a:t>
            </a:r>
            <a:endParaRPr lang="en-US" sz="1050" dirty="0"/>
          </a:p>
        </p:txBody>
      </p:sp>
      <p:sp>
        <p:nvSpPr>
          <p:cNvPr id="22" name="Shape 17"/>
          <p:cNvSpPr/>
          <p:nvPr/>
        </p:nvSpPr>
        <p:spPr>
          <a:xfrm>
            <a:off x="4681728" y="3017520"/>
            <a:ext cx="4005072" cy="1664208"/>
          </a:xfrm>
          <a:prstGeom prst="roundRect">
            <a:avLst>
              <a:gd name="adj" fmla="val 439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23" name="Image 3" descr="preencoded.png">    </p:cNvPr>
          <p:cNvPicPr>
            <a:picLocks noChangeAspect="1"/>
          </p:cNvPicPr>
          <p:nvPr/>
        </p:nvPicPr>
        <p:blipFill>
          <a:blip r:embed="rId4"/>
          <a:stretch>
            <a:fillRect/>
          </a:stretch>
        </p:blipFill>
        <p:spPr>
          <a:xfrm>
            <a:off x="4901184" y="3236976"/>
            <a:ext cx="384048" cy="384048"/>
          </a:xfrm>
          <a:prstGeom prst="rect">
            <a:avLst/>
          </a:prstGeom>
        </p:spPr>
      </p:pic>
      <p:sp>
        <p:nvSpPr>
          <p:cNvPr id="24" name="Text 18"/>
          <p:cNvSpPr/>
          <p:nvPr/>
        </p:nvSpPr>
        <p:spPr>
          <a:xfrm>
            <a:off x="5431536" y="3182112"/>
            <a:ext cx="3108960" cy="274320"/>
          </a:xfrm>
          <a:prstGeom prst="rect">
            <a:avLst/>
          </a:prstGeom>
          <a:noFill/>
          <a:ln/>
        </p:spPr>
        <p:txBody>
          <a:bodyPr wrap="square" lIns="0" tIns="0" rIns="0" bIns="0" rtlCol="0" anchor="ctr"/>
          <a:lstStyle/>
          <a:p>
            <a:pPr indent="0" marL="0">
              <a:buNone/>
            </a:pPr>
            <a:r>
              <a:rPr lang="en-US" sz="1500" b="1" dirty="0">
                <a:solidFill>
                  <a:srgbClr val="F2F2F6"/>
                </a:solidFill>
                <a:latin typeface="Arial" pitchFamily="34" charset="0"/>
                <a:ea typeface="Arial" pitchFamily="34" charset="-122"/>
                <a:cs typeface="Arial" pitchFamily="34" charset="-120"/>
              </a:rPr>
              <a:t>쇼츠 댓글</a:t>
            </a:r>
            <a:endParaRPr lang="en-US" sz="1500" dirty="0"/>
          </a:p>
        </p:txBody>
      </p:sp>
      <p:sp>
        <p:nvSpPr>
          <p:cNvPr id="25" name="Text 19"/>
          <p:cNvSpPr/>
          <p:nvPr/>
        </p:nvSpPr>
        <p:spPr>
          <a:xfrm>
            <a:off x="5431536" y="3474720"/>
            <a:ext cx="3108960" cy="228600"/>
          </a:xfrm>
          <a:prstGeom prst="rect">
            <a:avLst/>
          </a:prstGeom>
          <a:noFill/>
          <a:ln/>
        </p:spPr>
        <p:txBody>
          <a:bodyPr wrap="square" lIns="0" tIns="0" rIns="0" bIns="0" rtlCol="0" anchor="ctr"/>
          <a:lstStyle/>
          <a:p>
            <a:pPr indent="0" marL="0">
              <a:buNone/>
            </a:pPr>
            <a:r>
              <a:rPr lang="en-US" sz="1050" dirty="0">
                <a:solidFill>
                  <a:srgbClr val="9BA0B0"/>
                </a:solidFill>
                <a:latin typeface="Arial" pitchFamily="34" charset="0"/>
                <a:ea typeface="Arial" pitchFamily="34" charset="-122"/>
                <a:cs typeface="Arial" pitchFamily="34" charset="-120"/>
              </a:rPr>
              <a:t>1,467개 영상</a:t>
            </a:r>
            <a:endParaRPr lang="en-US" sz="1050" dirty="0"/>
          </a:p>
        </p:txBody>
      </p:sp>
      <p:sp>
        <p:nvSpPr>
          <p:cNvPr id="26" name="Text 20"/>
          <p:cNvSpPr/>
          <p:nvPr/>
        </p:nvSpPr>
        <p:spPr>
          <a:xfrm>
            <a:off x="4901184" y="3803904"/>
            <a:ext cx="3566160" cy="256032"/>
          </a:xfrm>
          <a:prstGeom prst="rect">
            <a:avLst/>
          </a:prstGeom>
          <a:noFill/>
          <a:ln/>
        </p:spPr>
        <p:txBody>
          <a:bodyPr wrap="square" lIns="0" tIns="0" rIns="0" bIns="0" rtlCol="0" anchor="ctr"/>
          <a:lstStyle/>
          <a:p>
            <a:pPr indent="0" marL="0">
              <a:buNone/>
            </a:pPr>
            <a:r>
              <a:rPr lang="en-US" sz="1250" b="1" dirty="0">
                <a:solidFill>
                  <a:srgbClr val="4CC9F0"/>
                </a:solidFill>
                <a:latin typeface="Arial" pitchFamily="34" charset="0"/>
                <a:ea typeface="Arial" pitchFamily="34" charset="-122"/>
                <a:cs typeface="Arial" pitchFamily="34" charset="-120"/>
              </a:rPr>
              <a:t>반응</a:t>
            </a:r>
            <a:endParaRPr lang="en-US" sz="1250" dirty="0"/>
          </a:p>
        </p:txBody>
      </p:sp>
      <p:sp>
        <p:nvSpPr>
          <p:cNvPr id="27" name="Text 21"/>
          <p:cNvSpPr/>
          <p:nvPr/>
        </p:nvSpPr>
        <p:spPr>
          <a:xfrm>
            <a:off x="4901184" y="4078224"/>
            <a:ext cx="3611880" cy="548640"/>
          </a:xfrm>
          <a:prstGeom prst="rect">
            <a:avLst/>
          </a:prstGeom>
          <a:noFill/>
          <a:ln/>
        </p:spPr>
        <p:txBody>
          <a:bodyPr wrap="square" lIns="0" tIns="0" rIns="0" bIns="0" rtlCol="0" anchor="ctr"/>
          <a:lstStyle/>
          <a:p>
            <a:pPr indent="0" marL="0">
              <a:buNone/>
            </a:pPr>
            <a:r>
              <a:rPr lang="en-US" sz="1050" dirty="0">
                <a:solidFill>
                  <a:srgbClr val="F2F2F6"/>
                </a:solidFill>
                <a:latin typeface="Arial" pitchFamily="34" charset="0"/>
                <a:ea typeface="Arial" pitchFamily="34" charset="-122"/>
                <a:cs typeface="Arial" pitchFamily="34" charset="-120"/>
              </a:rPr>
              <a:t>“사람들이 어떻게 느끼는가” — 2층 무더움, 에어컨 고장은 여기에만 있다</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숫자로 보는 데이터 처리</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수집에서 정제까지 — 전부 실측값</a:t>
            </a:r>
            <a:endParaRPr lang="en-US" sz="1250" dirty="0"/>
          </a:p>
        </p:txBody>
      </p:sp>
      <p:sp>
        <p:nvSpPr>
          <p:cNvPr id="4" name="Shape 2"/>
          <p:cNvSpPr/>
          <p:nvPr/>
        </p:nvSpPr>
        <p:spPr>
          <a:xfrm>
            <a:off x="457200" y="1371600"/>
            <a:ext cx="1938528" cy="1828800"/>
          </a:xfrm>
          <a:prstGeom prst="roundRect">
            <a:avLst>
              <a:gd name="adj" fmla="val 4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457200" y="1572768"/>
            <a:ext cx="1938528" cy="685800"/>
          </a:xfrm>
          <a:prstGeom prst="rect">
            <a:avLst/>
          </a:prstGeom>
          <a:noFill/>
          <a:ln/>
        </p:spPr>
        <p:txBody>
          <a:bodyPr wrap="square" lIns="0" tIns="0" rIns="0" bIns="0" rtlCol="0" anchor="ctr"/>
          <a:lstStyle/>
          <a:p>
            <a:pPr algn="ctr" indent="0" marL="0">
              <a:buNone/>
            </a:pPr>
            <a:r>
              <a:rPr lang="en-US" sz="3400" b="1" dirty="0">
                <a:solidFill>
                  <a:srgbClr val="F72585"/>
                </a:solidFill>
                <a:latin typeface="Arial" pitchFamily="34" charset="0"/>
                <a:ea typeface="Arial" pitchFamily="34" charset="-122"/>
                <a:cs typeface="Arial" pitchFamily="34" charset="-120"/>
              </a:rPr>
              <a:t>1,064</a:t>
            </a:r>
            <a:endParaRPr lang="en-US" sz="3400" dirty="0"/>
          </a:p>
        </p:txBody>
      </p:sp>
      <p:sp>
        <p:nvSpPr>
          <p:cNvPr id="6" name="Text 4"/>
          <p:cNvSpPr/>
          <p:nvPr/>
        </p:nvSpPr>
        <p:spPr>
          <a:xfrm>
            <a:off x="457200" y="2286000"/>
            <a:ext cx="1938528" cy="274320"/>
          </a:xfrm>
          <a:prstGeom prst="rect">
            <a:avLst/>
          </a:prstGeom>
          <a:noFill/>
          <a:ln/>
        </p:spPr>
        <p:txBody>
          <a:bodyPr wrap="square" lIns="0" tIns="0" rIns="0" bIns="0" rtlCol="0" anchor="ctr"/>
          <a:lstStyle/>
          <a:p>
            <a:pPr algn="ctr" indent="0" marL="0">
              <a:buNone/>
            </a:pPr>
            <a:r>
              <a:rPr lang="en-US" sz="1300" b="1" dirty="0">
                <a:solidFill>
                  <a:srgbClr val="F2F2F6"/>
                </a:solidFill>
                <a:latin typeface="Arial" pitchFamily="34" charset="0"/>
                <a:ea typeface="Arial" pitchFamily="34" charset="-122"/>
                <a:cs typeface="Arial" pitchFamily="34" charset="-120"/>
              </a:rPr>
              <a:t>고유 카페</a:t>
            </a:r>
            <a:endParaRPr lang="en-US" sz="1300" dirty="0"/>
          </a:p>
        </p:txBody>
      </p:sp>
      <p:sp>
        <p:nvSpPr>
          <p:cNvPr id="7" name="Text 5"/>
          <p:cNvSpPr/>
          <p:nvPr/>
        </p:nvSpPr>
        <p:spPr>
          <a:xfrm>
            <a:off x="566928" y="2578608"/>
            <a:ext cx="1719072" cy="502920"/>
          </a:xfrm>
          <a:prstGeom prst="rect">
            <a:avLst/>
          </a:prstGeom>
          <a:noFill/>
          <a:ln/>
        </p:spPr>
        <p:txBody>
          <a:bodyPr wrap="square" lIns="0" tIns="0" rIns="0" bIns="0" rtlCol="0" anchor="ctr"/>
          <a:lstStyle/>
          <a:p>
            <a:pPr algn="ctr" indent="0" marL="0">
              <a:buNone/>
            </a:pPr>
            <a:r>
              <a:rPr lang="en-US" sz="950" dirty="0">
                <a:solidFill>
                  <a:srgbClr val="9BA0B0"/>
                </a:solidFill>
                <a:latin typeface="Arial" pitchFamily="34" charset="0"/>
                <a:ea typeface="Arial" pitchFamily="34" charset="-122"/>
                <a:cs typeface="Arial" pitchFamily="34" charset="-120"/>
              </a:rPr>
              <a:t>이름 정규화 후 명단</a:t>
            </a:r>
            <a:endParaRPr lang="en-US" sz="950" dirty="0"/>
          </a:p>
        </p:txBody>
      </p:sp>
      <p:sp>
        <p:nvSpPr>
          <p:cNvPr id="8" name="Shape 6"/>
          <p:cNvSpPr/>
          <p:nvPr/>
        </p:nvSpPr>
        <p:spPr>
          <a:xfrm>
            <a:off x="2578608" y="1371600"/>
            <a:ext cx="1938528" cy="1828800"/>
          </a:xfrm>
          <a:prstGeom prst="roundRect">
            <a:avLst>
              <a:gd name="adj" fmla="val 4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2578608" y="1572768"/>
            <a:ext cx="1938528" cy="685800"/>
          </a:xfrm>
          <a:prstGeom prst="rect">
            <a:avLst/>
          </a:prstGeom>
          <a:noFill/>
          <a:ln/>
        </p:spPr>
        <p:txBody>
          <a:bodyPr wrap="square" lIns="0" tIns="0" rIns="0" bIns="0" rtlCol="0" anchor="ctr"/>
          <a:lstStyle/>
          <a:p>
            <a:pPr algn="ctr" indent="0" marL="0">
              <a:buNone/>
            </a:pPr>
            <a:r>
              <a:rPr lang="en-US" sz="3400" b="1" dirty="0">
                <a:solidFill>
                  <a:srgbClr val="4CC9F0"/>
                </a:solidFill>
                <a:latin typeface="Arial" pitchFamily="34" charset="0"/>
                <a:ea typeface="Arial" pitchFamily="34" charset="-122"/>
                <a:cs typeface="Arial" pitchFamily="34" charset="-120"/>
              </a:rPr>
              <a:t>947</a:t>
            </a:r>
            <a:endParaRPr lang="en-US" sz="3400" dirty="0"/>
          </a:p>
        </p:txBody>
      </p:sp>
      <p:sp>
        <p:nvSpPr>
          <p:cNvPr id="10" name="Text 8"/>
          <p:cNvSpPr/>
          <p:nvPr/>
        </p:nvSpPr>
        <p:spPr>
          <a:xfrm>
            <a:off x="2578608" y="2286000"/>
            <a:ext cx="1938528" cy="274320"/>
          </a:xfrm>
          <a:prstGeom prst="rect">
            <a:avLst/>
          </a:prstGeom>
          <a:noFill/>
          <a:ln/>
        </p:spPr>
        <p:txBody>
          <a:bodyPr wrap="square" lIns="0" tIns="0" rIns="0" bIns="0" rtlCol="0" anchor="ctr"/>
          <a:lstStyle/>
          <a:p>
            <a:pPr algn="ctr" indent="0" marL="0">
              <a:buNone/>
            </a:pPr>
            <a:r>
              <a:rPr lang="en-US" sz="1300" b="1" dirty="0">
                <a:solidFill>
                  <a:srgbClr val="F2F2F6"/>
                </a:solidFill>
                <a:latin typeface="Arial" pitchFamily="34" charset="0"/>
                <a:ea typeface="Arial" pitchFamily="34" charset="-122"/>
                <a:cs typeface="Arial" pitchFamily="34" charset="-120"/>
              </a:rPr>
              <a:t>정보 풍부(high)</a:t>
            </a:r>
            <a:endParaRPr lang="en-US" sz="1300" dirty="0"/>
          </a:p>
        </p:txBody>
      </p:sp>
      <p:sp>
        <p:nvSpPr>
          <p:cNvPr id="11" name="Text 9"/>
          <p:cNvSpPr/>
          <p:nvPr/>
        </p:nvSpPr>
        <p:spPr>
          <a:xfrm>
            <a:off x="2688336" y="2578608"/>
            <a:ext cx="1719072" cy="502920"/>
          </a:xfrm>
          <a:prstGeom prst="rect">
            <a:avLst/>
          </a:prstGeom>
          <a:noFill/>
          <a:ln/>
        </p:spPr>
        <p:txBody>
          <a:bodyPr wrap="square" lIns="0" tIns="0" rIns="0" bIns="0" rtlCol="0" anchor="ctr"/>
          <a:lstStyle/>
          <a:p>
            <a:pPr algn="ctr" indent="0" marL="0">
              <a:buNone/>
            </a:pPr>
            <a:r>
              <a:rPr lang="en-US" sz="950" dirty="0">
                <a:solidFill>
                  <a:srgbClr val="9BA0B0"/>
                </a:solidFill>
                <a:latin typeface="Arial" pitchFamily="34" charset="0"/>
                <a:ea typeface="Arial" pitchFamily="34" charset="-122"/>
                <a:cs typeface="Arial" pitchFamily="34" charset="-120"/>
              </a:rPr>
              <a:t>블로그 보강 전 397 → 보강 후</a:t>
            </a:r>
            <a:endParaRPr lang="en-US" sz="950" dirty="0"/>
          </a:p>
        </p:txBody>
      </p:sp>
      <p:sp>
        <p:nvSpPr>
          <p:cNvPr id="12" name="Shape 10"/>
          <p:cNvSpPr/>
          <p:nvPr/>
        </p:nvSpPr>
        <p:spPr>
          <a:xfrm>
            <a:off x="4700016" y="1371600"/>
            <a:ext cx="1938528" cy="1828800"/>
          </a:xfrm>
          <a:prstGeom prst="roundRect">
            <a:avLst>
              <a:gd name="adj" fmla="val 4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4700016" y="1572768"/>
            <a:ext cx="1938528" cy="685800"/>
          </a:xfrm>
          <a:prstGeom prst="rect">
            <a:avLst/>
          </a:prstGeom>
          <a:noFill/>
          <a:ln/>
        </p:spPr>
        <p:txBody>
          <a:bodyPr wrap="square" lIns="0" tIns="0" rIns="0" bIns="0" rtlCol="0" anchor="ctr"/>
          <a:lstStyle/>
          <a:p>
            <a:pPr algn="ctr" indent="0" marL="0">
              <a:buNone/>
            </a:pPr>
            <a:r>
              <a:rPr lang="en-US" sz="3400" b="1" dirty="0">
                <a:solidFill>
                  <a:srgbClr val="34D399"/>
                </a:solidFill>
                <a:latin typeface="Arial" pitchFamily="34" charset="0"/>
                <a:ea typeface="Arial" pitchFamily="34" charset="-122"/>
                <a:cs typeface="Arial" pitchFamily="34" charset="-120"/>
              </a:rPr>
              <a:t>876</a:t>
            </a:r>
            <a:endParaRPr lang="en-US" sz="3400" dirty="0"/>
          </a:p>
        </p:txBody>
      </p:sp>
      <p:sp>
        <p:nvSpPr>
          <p:cNvPr id="14" name="Text 12"/>
          <p:cNvSpPr/>
          <p:nvPr/>
        </p:nvSpPr>
        <p:spPr>
          <a:xfrm>
            <a:off x="4700016" y="2286000"/>
            <a:ext cx="1938528" cy="274320"/>
          </a:xfrm>
          <a:prstGeom prst="rect">
            <a:avLst/>
          </a:prstGeom>
          <a:noFill/>
          <a:ln/>
        </p:spPr>
        <p:txBody>
          <a:bodyPr wrap="square" lIns="0" tIns="0" rIns="0" bIns="0" rtlCol="0" anchor="ctr"/>
          <a:lstStyle/>
          <a:p>
            <a:pPr algn="ctr" indent="0" marL="0">
              <a:buNone/>
            </a:pPr>
            <a:r>
              <a:rPr lang="en-US" sz="1300" b="1" dirty="0">
                <a:solidFill>
                  <a:srgbClr val="F2F2F6"/>
                </a:solidFill>
                <a:latin typeface="Arial" pitchFamily="34" charset="0"/>
                <a:ea typeface="Arial" pitchFamily="34" charset="-122"/>
                <a:cs typeface="Arial" pitchFamily="34" charset="-120"/>
              </a:rPr>
              <a:t>실존 '유지' 판정</a:t>
            </a:r>
            <a:endParaRPr lang="en-US" sz="1300" dirty="0"/>
          </a:p>
        </p:txBody>
      </p:sp>
      <p:sp>
        <p:nvSpPr>
          <p:cNvPr id="15" name="Text 13"/>
          <p:cNvSpPr/>
          <p:nvPr/>
        </p:nvSpPr>
        <p:spPr>
          <a:xfrm>
            <a:off x="4809744" y="2578608"/>
            <a:ext cx="1719072" cy="502920"/>
          </a:xfrm>
          <a:prstGeom prst="rect">
            <a:avLst/>
          </a:prstGeom>
          <a:noFill/>
          <a:ln/>
        </p:spPr>
        <p:txBody>
          <a:bodyPr wrap="square" lIns="0" tIns="0" rIns="0" bIns="0" rtlCol="0" anchor="ctr"/>
          <a:lstStyle/>
          <a:p>
            <a:pPr algn="ctr" indent="0" marL="0">
              <a:buNone/>
            </a:pPr>
            <a:r>
              <a:rPr lang="en-US" sz="950" dirty="0">
                <a:solidFill>
                  <a:srgbClr val="9BA0B0"/>
                </a:solidFill>
                <a:latin typeface="Arial" pitchFamily="34" charset="0"/>
                <a:ea typeface="Arial" pitchFamily="34" charset="-122"/>
                <a:cs typeface="Arial" pitchFamily="34" charset="-120"/>
              </a:rPr>
              <a:t>3신호 교차 · 폐업 11곳 검출</a:t>
            </a:r>
            <a:endParaRPr lang="en-US" sz="950" dirty="0"/>
          </a:p>
        </p:txBody>
      </p:sp>
      <p:sp>
        <p:nvSpPr>
          <p:cNvPr id="16" name="Shape 14"/>
          <p:cNvSpPr/>
          <p:nvPr/>
        </p:nvSpPr>
        <p:spPr>
          <a:xfrm>
            <a:off x="6821424" y="1371600"/>
            <a:ext cx="1938528" cy="1828800"/>
          </a:xfrm>
          <a:prstGeom prst="roundRect">
            <a:avLst>
              <a:gd name="adj" fmla="val 4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6821424" y="1572768"/>
            <a:ext cx="1938528" cy="685800"/>
          </a:xfrm>
          <a:prstGeom prst="rect">
            <a:avLst/>
          </a:prstGeom>
          <a:noFill/>
          <a:ln/>
        </p:spPr>
        <p:txBody>
          <a:bodyPr wrap="square" lIns="0" tIns="0" rIns="0" bIns="0" rtlCol="0" anchor="ctr"/>
          <a:lstStyle/>
          <a:p>
            <a:pPr algn="ctr" indent="0" marL="0">
              <a:buNone/>
            </a:pPr>
            <a:r>
              <a:rPr lang="en-US" sz="3400" b="1" dirty="0">
                <a:solidFill>
                  <a:srgbClr val="FBBF24"/>
                </a:solidFill>
                <a:latin typeface="Arial" pitchFamily="34" charset="0"/>
                <a:ea typeface="Arial" pitchFamily="34" charset="-122"/>
                <a:cs typeface="Arial" pitchFamily="34" charset="-120"/>
              </a:rPr>
              <a:t>24.6%</a:t>
            </a:r>
            <a:endParaRPr lang="en-US" sz="3400" dirty="0"/>
          </a:p>
        </p:txBody>
      </p:sp>
      <p:sp>
        <p:nvSpPr>
          <p:cNvPr id="18" name="Text 16"/>
          <p:cNvSpPr/>
          <p:nvPr/>
        </p:nvSpPr>
        <p:spPr>
          <a:xfrm>
            <a:off x="6821424" y="2286000"/>
            <a:ext cx="1938528" cy="274320"/>
          </a:xfrm>
          <a:prstGeom prst="rect">
            <a:avLst/>
          </a:prstGeom>
          <a:noFill/>
          <a:ln/>
        </p:spPr>
        <p:txBody>
          <a:bodyPr wrap="square" lIns="0" tIns="0" rIns="0" bIns="0" rtlCol="0" anchor="ctr"/>
          <a:lstStyle/>
          <a:p>
            <a:pPr algn="ctr" indent="0" marL="0">
              <a:buNone/>
            </a:pPr>
            <a:r>
              <a:rPr lang="en-US" sz="1300" b="1" dirty="0">
                <a:solidFill>
                  <a:srgbClr val="F2F2F6"/>
                </a:solidFill>
                <a:latin typeface="Arial" pitchFamily="34" charset="0"/>
                <a:ea typeface="Arial" pitchFamily="34" charset="-122"/>
                <a:cs typeface="Arial" pitchFamily="34" charset="-120"/>
              </a:rPr>
              <a:t>지역 라벨 오염률</a:t>
            </a:r>
            <a:endParaRPr lang="en-US" sz="1300" dirty="0"/>
          </a:p>
        </p:txBody>
      </p:sp>
      <p:sp>
        <p:nvSpPr>
          <p:cNvPr id="19" name="Text 17"/>
          <p:cNvSpPr/>
          <p:nvPr/>
        </p:nvSpPr>
        <p:spPr>
          <a:xfrm>
            <a:off x="6931152" y="2578608"/>
            <a:ext cx="1719072" cy="502920"/>
          </a:xfrm>
          <a:prstGeom prst="rect">
            <a:avLst/>
          </a:prstGeom>
          <a:noFill/>
          <a:ln/>
        </p:spPr>
        <p:txBody>
          <a:bodyPr wrap="square" lIns="0" tIns="0" rIns="0" bIns="0" rtlCol="0" anchor="ctr"/>
          <a:lstStyle/>
          <a:p>
            <a:pPr algn="ctr" indent="0" marL="0">
              <a:buNone/>
            </a:pPr>
            <a:r>
              <a:rPr lang="en-US" sz="950" dirty="0">
                <a:solidFill>
                  <a:srgbClr val="9BA0B0"/>
                </a:solidFill>
                <a:latin typeface="Arial" pitchFamily="34" charset="0"/>
                <a:ea typeface="Arial" pitchFamily="34" charset="-122"/>
                <a:cs typeface="Arial" pitchFamily="34" charset="-120"/>
              </a:rPr>
              <a:t>LLM 추측 폐기 → 주소 유도로 교체</a:t>
            </a:r>
            <a:endParaRPr lang="en-US" sz="950" dirty="0"/>
          </a:p>
        </p:txBody>
      </p:sp>
      <p:sp>
        <p:nvSpPr>
          <p:cNvPr id="20" name="Shape 18"/>
          <p:cNvSpPr/>
          <p:nvPr/>
        </p:nvSpPr>
        <p:spPr>
          <a:xfrm>
            <a:off x="457200" y="3520440"/>
            <a:ext cx="8229600" cy="1051560"/>
          </a:xfrm>
          <a:prstGeom prst="roundRect">
            <a:avLst>
              <a:gd name="adj" fmla="val 6957"/>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pic>
        <p:nvPicPr>
          <p:cNvPr id="21" name="Image 0" descr="preencoded.png">    </p:cNvPr>
          <p:cNvPicPr>
            <a:picLocks noChangeAspect="1"/>
          </p:cNvPicPr>
          <p:nvPr/>
        </p:nvPicPr>
        <p:blipFill>
          <a:blip r:embed="rId1"/>
          <a:stretch>
            <a:fillRect/>
          </a:stretch>
        </p:blipFill>
        <p:spPr>
          <a:xfrm>
            <a:off x="713232" y="3822192"/>
            <a:ext cx="384048" cy="384048"/>
          </a:xfrm>
          <a:prstGeom prst="rect">
            <a:avLst/>
          </a:prstGeom>
        </p:spPr>
      </p:pic>
      <p:sp>
        <p:nvSpPr>
          <p:cNvPr id="22" name="Text 19"/>
          <p:cNvSpPr/>
          <p:nvPr/>
        </p:nvSpPr>
        <p:spPr>
          <a:xfrm>
            <a:off x="1280160" y="3657600"/>
            <a:ext cx="7223760" cy="777240"/>
          </a:xfrm>
          <a:prstGeom prst="rect">
            <a:avLst/>
          </a:prstGeom>
          <a:noFill/>
          <a:ln/>
        </p:spPr>
        <p:txBody>
          <a:bodyPr wrap="square" rtlCol="0" anchor="ctr"/>
          <a:lstStyle/>
          <a:p>
            <a:pPr indent="0" marL="0">
              <a:buNone/>
            </a:pPr>
            <a:r>
              <a:rPr lang="en-US" sz="1250" b="1" dirty="0">
                <a:solidFill>
                  <a:srgbClr val="F2F2F6"/>
                </a:solidFill>
                <a:latin typeface="Arial" pitchFamily="34" charset="0"/>
                <a:ea typeface="Arial" pitchFamily="34" charset="-122"/>
                <a:cs typeface="Arial" pitchFamily="34" charset="-120"/>
              </a:rPr>
              <a:t>원칙: 판단은 LLM에게, 사실과 강제는 코드에게.  </a:t>
            </a:r>
            <a:pPr indent="0" marL="0">
              <a:buNone/>
            </a:pPr>
            <a:r>
              <a:rPr lang="en-US" sz="1250" dirty="0">
                <a:solidFill>
                  <a:srgbClr val="9BA0B0"/>
                </a:solidFill>
                <a:latin typeface="Arial" pitchFamily="34" charset="0"/>
                <a:ea typeface="Arial" pitchFamily="34" charset="-122"/>
                <a:cs typeface="Arial" pitchFamily="34" charset="-120"/>
              </a:rPr>
              <a:t>식별자·숫자는 LLM을 우회해 코드가 운반하고(환각 방지), 태그 사전 준수도 프롬프트가 아니라 코드가 강제한다.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배치 파이프라인 — 공장</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무겁고 실수 가능한 일은 전부 여기서 끝낸다</a:t>
            </a:r>
            <a:endParaRPr lang="en-US" sz="1250" dirty="0"/>
          </a:p>
        </p:txBody>
      </p:sp>
      <p:sp>
        <p:nvSpPr>
          <p:cNvPr id="4" name="Shape 2"/>
          <p:cNvSpPr/>
          <p:nvPr/>
        </p:nvSpPr>
        <p:spPr>
          <a:xfrm>
            <a:off x="384048" y="1600200"/>
            <a:ext cx="1499616" cy="1600200"/>
          </a:xfrm>
          <a:prstGeom prst="roundRect">
            <a:avLst>
              <a:gd name="adj" fmla="val 4878"/>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896112" y="1783080"/>
            <a:ext cx="475488" cy="475488"/>
          </a:xfrm>
          <a:prstGeom prst="ellipse">
            <a:avLst/>
          </a:prstGeom>
          <a:solidFill>
            <a:srgbClr val="4CC9F0"/>
          </a:solidFill>
          <a:ln w="12700">
            <a:solidFill>
              <a:srgbClr val="1D1D29"/>
            </a:solidFill>
            <a:prstDash val="solid"/>
          </a:ln>
        </p:spPr>
      </p:sp>
      <p:sp>
        <p:nvSpPr>
          <p:cNvPr id="6" name="Text 4"/>
          <p:cNvSpPr/>
          <p:nvPr/>
        </p:nvSpPr>
        <p:spPr>
          <a:xfrm>
            <a:off x="896112" y="1783080"/>
            <a:ext cx="475488" cy="475488"/>
          </a:xfrm>
          <a:prstGeom prst="rect">
            <a:avLst/>
          </a:prstGeom>
          <a:noFill/>
          <a:ln/>
        </p:spPr>
        <p:txBody>
          <a:bodyPr wrap="square" lIns="0" tIns="0" rIns="0" bIns="0" rtlCol="0" anchor="ctr"/>
          <a:lstStyle/>
          <a:p>
            <a:pPr algn="ctr" indent="0" marL="0">
              <a:buNone/>
            </a:pPr>
            <a:r>
              <a:rPr lang="en-US" sz="1800" b="1" dirty="0">
                <a:solidFill>
                  <a:srgbClr val="13131B"/>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384048" y="2359152"/>
            <a:ext cx="1499616" cy="274320"/>
          </a:xfrm>
          <a:prstGeom prst="rect">
            <a:avLst/>
          </a:prstGeom>
          <a:noFill/>
          <a:ln/>
        </p:spPr>
        <p:txBody>
          <a:bodyPr wrap="square" lIns="0" tIns="0" rIns="0" bIns="0" rtlCol="0" anchor="ctr"/>
          <a:lstStyle/>
          <a:p>
            <a:pPr algn="ctr" indent="0" marL="0">
              <a:buNone/>
            </a:pPr>
            <a:r>
              <a:rPr lang="en-US" sz="1400" b="1" dirty="0">
                <a:solidFill>
                  <a:srgbClr val="F2F2F6"/>
                </a:solidFill>
                <a:latin typeface="Arial" pitchFamily="34" charset="0"/>
                <a:ea typeface="Arial" pitchFamily="34" charset="-122"/>
                <a:cs typeface="Arial" pitchFamily="34" charset="-120"/>
              </a:rPr>
              <a:t>수집</a:t>
            </a:r>
            <a:endParaRPr lang="en-US" sz="1400" dirty="0"/>
          </a:p>
        </p:txBody>
      </p:sp>
      <p:sp>
        <p:nvSpPr>
          <p:cNvPr id="8" name="Text 6"/>
          <p:cNvSpPr/>
          <p:nvPr/>
        </p:nvSpPr>
        <p:spPr>
          <a:xfrm>
            <a:off x="457200" y="2651760"/>
            <a:ext cx="1353312" cy="502920"/>
          </a:xfrm>
          <a:prstGeom prst="rect">
            <a:avLst/>
          </a:prstGeom>
          <a:noFill/>
          <a:ln/>
        </p:spPr>
        <p:txBody>
          <a:bodyPr wrap="square" lIns="0" tIns="0" rIns="0" bIns="0" rtlCol="0" anchor="ctr"/>
          <a:lstStyle/>
          <a:p>
            <a:pPr algn="ctr" indent="0" marL="0">
              <a:buNone/>
            </a:pPr>
            <a:r>
              <a:rPr lang="en-US" sz="900" dirty="0">
                <a:solidFill>
                  <a:srgbClr val="9BA0B0"/>
                </a:solidFill>
                <a:latin typeface="Arial" pitchFamily="34" charset="0"/>
                <a:ea typeface="Arial" pitchFamily="34" charset="-122"/>
                <a:cs typeface="Arial" pitchFamily="34" charset="-120"/>
              </a:rPr>
              <a:t>유튜브·네이버·카카오·댓글, 무손실 raw</a:t>
            </a:r>
            <a:endParaRPr lang="en-US" sz="900" dirty="0"/>
          </a:p>
        </p:txBody>
      </p:sp>
      <p:sp>
        <p:nvSpPr>
          <p:cNvPr id="9" name="Text 7"/>
          <p:cNvSpPr/>
          <p:nvPr/>
        </p:nvSpPr>
        <p:spPr>
          <a:xfrm>
            <a:off x="1865376" y="2148840"/>
            <a:ext cx="292608" cy="365760"/>
          </a:xfrm>
          <a:prstGeom prst="rect">
            <a:avLst/>
          </a:prstGeom>
          <a:noFill/>
          <a:ln/>
        </p:spPr>
        <p:txBody>
          <a:bodyPr wrap="square" lIns="0" tIns="0" rIns="0" bIns="0" rtlCol="0" anchor="ctr"/>
          <a:lstStyle/>
          <a:p>
            <a:pPr algn="ctr" indent="0" marL="0">
              <a:buNone/>
            </a:pPr>
            <a:r>
              <a:rPr lang="en-US" sz="1800" b="1" dirty="0">
                <a:solidFill>
                  <a:srgbClr val="F72585"/>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2139696" y="1600200"/>
            <a:ext cx="1499616" cy="1600200"/>
          </a:xfrm>
          <a:prstGeom prst="roundRect">
            <a:avLst>
              <a:gd name="adj" fmla="val 4878"/>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1" name="Shape 9"/>
          <p:cNvSpPr/>
          <p:nvPr/>
        </p:nvSpPr>
        <p:spPr>
          <a:xfrm>
            <a:off x="2651760" y="1783080"/>
            <a:ext cx="475488" cy="475488"/>
          </a:xfrm>
          <a:prstGeom prst="ellipse">
            <a:avLst/>
          </a:prstGeom>
          <a:solidFill>
            <a:srgbClr val="4CC9F0"/>
          </a:solidFill>
          <a:ln w="12700">
            <a:solidFill>
              <a:srgbClr val="1D1D29"/>
            </a:solidFill>
            <a:prstDash val="solid"/>
          </a:ln>
        </p:spPr>
      </p:sp>
      <p:sp>
        <p:nvSpPr>
          <p:cNvPr id="12" name="Text 10"/>
          <p:cNvSpPr/>
          <p:nvPr/>
        </p:nvSpPr>
        <p:spPr>
          <a:xfrm>
            <a:off x="2651760" y="1783080"/>
            <a:ext cx="475488" cy="475488"/>
          </a:xfrm>
          <a:prstGeom prst="rect">
            <a:avLst/>
          </a:prstGeom>
          <a:noFill/>
          <a:ln/>
        </p:spPr>
        <p:txBody>
          <a:bodyPr wrap="square" lIns="0" tIns="0" rIns="0" bIns="0" rtlCol="0" anchor="ctr"/>
          <a:lstStyle/>
          <a:p>
            <a:pPr algn="ctr" indent="0" marL="0">
              <a:buNone/>
            </a:pPr>
            <a:r>
              <a:rPr lang="en-US" sz="1800" b="1" dirty="0">
                <a:solidFill>
                  <a:srgbClr val="13131B"/>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2139696" y="2359152"/>
            <a:ext cx="1499616" cy="274320"/>
          </a:xfrm>
          <a:prstGeom prst="rect">
            <a:avLst/>
          </a:prstGeom>
          <a:noFill/>
          <a:ln/>
        </p:spPr>
        <p:txBody>
          <a:bodyPr wrap="square" lIns="0" tIns="0" rIns="0" bIns="0" rtlCol="0" anchor="ctr"/>
          <a:lstStyle/>
          <a:p>
            <a:pPr algn="ctr" indent="0" marL="0">
              <a:buNone/>
            </a:pPr>
            <a:r>
              <a:rPr lang="en-US" sz="1400" b="1" dirty="0">
                <a:solidFill>
                  <a:srgbClr val="F2F2F6"/>
                </a:solidFill>
                <a:latin typeface="Arial" pitchFamily="34" charset="0"/>
                <a:ea typeface="Arial" pitchFamily="34" charset="-122"/>
                <a:cs typeface="Arial" pitchFamily="34" charset="-120"/>
              </a:rPr>
              <a:t>추출</a:t>
            </a:r>
            <a:endParaRPr lang="en-US" sz="1400" dirty="0"/>
          </a:p>
        </p:txBody>
      </p:sp>
      <p:sp>
        <p:nvSpPr>
          <p:cNvPr id="14" name="Text 12"/>
          <p:cNvSpPr/>
          <p:nvPr/>
        </p:nvSpPr>
        <p:spPr>
          <a:xfrm>
            <a:off x="2212848" y="2651760"/>
            <a:ext cx="1353312" cy="502920"/>
          </a:xfrm>
          <a:prstGeom prst="rect">
            <a:avLst/>
          </a:prstGeom>
          <a:noFill/>
          <a:ln/>
        </p:spPr>
        <p:txBody>
          <a:bodyPr wrap="square" lIns="0" tIns="0" rIns="0" bIns="0" rtlCol="0" anchor="ctr"/>
          <a:lstStyle/>
          <a:p>
            <a:pPr algn="ctr" indent="0" marL="0">
              <a:buNone/>
            </a:pPr>
            <a:r>
              <a:rPr lang="en-US" sz="900" dirty="0">
                <a:solidFill>
                  <a:srgbClr val="9BA0B0"/>
                </a:solidFill>
                <a:latin typeface="Arial" pitchFamily="34" charset="0"/>
                <a:ea typeface="Arial" pitchFamily="34" charset="-122"/>
                <a:cs typeface="Arial" pitchFamily="34" charset="-120"/>
              </a:rPr>
              <a:t>영상→카페명 (LLM Pass 1)</a:t>
            </a:r>
            <a:endParaRPr lang="en-US" sz="900" dirty="0"/>
          </a:p>
        </p:txBody>
      </p:sp>
      <p:sp>
        <p:nvSpPr>
          <p:cNvPr id="15" name="Text 13"/>
          <p:cNvSpPr/>
          <p:nvPr/>
        </p:nvSpPr>
        <p:spPr>
          <a:xfrm>
            <a:off x="3621024" y="2148840"/>
            <a:ext cx="292608" cy="365760"/>
          </a:xfrm>
          <a:prstGeom prst="rect">
            <a:avLst/>
          </a:prstGeom>
          <a:noFill/>
          <a:ln/>
        </p:spPr>
        <p:txBody>
          <a:bodyPr wrap="square" lIns="0" tIns="0" rIns="0" bIns="0" rtlCol="0" anchor="ctr"/>
          <a:lstStyle/>
          <a:p>
            <a:pPr algn="ctr" indent="0" marL="0">
              <a:buNone/>
            </a:pPr>
            <a:r>
              <a:rPr lang="en-US" sz="1800" b="1" dirty="0">
                <a:solidFill>
                  <a:srgbClr val="F72585"/>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3895344" y="1600200"/>
            <a:ext cx="1499616" cy="1600200"/>
          </a:xfrm>
          <a:prstGeom prst="roundRect">
            <a:avLst>
              <a:gd name="adj" fmla="val 4878"/>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7" name="Shape 15"/>
          <p:cNvSpPr/>
          <p:nvPr/>
        </p:nvSpPr>
        <p:spPr>
          <a:xfrm>
            <a:off x="4407408" y="1783080"/>
            <a:ext cx="475488" cy="475488"/>
          </a:xfrm>
          <a:prstGeom prst="ellipse">
            <a:avLst/>
          </a:prstGeom>
          <a:solidFill>
            <a:srgbClr val="4CC9F0"/>
          </a:solidFill>
          <a:ln w="12700">
            <a:solidFill>
              <a:srgbClr val="1D1D29"/>
            </a:solidFill>
            <a:prstDash val="solid"/>
          </a:ln>
        </p:spPr>
      </p:sp>
      <p:sp>
        <p:nvSpPr>
          <p:cNvPr id="18" name="Text 16"/>
          <p:cNvSpPr/>
          <p:nvPr/>
        </p:nvSpPr>
        <p:spPr>
          <a:xfrm>
            <a:off x="4407408" y="1783080"/>
            <a:ext cx="475488" cy="475488"/>
          </a:xfrm>
          <a:prstGeom prst="rect">
            <a:avLst/>
          </a:prstGeom>
          <a:noFill/>
          <a:ln/>
        </p:spPr>
        <p:txBody>
          <a:bodyPr wrap="square" lIns="0" tIns="0" rIns="0" bIns="0" rtlCol="0" anchor="ctr"/>
          <a:lstStyle/>
          <a:p>
            <a:pPr algn="ctr" indent="0" marL="0">
              <a:buNone/>
            </a:pPr>
            <a:r>
              <a:rPr lang="en-US" sz="1800" b="1" dirty="0">
                <a:solidFill>
                  <a:srgbClr val="13131B"/>
                </a:solidFill>
                <a:latin typeface="Arial" pitchFamily="34" charset="0"/>
                <a:ea typeface="Arial" pitchFamily="34" charset="-122"/>
                <a:cs typeface="Arial" pitchFamily="34" charset="-120"/>
              </a:rPr>
              <a:t>3</a:t>
            </a:r>
            <a:endParaRPr lang="en-US" sz="1800" dirty="0"/>
          </a:p>
        </p:txBody>
      </p:sp>
      <p:sp>
        <p:nvSpPr>
          <p:cNvPr id="19" name="Text 17"/>
          <p:cNvSpPr/>
          <p:nvPr/>
        </p:nvSpPr>
        <p:spPr>
          <a:xfrm>
            <a:off x="3895344" y="2359152"/>
            <a:ext cx="1499616" cy="274320"/>
          </a:xfrm>
          <a:prstGeom prst="rect">
            <a:avLst/>
          </a:prstGeom>
          <a:noFill/>
          <a:ln/>
        </p:spPr>
        <p:txBody>
          <a:bodyPr wrap="square" lIns="0" tIns="0" rIns="0" bIns="0" rtlCol="0" anchor="ctr"/>
          <a:lstStyle/>
          <a:p>
            <a:pPr algn="ctr" indent="0" marL="0">
              <a:buNone/>
            </a:pPr>
            <a:r>
              <a:rPr lang="en-US" sz="1400" b="1" dirty="0">
                <a:solidFill>
                  <a:srgbClr val="F2F2F6"/>
                </a:solidFill>
                <a:latin typeface="Arial" pitchFamily="34" charset="0"/>
                <a:ea typeface="Arial" pitchFamily="34" charset="-122"/>
                <a:cs typeface="Arial" pitchFamily="34" charset="-120"/>
              </a:rPr>
              <a:t>정제·판정</a:t>
            </a:r>
            <a:endParaRPr lang="en-US" sz="1400" dirty="0"/>
          </a:p>
        </p:txBody>
      </p:sp>
      <p:sp>
        <p:nvSpPr>
          <p:cNvPr id="20" name="Text 18"/>
          <p:cNvSpPr/>
          <p:nvPr/>
        </p:nvSpPr>
        <p:spPr>
          <a:xfrm>
            <a:off x="3968496" y="2651760"/>
            <a:ext cx="1353312" cy="502920"/>
          </a:xfrm>
          <a:prstGeom prst="rect">
            <a:avLst/>
          </a:prstGeom>
          <a:noFill/>
          <a:ln/>
        </p:spPr>
        <p:txBody>
          <a:bodyPr wrap="square" lIns="0" tIns="0" rIns="0" bIns="0" rtlCol="0" anchor="ctr"/>
          <a:lstStyle/>
          <a:p>
            <a:pPr algn="ctr" indent="0" marL="0">
              <a:buNone/>
            </a:pPr>
            <a:r>
              <a:rPr lang="en-US" sz="900" dirty="0">
                <a:solidFill>
                  <a:srgbClr val="9BA0B0"/>
                </a:solidFill>
                <a:latin typeface="Arial" pitchFamily="34" charset="0"/>
                <a:ea typeface="Arial" pitchFamily="34" charset="-122"/>
                <a:cs typeface="Arial" pitchFamily="34" charset="-120"/>
              </a:rPr>
              <a:t>요약+태그(사전 강제) · 실존 3신호</a:t>
            </a:r>
            <a:endParaRPr lang="en-US" sz="900" dirty="0"/>
          </a:p>
        </p:txBody>
      </p:sp>
      <p:sp>
        <p:nvSpPr>
          <p:cNvPr id="21" name="Text 19"/>
          <p:cNvSpPr/>
          <p:nvPr/>
        </p:nvSpPr>
        <p:spPr>
          <a:xfrm>
            <a:off x="5376672" y="2148840"/>
            <a:ext cx="292608" cy="365760"/>
          </a:xfrm>
          <a:prstGeom prst="rect">
            <a:avLst/>
          </a:prstGeom>
          <a:noFill/>
          <a:ln/>
        </p:spPr>
        <p:txBody>
          <a:bodyPr wrap="square" lIns="0" tIns="0" rIns="0" bIns="0" rtlCol="0" anchor="ctr"/>
          <a:lstStyle/>
          <a:p>
            <a:pPr algn="ctr" indent="0" marL="0">
              <a:buNone/>
            </a:pPr>
            <a:r>
              <a:rPr lang="en-US" sz="1800" b="1" dirty="0">
                <a:solidFill>
                  <a:srgbClr val="F72585"/>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5650992" y="1600200"/>
            <a:ext cx="1499616" cy="1600200"/>
          </a:xfrm>
          <a:prstGeom prst="roundRect">
            <a:avLst>
              <a:gd name="adj" fmla="val 4878"/>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23" name="Shape 21"/>
          <p:cNvSpPr/>
          <p:nvPr/>
        </p:nvSpPr>
        <p:spPr>
          <a:xfrm>
            <a:off x="6163056" y="1783080"/>
            <a:ext cx="475488" cy="475488"/>
          </a:xfrm>
          <a:prstGeom prst="ellipse">
            <a:avLst/>
          </a:prstGeom>
          <a:solidFill>
            <a:srgbClr val="4CC9F0"/>
          </a:solidFill>
          <a:ln w="12700">
            <a:solidFill>
              <a:srgbClr val="1D1D29"/>
            </a:solidFill>
            <a:prstDash val="solid"/>
          </a:ln>
        </p:spPr>
      </p:sp>
      <p:sp>
        <p:nvSpPr>
          <p:cNvPr id="24" name="Text 22"/>
          <p:cNvSpPr/>
          <p:nvPr/>
        </p:nvSpPr>
        <p:spPr>
          <a:xfrm>
            <a:off x="6163056" y="1783080"/>
            <a:ext cx="475488" cy="475488"/>
          </a:xfrm>
          <a:prstGeom prst="rect">
            <a:avLst/>
          </a:prstGeom>
          <a:noFill/>
          <a:ln/>
        </p:spPr>
        <p:txBody>
          <a:bodyPr wrap="square" lIns="0" tIns="0" rIns="0" bIns="0" rtlCol="0" anchor="ctr"/>
          <a:lstStyle/>
          <a:p>
            <a:pPr algn="ctr" indent="0" marL="0">
              <a:buNone/>
            </a:pPr>
            <a:r>
              <a:rPr lang="en-US" sz="1800" b="1" dirty="0">
                <a:solidFill>
                  <a:srgbClr val="13131B"/>
                </a:solidFill>
                <a:latin typeface="Arial" pitchFamily="34" charset="0"/>
                <a:ea typeface="Arial" pitchFamily="34" charset="-122"/>
                <a:cs typeface="Arial" pitchFamily="34" charset="-120"/>
              </a:rPr>
              <a:t>4</a:t>
            </a:r>
            <a:endParaRPr lang="en-US" sz="1800" dirty="0"/>
          </a:p>
        </p:txBody>
      </p:sp>
      <p:sp>
        <p:nvSpPr>
          <p:cNvPr id="25" name="Text 23"/>
          <p:cNvSpPr/>
          <p:nvPr/>
        </p:nvSpPr>
        <p:spPr>
          <a:xfrm>
            <a:off x="5650992" y="2359152"/>
            <a:ext cx="1499616" cy="274320"/>
          </a:xfrm>
          <a:prstGeom prst="rect">
            <a:avLst/>
          </a:prstGeom>
          <a:noFill/>
          <a:ln/>
        </p:spPr>
        <p:txBody>
          <a:bodyPr wrap="square" lIns="0" tIns="0" rIns="0" bIns="0" rtlCol="0" anchor="ctr"/>
          <a:lstStyle/>
          <a:p>
            <a:pPr algn="ctr" indent="0" marL="0">
              <a:buNone/>
            </a:pPr>
            <a:r>
              <a:rPr lang="en-US" sz="1400" b="1" dirty="0">
                <a:solidFill>
                  <a:srgbClr val="F2F2F6"/>
                </a:solidFill>
                <a:latin typeface="Arial" pitchFamily="34" charset="0"/>
                <a:ea typeface="Arial" pitchFamily="34" charset="-122"/>
                <a:cs typeface="Arial" pitchFamily="34" charset="-120"/>
              </a:rPr>
              <a:t>정본화</a:t>
            </a:r>
            <a:endParaRPr lang="en-US" sz="1400" dirty="0"/>
          </a:p>
        </p:txBody>
      </p:sp>
      <p:sp>
        <p:nvSpPr>
          <p:cNvPr id="26" name="Text 24"/>
          <p:cNvSpPr/>
          <p:nvPr/>
        </p:nvSpPr>
        <p:spPr>
          <a:xfrm>
            <a:off x="5724144" y="2651760"/>
            <a:ext cx="1353312" cy="502920"/>
          </a:xfrm>
          <a:prstGeom prst="rect">
            <a:avLst/>
          </a:prstGeom>
          <a:noFill/>
          <a:ln/>
        </p:spPr>
        <p:txBody>
          <a:bodyPr wrap="square" lIns="0" tIns="0" rIns="0" bIns="0" rtlCol="0" anchor="ctr"/>
          <a:lstStyle/>
          <a:p>
            <a:pPr algn="ctr" indent="0" marL="0">
              <a:buNone/>
            </a:pPr>
            <a:r>
              <a:rPr lang="en-US" sz="900" dirty="0">
                <a:solidFill>
                  <a:srgbClr val="9BA0B0"/>
                </a:solidFill>
                <a:latin typeface="Arial" pitchFamily="34" charset="0"/>
                <a:ea typeface="Arial" pitchFamily="34" charset="-122"/>
                <a:cs typeface="Arial" pitchFamily="34" charset="-120"/>
              </a:rPr>
              <a:t>지역=주소 유도 · 신원=place_id</a:t>
            </a:r>
            <a:endParaRPr lang="en-US" sz="900" dirty="0"/>
          </a:p>
        </p:txBody>
      </p:sp>
      <p:sp>
        <p:nvSpPr>
          <p:cNvPr id="27" name="Text 25"/>
          <p:cNvSpPr/>
          <p:nvPr/>
        </p:nvSpPr>
        <p:spPr>
          <a:xfrm>
            <a:off x="7132320" y="2148840"/>
            <a:ext cx="292608" cy="365760"/>
          </a:xfrm>
          <a:prstGeom prst="rect">
            <a:avLst/>
          </a:prstGeom>
          <a:noFill/>
          <a:ln/>
        </p:spPr>
        <p:txBody>
          <a:bodyPr wrap="square" lIns="0" tIns="0" rIns="0" bIns="0" rtlCol="0" anchor="ctr"/>
          <a:lstStyle/>
          <a:p>
            <a:pPr algn="ctr" indent="0" marL="0">
              <a:buNone/>
            </a:pPr>
            <a:r>
              <a:rPr lang="en-US" sz="1800" b="1" dirty="0">
                <a:solidFill>
                  <a:srgbClr val="F72585"/>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7406640" y="1600200"/>
            <a:ext cx="1499616" cy="1600200"/>
          </a:xfrm>
          <a:prstGeom prst="roundRect">
            <a:avLst>
              <a:gd name="adj" fmla="val 4878"/>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29" name="Shape 27"/>
          <p:cNvSpPr/>
          <p:nvPr/>
        </p:nvSpPr>
        <p:spPr>
          <a:xfrm>
            <a:off x="7918704" y="1783080"/>
            <a:ext cx="475488" cy="475488"/>
          </a:xfrm>
          <a:prstGeom prst="ellipse">
            <a:avLst/>
          </a:prstGeom>
          <a:solidFill>
            <a:srgbClr val="F72585"/>
          </a:solidFill>
          <a:ln w="12700">
            <a:solidFill>
              <a:srgbClr val="1D1D29"/>
            </a:solidFill>
            <a:prstDash val="solid"/>
          </a:ln>
        </p:spPr>
      </p:sp>
      <p:sp>
        <p:nvSpPr>
          <p:cNvPr id="30" name="Text 28"/>
          <p:cNvSpPr/>
          <p:nvPr/>
        </p:nvSpPr>
        <p:spPr>
          <a:xfrm>
            <a:off x="7918704" y="1783080"/>
            <a:ext cx="475488" cy="475488"/>
          </a:xfrm>
          <a:prstGeom prst="rect">
            <a:avLst/>
          </a:prstGeom>
          <a:noFill/>
          <a:ln/>
        </p:spPr>
        <p:txBody>
          <a:bodyPr wrap="square" lIns="0" tIns="0" rIns="0" bIns="0" rtlCol="0" anchor="ctr"/>
          <a:lstStyle/>
          <a:p>
            <a:pPr algn="ctr" indent="0" marL="0">
              <a:buNone/>
            </a:pPr>
            <a:r>
              <a:rPr lang="en-US" sz="1800" b="1" dirty="0">
                <a:solidFill>
                  <a:srgbClr val="13131B"/>
                </a:solidFill>
                <a:latin typeface="Arial" pitchFamily="34" charset="0"/>
                <a:ea typeface="Arial" pitchFamily="34" charset="-122"/>
                <a:cs typeface="Arial" pitchFamily="34" charset="-120"/>
              </a:rPr>
              <a:t>5</a:t>
            </a:r>
            <a:endParaRPr lang="en-US" sz="1800" dirty="0"/>
          </a:p>
        </p:txBody>
      </p:sp>
      <p:sp>
        <p:nvSpPr>
          <p:cNvPr id="31" name="Text 29"/>
          <p:cNvSpPr/>
          <p:nvPr/>
        </p:nvSpPr>
        <p:spPr>
          <a:xfrm>
            <a:off x="7406640" y="2359152"/>
            <a:ext cx="1499616" cy="274320"/>
          </a:xfrm>
          <a:prstGeom prst="rect">
            <a:avLst/>
          </a:prstGeom>
          <a:noFill/>
          <a:ln/>
        </p:spPr>
        <p:txBody>
          <a:bodyPr wrap="square" lIns="0" tIns="0" rIns="0" bIns="0" rtlCol="0" anchor="ctr"/>
          <a:lstStyle/>
          <a:p>
            <a:pPr algn="ctr" indent="0" marL="0">
              <a:buNone/>
            </a:pPr>
            <a:r>
              <a:rPr lang="en-US" sz="1400" b="1" dirty="0">
                <a:solidFill>
                  <a:srgbClr val="F2F2F6"/>
                </a:solidFill>
                <a:latin typeface="Arial" pitchFamily="34" charset="0"/>
                <a:ea typeface="Arial" pitchFamily="34" charset="-122"/>
                <a:cs typeface="Arial" pitchFamily="34" charset="-120"/>
              </a:rPr>
              <a:t>카드 조립</a:t>
            </a:r>
            <a:endParaRPr lang="en-US" sz="1400" dirty="0"/>
          </a:p>
        </p:txBody>
      </p:sp>
      <p:sp>
        <p:nvSpPr>
          <p:cNvPr id="32" name="Text 30"/>
          <p:cNvSpPr/>
          <p:nvPr/>
        </p:nvSpPr>
        <p:spPr>
          <a:xfrm>
            <a:off x="7479792" y="2651760"/>
            <a:ext cx="1353312" cy="502920"/>
          </a:xfrm>
          <a:prstGeom prst="rect">
            <a:avLst/>
          </a:prstGeom>
          <a:noFill/>
          <a:ln/>
        </p:spPr>
        <p:txBody>
          <a:bodyPr wrap="square" lIns="0" tIns="0" rIns="0" bIns="0" rtlCol="0" anchor="ctr"/>
          <a:lstStyle/>
          <a:p>
            <a:pPr algn="ctr" indent="0" marL="0">
              <a:buNone/>
            </a:pPr>
            <a:r>
              <a:rPr lang="en-US" sz="900" dirty="0">
                <a:solidFill>
                  <a:srgbClr val="9BA0B0"/>
                </a:solidFill>
                <a:latin typeface="Arial" pitchFamily="34" charset="0"/>
                <a:ea typeface="Arial" pitchFamily="34" charset="-122"/>
                <a:cs typeface="Arial" pitchFamily="34" charset="-120"/>
              </a:rPr>
              <a:t>카페 1곳 = 카드 1장 (cards.json)</a:t>
            </a:r>
            <a:endParaRPr lang="en-US" sz="900" dirty="0"/>
          </a:p>
        </p:txBody>
      </p:sp>
      <p:sp>
        <p:nvSpPr>
          <p:cNvPr id="33" name="Shape 31"/>
          <p:cNvSpPr/>
          <p:nvPr/>
        </p:nvSpPr>
        <p:spPr>
          <a:xfrm>
            <a:off x="457200" y="3566160"/>
            <a:ext cx="8229600" cy="1005840"/>
          </a:xfrm>
          <a:prstGeom prst="roundRect">
            <a:avLst>
              <a:gd name="adj" fmla="val 7273"/>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34" name="Image 0" descr="preencoded.png">    </p:cNvPr>
          <p:cNvPicPr>
            <a:picLocks noChangeAspect="1"/>
          </p:cNvPicPr>
          <p:nvPr/>
        </p:nvPicPr>
        <p:blipFill>
          <a:blip r:embed="rId1"/>
          <a:stretch>
            <a:fillRect/>
          </a:stretch>
        </p:blipFill>
        <p:spPr>
          <a:xfrm>
            <a:off x="713232" y="3858768"/>
            <a:ext cx="384048" cy="384048"/>
          </a:xfrm>
          <a:prstGeom prst="rect">
            <a:avLst/>
          </a:prstGeom>
        </p:spPr>
      </p:pic>
      <p:sp>
        <p:nvSpPr>
          <p:cNvPr id="35" name="Text 32"/>
          <p:cNvSpPr/>
          <p:nvPr/>
        </p:nvSpPr>
        <p:spPr>
          <a:xfrm>
            <a:off x="1280160" y="3685032"/>
            <a:ext cx="7223760" cy="777240"/>
          </a:xfrm>
          <a:prstGeom prst="rect">
            <a:avLst/>
          </a:prstGeom>
          <a:noFill/>
          <a:ln/>
        </p:spPr>
        <p:txBody>
          <a:bodyPr wrap="square" rtlCol="0" anchor="ctr"/>
          <a:lstStyle/>
          <a:p>
            <a:pPr indent="0" marL="0">
              <a:buNone/>
            </a:pPr>
            <a:r>
              <a:rPr lang="en-US" sz="1250" b="1" dirty="0">
                <a:solidFill>
                  <a:srgbClr val="34D399"/>
                </a:solidFill>
                <a:latin typeface="Arial" pitchFamily="34" charset="0"/>
                <a:ea typeface="Arial" pitchFamily="34" charset="-122"/>
                <a:cs typeface="Arial" pitchFamily="34" charset="-120"/>
              </a:rPr>
              <a:t>버리는 것도 기록한다 — </a:t>
            </a:r>
            <a:pPr indent="0" marL="0">
              <a:buNone/>
            </a:pPr>
            <a:r>
              <a:rPr lang="en-US" sz="1250" dirty="0">
                <a:solidFill>
                  <a:srgbClr val="9BA0B0"/>
                </a:solidFill>
                <a:latin typeface="Arial" pitchFamily="34" charset="0"/>
                <a:ea typeface="Arial" pitchFamily="34" charset="-122"/>
                <a:cs typeface="Arial" pitchFamily="34" charset="-120"/>
              </a:rPr>
              <a:t>사전 밖 태그, 귀속 실패 댓글, 검증 실패 인용은 소리 없이 사라지지 않고 카운트와 큐로 남아 다음 개선의 재료가 된다. 오늘의 쓰레기가 내일의 사전.</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카드 — 다섯 층으로 조립되는 프로필</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런타임이 읽는 유일한 데이터</a:t>
            </a:r>
            <a:endParaRPr lang="en-US" sz="1250" dirty="0"/>
          </a:p>
        </p:txBody>
      </p:sp>
      <p:sp>
        <p:nvSpPr>
          <p:cNvPr id="4" name="Shape 2"/>
          <p:cNvSpPr/>
          <p:nvPr/>
        </p:nvSpPr>
        <p:spPr>
          <a:xfrm>
            <a:off x="457200" y="1207008"/>
            <a:ext cx="4572000" cy="566928"/>
          </a:xfrm>
          <a:prstGeom prst="roundRect">
            <a:avLst>
              <a:gd name="adj" fmla="val 12903"/>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685800" y="1289304"/>
            <a:ext cx="1188720" cy="365760"/>
          </a:xfrm>
          <a:prstGeom prst="rect">
            <a:avLst/>
          </a:prstGeom>
          <a:noFill/>
          <a:ln/>
        </p:spPr>
        <p:txBody>
          <a:bodyPr wrap="square" lIns="0" tIns="0" rIns="0" bIns="0" rtlCol="0" anchor="ctr"/>
          <a:lstStyle/>
          <a:p>
            <a:pPr indent="0" marL="0">
              <a:buNone/>
            </a:pPr>
            <a:r>
              <a:rPr lang="en-US" sz="1350" b="1" dirty="0">
                <a:solidFill>
                  <a:srgbClr val="F72585"/>
                </a:solidFill>
                <a:latin typeface="Arial" pitchFamily="34" charset="0"/>
                <a:ea typeface="Arial" pitchFamily="34" charset="-122"/>
                <a:cs typeface="Arial" pitchFamily="34" charset="-120"/>
              </a:rPr>
              <a:t>신호층</a:t>
            </a:r>
            <a:endParaRPr lang="en-US" sz="1350" dirty="0"/>
          </a:p>
        </p:txBody>
      </p:sp>
      <p:sp>
        <p:nvSpPr>
          <p:cNvPr id="6" name="Text 4"/>
          <p:cNvSpPr/>
          <p:nvPr/>
        </p:nvSpPr>
        <p:spPr>
          <a:xfrm>
            <a:off x="1874520" y="1289304"/>
            <a:ext cx="2926080" cy="402336"/>
          </a:xfrm>
          <a:prstGeom prst="rect">
            <a:avLst/>
          </a:prstGeom>
          <a:noFill/>
          <a:ln/>
        </p:spPr>
        <p:txBody>
          <a:bodyPr wrap="square" lIns="0" tIns="0" rIns="0" bIns="0" rtlCol="0" anchor="ctr"/>
          <a:lstStyle/>
          <a:p>
            <a:pPr indent="0" marL="0">
              <a:buNone/>
            </a:pPr>
            <a:r>
              <a:rPr lang="en-US" sz="1100" dirty="0">
                <a:solidFill>
                  <a:srgbClr val="F2F2F6"/>
                </a:solidFill>
                <a:latin typeface="Arial" pitchFamily="34" charset="0"/>
                <a:ea typeface="Arial" pitchFamily="34" charset="-122"/>
                <a:cs typeface="Arial" pitchFamily="34" charset="-120"/>
              </a:rPr>
              <a:t>고유 채널·블로거 수(다수결) · 반응 톤</a:t>
            </a:r>
            <a:endParaRPr lang="en-US" sz="1100" dirty="0"/>
          </a:p>
        </p:txBody>
      </p:sp>
      <p:sp>
        <p:nvSpPr>
          <p:cNvPr id="7" name="Shape 5"/>
          <p:cNvSpPr/>
          <p:nvPr/>
        </p:nvSpPr>
        <p:spPr>
          <a:xfrm>
            <a:off x="457200" y="1883664"/>
            <a:ext cx="4773168" cy="566928"/>
          </a:xfrm>
          <a:prstGeom prst="roundRect">
            <a:avLst>
              <a:gd name="adj" fmla="val 12903"/>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685800" y="1965960"/>
            <a:ext cx="1188720" cy="365760"/>
          </a:xfrm>
          <a:prstGeom prst="rect">
            <a:avLst/>
          </a:prstGeom>
          <a:noFill/>
          <a:ln/>
        </p:spPr>
        <p:txBody>
          <a:bodyPr wrap="square" lIns="0" tIns="0" rIns="0" bIns="0" rtlCol="0" anchor="ctr"/>
          <a:lstStyle/>
          <a:p>
            <a:pPr indent="0" marL="0">
              <a:buNone/>
            </a:pPr>
            <a:r>
              <a:rPr lang="en-US" sz="1350" b="1" dirty="0">
                <a:solidFill>
                  <a:srgbClr val="4CC9F0"/>
                </a:solidFill>
                <a:latin typeface="Arial" pitchFamily="34" charset="0"/>
                <a:ea typeface="Arial" pitchFamily="34" charset="-122"/>
                <a:cs typeface="Arial" pitchFamily="34" charset="-120"/>
              </a:rPr>
              <a:t>근거층</a:t>
            </a:r>
            <a:endParaRPr lang="en-US" sz="1350" dirty="0"/>
          </a:p>
        </p:txBody>
      </p:sp>
      <p:sp>
        <p:nvSpPr>
          <p:cNvPr id="9" name="Text 7"/>
          <p:cNvSpPr/>
          <p:nvPr/>
        </p:nvSpPr>
        <p:spPr>
          <a:xfrm>
            <a:off x="1874520" y="1965960"/>
            <a:ext cx="3127248" cy="402336"/>
          </a:xfrm>
          <a:prstGeom prst="rect">
            <a:avLst/>
          </a:prstGeom>
          <a:noFill/>
          <a:ln/>
        </p:spPr>
        <p:txBody>
          <a:bodyPr wrap="square" lIns="0" tIns="0" rIns="0" bIns="0" rtlCol="0" anchor="ctr"/>
          <a:lstStyle/>
          <a:p>
            <a:pPr indent="0" marL="0">
              <a:buNone/>
            </a:pPr>
            <a:r>
              <a:rPr lang="en-US" sz="1100" dirty="0">
                <a:solidFill>
                  <a:srgbClr val="F2F2F6"/>
                </a:solidFill>
                <a:latin typeface="Arial" pitchFamily="34" charset="0"/>
                <a:ea typeface="Arial" pitchFamily="34" charset="-122"/>
                <a:cs typeface="Arial" pitchFamily="34" charset="-120"/>
              </a:rPr>
              <a:t>좋았던 점 / 아쉬운 점 — 원문 인용 + 출처</a:t>
            </a:r>
            <a:endParaRPr lang="en-US" sz="1100" dirty="0"/>
          </a:p>
        </p:txBody>
      </p:sp>
      <p:sp>
        <p:nvSpPr>
          <p:cNvPr id="10" name="Shape 8"/>
          <p:cNvSpPr/>
          <p:nvPr/>
        </p:nvSpPr>
        <p:spPr>
          <a:xfrm>
            <a:off x="457200" y="2560320"/>
            <a:ext cx="4974336" cy="566928"/>
          </a:xfrm>
          <a:prstGeom prst="roundRect">
            <a:avLst>
              <a:gd name="adj" fmla="val 12903"/>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685800" y="2642616"/>
            <a:ext cx="1188720" cy="365760"/>
          </a:xfrm>
          <a:prstGeom prst="rect">
            <a:avLst/>
          </a:prstGeom>
          <a:noFill/>
          <a:ln/>
        </p:spPr>
        <p:txBody>
          <a:bodyPr wrap="square" lIns="0" tIns="0" rIns="0" bIns="0" rtlCol="0" anchor="ctr"/>
          <a:lstStyle/>
          <a:p>
            <a:pPr indent="0" marL="0">
              <a:buNone/>
            </a:pPr>
            <a:r>
              <a:rPr lang="en-US" sz="1350" b="1" dirty="0">
                <a:solidFill>
                  <a:srgbClr val="34D399"/>
                </a:solidFill>
                <a:latin typeface="Arial" pitchFamily="34" charset="0"/>
                <a:ea typeface="Arial" pitchFamily="34" charset="-122"/>
                <a:cs typeface="Arial" pitchFamily="34" charset="-120"/>
              </a:rPr>
              <a:t>태그층</a:t>
            </a:r>
            <a:endParaRPr lang="en-US" sz="1350" dirty="0"/>
          </a:p>
        </p:txBody>
      </p:sp>
      <p:sp>
        <p:nvSpPr>
          <p:cNvPr id="12" name="Text 10"/>
          <p:cNvSpPr/>
          <p:nvPr/>
        </p:nvSpPr>
        <p:spPr>
          <a:xfrm>
            <a:off x="1874520" y="2642616"/>
            <a:ext cx="3328416" cy="402336"/>
          </a:xfrm>
          <a:prstGeom prst="rect">
            <a:avLst/>
          </a:prstGeom>
          <a:noFill/>
          <a:ln/>
        </p:spPr>
        <p:txBody>
          <a:bodyPr wrap="square" lIns="0" tIns="0" rIns="0" bIns="0" rtlCol="0" anchor="ctr"/>
          <a:lstStyle/>
          <a:p>
            <a:pPr indent="0" marL="0">
              <a:buNone/>
            </a:pPr>
            <a:r>
              <a:rPr lang="en-US" sz="1100" dirty="0">
                <a:solidFill>
                  <a:srgbClr val="F2F2F6"/>
                </a:solidFill>
                <a:latin typeface="Arial" pitchFamily="34" charset="0"/>
                <a:ea typeface="Arial" pitchFamily="34" charset="-122"/>
                <a:cs typeface="Arial" pitchFamily="34" charset="-120"/>
              </a:rPr>
              <a:t>통제 사전 태그 + 지역 코드</a:t>
            </a:r>
            <a:endParaRPr lang="en-US" sz="1100" dirty="0"/>
          </a:p>
        </p:txBody>
      </p:sp>
      <p:sp>
        <p:nvSpPr>
          <p:cNvPr id="13" name="Shape 11"/>
          <p:cNvSpPr/>
          <p:nvPr/>
        </p:nvSpPr>
        <p:spPr>
          <a:xfrm>
            <a:off x="457200" y="3236976"/>
            <a:ext cx="5175504" cy="566928"/>
          </a:xfrm>
          <a:prstGeom prst="roundRect">
            <a:avLst>
              <a:gd name="adj" fmla="val 12903"/>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685800" y="3319272"/>
            <a:ext cx="1188720" cy="365760"/>
          </a:xfrm>
          <a:prstGeom prst="rect">
            <a:avLst/>
          </a:prstGeom>
          <a:noFill/>
          <a:ln/>
        </p:spPr>
        <p:txBody>
          <a:bodyPr wrap="square" lIns="0" tIns="0" rIns="0" bIns="0" rtlCol="0" anchor="ctr"/>
          <a:lstStyle/>
          <a:p>
            <a:pPr indent="0" marL="0">
              <a:buNone/>
            </a:pPr>
            <a:r>
              <a:rPr lang="en-US" sz="1350" b="1" dirty="0">
                <a:solidFill>
                  <a:srgbClr val="FBBF24"/>
                </a:solidFill>
                <a:latin typeface="Arial" pitchFamily="34" charset="0"/>
                <a:ea typeface="Arial" pitchFamily="34" charset="-122"/>
                <a:cs typeface="Arial" pitchFamily="34" charset="-120"/>
              </a:rPr>
              <a:t>텍스트층</a:t>
            </a:r>
            <a:endParaRPr lang="en-US" sz="1350" dirty="0"/>
          </a:p>
        </p:txBody>
      </p:sp>
      <p:sp>
        <p:nvSpPr>
          <p:cNvPr id="15" name="Text 13"/>
          <p:cNvSpPr/>
          <p:nvPr/>
        </p:nvSpPr>
        <p:spPr>
          <a:xfrm>
            <a:off x="1874520" y="3319272"/>
            <a:ext cx="3529584" cy="402336"/>
          </a:xfrm>
          <a:prstGeom prst="rect">
            <a:avLst/>
          </a:prstGeom>
          <a:noFill/>
          <a:ln/>
        </p:spPr>
        <p:txBody>
          <a:bodyPr wrap="square" lIns="0" tIns="0" rIns="0" bIns="0" rtlCol="0" anchor="ctr"/>
          <a:lstStyle/>
          <a:p>
            <a:pPr indent="0" marL="0">
              <a:buNone/>
            </a:pPr>
            <a:r>
              <a:rPr lang="en-US" sz="1100" dirty="0">
                <a:solidFill>
                  <a:srgbClr val="F2F2F6"/>
                </a:solidFill>
                <a:latin typeface="Arial" pitchFamily="34" charset="0"/>
                <a:ea typeface="Arial" pitchFamily="34" charset="-122"/>
                <a:cs typeface="Arial" pitchFamily="34" charset="-120"/>
              </a:rPr>
              <a:t>검색용 자연어 요약 (블로그 우선)</a:t>
            </a:r>
            <a:endParaRPr lang="en-US" sz="1100" dirty="0"/>
          </a:p>
        </p:txBody>
      </p:sp>
      <p:sp>
        <p:nvSpPr>
          <p:cNvPr id="16" name="Shape 14"/>
          <p:cNvSpPr/>
          <p:nvPr/>
        </p:nvSpPr>
        <p:spPr>
          <a:xfrm>
            <a:off x="457200" y="3913632"/>
            <a:ext cx="5376672" cy="566928"/>
          </a:xfrm>
          <a:prstGeom prst="roundRect">
            <a:avLst>
              <a:gd name="adj" fmla="val 12903"/>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685800" y="3995928"/>
            <a:ext cx="1188720" cy="365760"/>
          </a:xfrm>
          <a:prstGeom prst="rect">
            <a:avLst/>
          </a:prstGeom>
          <a:noFill/>
          <a:ln/>
        </p:spPr>
        <p:txBody>
          <a:bodyPr wrap="square" lIns="0" tIns="0" rIns="0" bIns="0" rtlCol="0" anchor="ctr"/>
          <a:lstStyle/>
          <a:p>
            <a:pPr indent="0" marL="0">
              <a:buNone/>
            </a:pPr>
            <a:r>
              <a:rPr lang="en-US" sz="1350" b="1" dirty="0">
                <a:solidFill>
                  <a:srgbClr val="9BA0B0"/>
                </a:solidFill>
                <a:latin typeface="Arial" pitchFamily="34" charset="0"/>
                <a:ea typeface="Arial" pitchFamily="34" charset="-122"/>
                <a:cs typeface="Arial" pitchFamily="34" charset="-120"/>
              </a:rPr>
              <a:t>신원층</a:t>
            </a:r>
            <a:endParaRPr lang="en-US" sz="1350" dirty="0"/>
          </a:p>
        </p:txBody>
      </p:sp>
      <p:sp>
        <p:nvSpPr>
          <p:cNvPr id="18" name="Text 16"/>
          <p:cNvSpPr/>
          <p:nvPr/>
        </p:nvSpPr>
        <p:spPr>
          <a:xfrm>
            <a:off x="1874520" y="3995928"/>
            <a:ext cx="3730752" cy="402336"/>
          </a:xfrm>
          <a:prstGeom prst="rect">
            <a:avLst/>
          </a:prstGeom>
          <a:noFill/>
          <a:ln/>
        </p:spPr>
        <p:txBody>
          <a:bodyPr wrap="square" lIns="0" tIns="0" rIns="0" bIns="0" rtlCol="0" anchor="ctr"/>
          <a:lstStyle/>
          <a:p>
            <a:pPr indent="0" marL="0">
              <a:buNone/>
            </a:pPr>
            <a:r>
              <a:rPr lang="en-US" sz="1100" dirty="0">
                <a:solidFill>
                  <a:srgbClr val="F2F2F6"/>
                </a:solidFill>
                <a:latin typeface="Arial" pitchFamily="34" charset="0"/>
                <a:ea typeface="Arial" pitchFamily="34" charset="-122"/>
                <a:cs typeface="Arial" pitchFamily="34" charset="-120"/>
              </a:rPr>
              <a:t>place_id · 정본 이름 · 좌표</a:t>
            </a:r>
            <a:endParaRPr lang="en-US" sz="1100" dirty="0"/>
          </a:p>
        </p:txBody>
      </p:sp>
      <p:sp>
        <p:nvSpPr>
          <p:cNvPr id="19" name="Shape 17"/>
          <p:cNvSpPr/>
          <p:nvPr/>
        </p:nvSpPr>
        <p:spPr>
          <a:xfrm>
            <a:off x="6126480" y="1207008"/>
            <a:ext cx="2578608" cy="3364992"/>
          </a:xfrm>
          <a:prstGeom prst="roundRect">
            <a:avLst>
              <a:gd name="adj" fmla="val 2837"/>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pic>
        <p:nvPicPr>
          <p:cNvPr id="20" name="Image 0" descr="preencoded.png">    </p:cNvPr>
          <p:cNvPicPr>
            <a:picLocks noChangeAspect="1"/>
          </p:cNvPicPr>
          <p:nvPr/>
        </p:nvPicPr>
        <p:blipFill>
          <a:blip r:embed="rId1"/>
          <a:stretch>
            <a:fillRect/>
          </a:stretch>
        </p:blipFill>
        <p:spPr>
          <a:xfrm>
            <a:off x="6355080" y="1417320"/>
            <a:ext cx="365760" cy="365760"/>
          </a:xfrm>
          <a:prstGeom prst="rect">
            <a:avLst/>
          </a:prstGeom>
        </p:spPr>
      </p:pic>
      <p:sp>
        <p:nvSpPr>
          <p:cNvPr id="21" name="Text 18"/>
          <p:cNvSpPr/>
          <p:nvPr/>
        </p:nvSpPr>
        <p:spPr>
          <a:xfrm>
            <a:off x="6812280" y="1444752"/>
            <a:ext cx="1828800" cy="320040"/>
          </a:xfrm>
          <a:prstGeom prst="rect">
            <a:avLst/>
          </a:prstGeom>
          <a:noFill/>
          <a:ln/>
        </p:spPr>
        <p:txBody>
          <a:bodyPr wrap="square" lIns="0" tIns="0" rIns="0" bIns="0" rtlCol="0" anchor="ctr"/>
          <a:lstStyle/>
          <a:p>
            <a:pPr indent="0" marL="0">
              <a:buNone/>
            </a:pPr>
            <a:r>
              <a:rPr lang="en-US" sz="1400" b="1" dirty="0">
                <a:solidFill>
                  <a:srgbClr val="F2F2F6"/>
                </a:solidFill>
                <a:latin typeface="Arial" pitchFamily="34" charset="0"/>
                <a:ea typeface="Arial" pitchFamily="34" charset="-122"/>
                <a:cs typeface="Arial" pitchFamily="34" charset="-120"/>
              </a:rPr>
              <a:t>카드의 규칙</a:t>
            </a:r>
            <a:endParaRPr lang="en-US" sz="1400" dirty="0"/>
          </a:p>
        </p:txBody>
      </p:sp>
      <p:sp>
        <p:nvSpPr>
          <p:cNvPr id="22" name="Text 19"/>
          <p:cNvSpPr/>
          <p:nvPr/>
        </p:nvSpPr>
        <p:spPr>
          <a:xfrm>
            <a:off x="6355080" y="1920240"/>
            <a:ext cx="2194560" cy="2514600"/>
          </a:xfrm>
          <a:prstGeom prst="rect">
            <a:avLst/>
          </a:prstGeom>
          <a:noFill/>
          <a:ln/>
        </p:spPr>
        <p:txBody>
          <a:bodyPr wrap="square" rtlCol="0" anchor="ctr"/>
          <a:lstStyle/>
          <a:p>
            <a:pPr marL="342900" indent="-342900">
              <a:spcAft>
                <a:spcPts val="1000"/>
              </a:spcAft>
              <a:buSzPct val="100000"/>
              <a:buChar char="•"/>
            </a:pPr>
            <a:r>
              <a:rPr lang="en-US" sz="1050" dirty="0">
                <a:solidFill>
                  <a:srgbClr val="F2F2F6"/>
                </a:solidFill>
                <a:latin typeface="Arial" pitchFamily="34" charset="0"/>
                <a:ea typeface="Arial" pitchFamily="34" charset="-122"/>
                <a:cs typeface="Arial" pitchFamily="34" charset="-120"/>
              </a:rPr>
              <a:t>런타임 내내 읽기 전용 — 절대 수정되지 않는다</a:t>
            </a:r>
            <a:endParaRPr lang="en-US" sz="1050" dirty="0"/>
          </a:p>
          <a:p>
            <a:pPr marL="342900" indent="-342900">
              <a:spcAft>
                <a:spcPts val="1000"/>
              </a:spcAft>
              <a:buSzPct val="100000"/>
              <a:buChar char="•"/>
            </a:pPr>
            <a:r>
              <a:rPr lang="en-US" sz="1050" dirty="0">
                <a:solidFill>
                  <a:srgbClr val="F2F2F6"/>
                </a:solidFill>
                <a:latin typeface="Arial" pitchFamily="34" charset="0"/>
                <a:ea typeface="Arial" pitchFamily="34" charset="-122"/>
                <a:cs typeface="Arial" pitchFamily="34" charset="-120"/>
              </a:rPr>
              <a:t>카드가 틀리면 런타임을 고치는 게 아니라 배치를 다시 돌려 카드를 다시 굽는다</a:t>
            </a:r>
            <a:endParaRPr lang="en-US" sz="1050" dirty="0"/>
          </a:p>
          <a:p>
            <a:pPr marL="342900" indent="-342900">
              <a:spcAft>
                <a:spcPts val="1000"/>
              </a:spcAft>
              <a:buSzPct val="100000"/>
              <a:buChar char="•"/>
            </a:pPr>
            <a:r>
              <a:rPr lang="en-US" sz="1050" dirty="0">
                <a:solidFill>
                  <a:srgbClr val="F2F2F6"/>
                </a:solidFill>
                <a:latin typeface="Arial" pitchFamily="34" charset="0"/>
                <a:ea typeface="Arial" pitchFamily="34" charset="-122"/>
                <a:cs typeface="Arial" pitchFamily="34" charset="-120"/>
              </a:rPr>
              <a:t>한 명이 10번 말한 것보다 10명이 1번씩 말한 것이 진짜 (다수결)</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태그 사전 — 초안은 감각, 진화는 측정</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시점마다 기준이 다른 살아있는 어휘</a:t>
            </a:r>
            <a:endParaRPr lang="en-US" sz="1250" dirty="0"/>
          </a:p>
        </p:txBody>
      </p:sp>
      <p:sp>
        <p:nvSpPr>
          <p:cNvPr id="4" name="Shape 2"/>
          <p:cNvSpPr/>
          <p:nvPr/>
        </p:nvSpPr>
        <p:spPr>
          <a:xfrm>
            <a:off x="457200" y="1234440"/>
            <a:ext cx="2670048" cy="3246120"/>
          </a:xfrm>
          <a:prstGeom prst="roundRect">
            <a:avLst>
              <a:gd name="adj" fmla="val 274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676656" y="1463040"/>
            <a:ext cx="384048" cy="384048"/>
          </a:xfrm>
          <a:prstGeom prst="rect">
            <a:avLst/>
          </a:prstGeom>
        </p:spPr>
      </p:pic>
      <p:sp>
        <p:nvSpPr>
          <p:cNvPr id="6" name="Text 3"/>
          <p:cNvSpPr/>
          <p:nvPr/>
        </p:nvSpPr>
        <p:spPr>
          <a:xfrm>
            <a:off x="676656" y="1956816"/>
            <a:ext cx="2286000" cy="502920"/>
          </a:xfrm>
          <a:prstGeom prst="rect">
            <a:avLst/>
          </a:prstGeom>
          <a:noFill/>
          <a:ln/>
        </p:spPr>
        <p:txBody>
          <a:bodyPr wrap="square" lIns="0" tIns="0" rIns="0" bIns="0" rtlCol="0" anchor="ctr"/>
          <a:lstStyle/>
          <a:p>
            <a:pPr indent="0" marL="0">
              <a:buNone/>
            </a:pPr>
            <a:r>
              <a:rPr lang="en-US" sz="1450" b="1" dirty="0">
                <a:solidFill>
                  <a:srgbClr val="4CC9F0"/>
                </a:solidFill>
                <a:latin typeface="Arial" pitchFamily="34" charset="0"/>
                <a:ea typeface="Arial" pitchFamily="34" charset="-122"/>
                <a:cs typeface="Arial" pitchFamily="34" charset="-120"/>
              </a:rPr>
              <a:t>초안 — 사람의 감각</a:t>
            </a:r>
            <a:endParaRPr lang="en-US" sz="1450" dirty="0"/>
          </a:p>
        </p:txBody>
      </p:sp>
      <p:sp>
        <p:nvSpPr>
          <p:cNvPr id="7" name="Text 4"/>
          <p:cNvSpPr/>
          <p:nvPr/>
        </p:nvSpPr>
        <p:spPr>
          <a:xfrm>
            <a:off x="676656" y="2487168"/>
            <a:ext cx="2286000" cy="68580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여행자가 검색창에 칠 법한 조건 20개</a:t>
            </a:r>
            <a:endParaRPr lang="en-US" sz="1150" dirty="0"/>
          </a:p>
        </p:txBody>
      </p:sp>
      <p:sp>
        <p:nvSpPr>
          <p:cNvPr id="8" name="Text 5"/>
          <p:cNvSpPr/>
          <p:nvPr/>
        </p:nvSpPr>
        <p:spPr>
          <a:xfrm>
            <a:off x="676656" y="3246120"/>
            <a:ext cx="2286000" cy="1051560"/>
          </a:xfrm>
          <a:prstGeom prst="rect">
            <a:avLst/>
          </a:prstGeom>
          <a:noFill/>
          <a:ln/>
        </p:spPr>
        <p:txBody>
          <a:bodyPr wrap="square" lIns="0" tIns="0" rIns="0" bIns="0" rtlCol="0" anchor="ctr"/>
          <a:lstStyle/>
          <a:p>
            <a:pPr indent="0" marL="0">
              <a:buNone/>
            </a:pPr>
            <a:r>
              <a:rPr lang="en-US" sz="1000" dirty="0">
                <a:solidFill>
                  <a:srgbClr val="9BA0B0"/>
                </a:solidFill>
                <a:latin typeface="Arial" pitchFamily="34" charset="0"/>
                <a:ea typeface="Arial" pitchFamily="34" charset="-122"/>
                <a:cs typeface="Arial" pitchFamily="34" charset="-120"/>
              </a:rPr>
              <a:t>오션뷰 · 노을 · 애견동반 · 노키즈존 · 주차편함 … (블로그에서 근거 찾을 수 있는 어휘만)</a:t>
            </a:r>
            <a:endParaRPr lang="en-US" sz="1000" dirty="0"/>
          </a:p>
        </p:txBody>
      </p:sp>
      <p:sp>
        <p:nvSpPr>
          <p:cNvPr id="9" name="Shape 6"/>
          <p:cNvSpPr/>
          <p:nvPr/>
        </p:nvSpPr>
        <p:spPr>
          <a:xfrm>
            <a:off x="3310128" y="1234440"/>
            <a:ext cx="2670048" cy="3246120"/>
          </a:xfrm>
          <a:prstGeom prst="roundRect">
            <a:avLst>
              <a:gd name="adj" fmla="val 274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0" name="Image 1" descr="preencoded.png">    </p:cNvPr>
          <p:cNvPicPr>
            <a:picLocks noChangeAspect="1"/>
          </p:cNvPicPr>
          <p:nvPr/>
        </p:nvPicPr>
        <p:blipFill>
          <a:blip r:embed="rId2"/>
          <a:stretch>
            <a:fillRect/>
          </a:stretch>
        </p:blipFill>
        <p:spPr>
          <a:xfrm>
            <a:off x="3529584" y="1463040"/>
            <a:ext cx="384048" cy="384048"/>
          </a:xfrm>
          <a:prstGeom prst="rect">
            <a:avLst/>
          </a:prstGeom>
        </p:spPr>
      </p:pic>
      <p:sp>
        <p:nvSpPr>
          <p:cNvPr id="11" name="Text 7"/>
          <p:cNvSpPr/>
          <p:nvPr/>
        </p:nvSpPr>
        <p:spPr>
          <a:xfrm>
            <a:off x="3529584" y="1956816"/>
            <a:ext cx="2286000" cy="502920"/>
          </a:xfrm>
          <a:prstGeom prst="rect">
            <a:avLst/>
          </a:prstGeom>
          <a:noFill/>
          <a:ln/>
        </p:spPr>
        <p:txBody>
          <a:bodyPr wrap="square" lIns="0" tIns="0" rIns="0" bIns="0" rtlCol="0" anchor="ctr"/>
          <a:lstStyle/>
          <a:p>
            <a:pPr indent="0" marL="0">
              <a:buNone/>
            </a:pPr>
            <a:r>
              <a:rPr lang="en-US" sz="1450" b="1" dirty="0">
                <a:solidFill>
                  <a:srgbClr val="34D399"/>
                </a:solidFill>
                <a:latin typeface="Arial" pitchFamily="34" charset="0"/>
                <a:ea typeface="Arial" pitchFamily="34" charset="-122"/>
                <a:cs typeface="Arial" pitchFamily="34" charset="-120"/>
              </a:rPr>
              <a:t>확장 — 데이터의 빈도</a:t>
            </a:r>
            <a:endParaRPr lang="en-US" sz="1450" dirty="0"/>
          </a:p>
        </p:txBody>
      </p:sp>
      <p:sp>
        <p:nvSpPr>
          <p:cNvPr id="12" name="Text 8"/>
          <p:cNvSpPr/>
          <p:nvPr/>
        </p:nvSpPr>
        <p:spPr>
          <a:xfrm>
            <a:off x="3529584" y="2487168"/>
            <a:ext cx="2286000" cy="68580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사전 밖 태그는 버리지 않고 tags_extra로 집계</a:t>
            </a:r>
            <a:endParaRPr lang="en-US" sz="1150" dirty="0"/>
          </a:p>
        </p:txBody>
      </p:sp>
      <p:sp>
        <p:nvSpPr>
          <p:cNvPr id="13" name="Text 9"/>
          <p:cNvSpPr/>
          <p:nvPr/>
        </p:nvSpPr>
        <p:spPr>
          <a:xfrm>
            <a:off x="3529584" y="3246120"/>
            <a:ext cx="2286000" cy="1051560"/>
          </a:xfrm>
          <a:prstGeom prst="rect">
            <a:avLst/>
          </a:prstGeom>
          <a:noFill/>
          <a:ln/>
        </p:spPr>
        <p:txBody>
          <a:bodyPr wrap="square" lIns="0" tIns="0" rIns="0" bIns="0" rtlCol="0" anchor="ctr"/>
          <a:lstStyle/>
          <a:p>
            <a:pPr indent="0" marL="0">
              <a:buNone/>
            </a:pPr>
            <a:r>
              <a:rPr lang="en-US" sz="1000" dirty="0">
                <a:solidFill>
                  <a:srgbClr val="9BA0B0"/>
                </a:solidFill>
                <a:latin typeface="Arial" pitchFamily="34" charset="0"/>
                <a:ea typeface="Arial" pitchFamily="34" charset="-122"/>
                <a:cs typeface="Arial" pitchFamily="34" charset="-120"/>
              </a:rPr>
              <a:t>포토존 22회 · 핸드드립 11회 · 한라산뷰 10회 → 승격 / 반려견동반 → 애견동반으로 흡수</a:t>
            </a:r>
            <a:endParaRPr lang="en-US" sz="1000" dirty="0"/>
          </a:p>
        </p:txBody>
      </p:sp>
      <p:sp>
        <p:nvSpPr>
          <p:cNvPr id="14" name="Shape 10"/>
          <p:cNvSpPr/>
          <p:nvPr/>
        </p:nvSpPr>
        <p:spPr>
          <a:xfrm>
            <a:off x="6163056" y="1234440"/>
            <a:ext cx="2670048" cy="3246120"/>
          </a:xfrm>
          <a:prstGeom prst="roundRect">
            <a:avLst>
              <a:gd name="adj" fmla="val 274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5" name="Image 2" descr="preencoded.png">    </p:cNvPr>
          <p:cNvPicPr>
            <a:picLocks noChangeAspect="1"/>
          </p:cNvPicPr>
          <p:nvPr/>
        </p:nvPicPr>
        <p:blipFill>
          <a:blip r:embed="rId3"/>
          <a:stretch>
            <a:fillRect/>
          </a:stretch>
        </p:blipFill>
        <p:spPr>
          <a:xfrm>
            <a:off x="6382512" y="1463040"/>
            <a:ext cx="384048" cy="384048"/>
          </a:xfrm>
          <a:prstGeom prst="rect">
            <a:avLst/>
          </a:prstGeom>
        </p:spPr>
      </p:pic>
      <p:sp>
        <p:nvSpPr>
          <p:cNvPr id="16" name="Text 11"/>
          <p:cNvSpPr/>
          <p:nvPr/>
        </p:nvSpPr>
        <p:spPr>
          <a:xfrm>
            <a:off x="6382512" y="1956816"/>
            <a:ext cx="2286000" cy="502920"/>
          </a:xfrm>
          <a:prstGeom prst="rect">
            <a:avLst/>
          </a:prstGeom>
          <a:noFill/>
          <a:ln/>
        </p:spPr>
        <p:txBody>
          <a:bodyPr wrap="square" lIns="0" tIns="0" rIns="0" bIns="0" rtlCol="0" anchor="ctr"/>
          <a:lstStyle/>
          <a:p>
            <a:pPr indent="0" marL="0">
              <a:buNone/>
            </a:pPr>
            <a:r>
              <a:rPr lang="en-US" sz="1450" b="1" dirty="0">
                <a:solidFill>
                  <a:srgbClr val="FBBF24"/>
                </a:solidFill>
                <a:latin typeface="Arial" pitchFamily="34" charset="0"/>
                <a:ea typeface="Arial" pitchFamily="34" charset="-122"/>
                <a:cs typeface="Arial" pitchFamily="34" charset="-120"/>
              </a:rPr>
              <a:t>퇴출·강등 — 증거와의 모순</a:t>
            </a:r>
            <a:endParaRPr lang="en-US" sz="1450" dirty="0"/>
          </a:p>
        </p:txBody>
      </p:sp>
      <p:sp>
        <p:nvSpPr>
          <p:cNvPr id="17" name="Text 12"/>
          <p:cNvSpPr/>
          <p:nvPr/>
        </p:nvSpPr>
        <p:spPr>
          <a:xfrm>
            <a:off x="6382512" y="2487168"/>
            <a:ext cx="2286000" cy="68580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태그와 반대되는 원문 증거를 자동 대조 (tag_audit)</a:t>
            </a:r>
            <a:endParaRPr lang="en-US" sz="1150" dirty="0"/>
          </a:p>
        </p:txBody>
      </p:sp>
      <p:sp>
        <p:nvSpPr>
          <p:cNvPr id="18" name="Text 13"/>
          <p:cNvSpPr/>
          <p:nvPr/>
        </p:nvSpPr>
        <p:spPr>
          <a:xfrm>
            <a:off x="6382512" y="3246120"/>
            <a:ext cx="2286000" cy="1051560"/>
          </a:xfrm>
          <a:prstGeom prst="rect">
            <a:avLst/>
          </a:prstGeom>
          <a:noFill/>
          <a:ln/>
        </p:spPr>
        <p:txBody>
          <a:bodyPr wrap="square" lIns="0" tIns="0" rIns="0" bIns="0" rtlCol="0" anchor="ctr"/>
          <a:lstStyle/>
          <a:p>
            <a:pPr indent="0" marL="0">
              <a:buNone/>
            </a:pPr>
            <a:r>
              <a:rPr lang="en-US" sz="1000" dirty="0">
                <a:solidFill>
                  <a:srgbClr val="9BA0B0"/>
                </a:solidFill>
                <a:latin typeface="Arial" pitchFamily="34" charset="0"/>
                <a:ea typeface="Arial" pitchFamily="34" charset="-122"/>
                <a:cs typeface="Arial" pitchFamily="34" charset="-120"/>
              </a:rPr>
              <a:t>주차편함 79% 부여 → 변별력 의심, 하드 필터 보류 · '감성' 태그 vs 부정 증언 3건 검출</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근거 — 좋은 말만 고르지 않는다</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모든 인용은 원문 대조 검증을 통과한 것만</a:t>
            </a:r>
            <a:endParaRPr lang="en-US" sz="1250" dirty="0"/>
          </a:p>
        </p:txBody>
      </p:sp>
      <p:sp>
        <p:nvSpPr>
          <p:cNvPr id="4" name="Shape 2"/>
          <p:cNvSpPr/>
          <p:nvPr/>
        </p:nvSpPr>
        <p:spPr>
          <a:xfrm>
            <a:off x="457200" y="1207008"/>
            <a:ext cx="4023360" cy="2286000"/>
          </a:xfrm>
          <a:prstGeom prst="roundRect">
            <a:avLst>
              <a:gd name="adj" fmla="val 32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685800" y="1389888"/>
            <a:ext cx="329184" cy="329184"/>
          </a:xfrm>
          <a:prstGeom prst="rect">
            <a:avLst/>
          </a:prstGeom>
        </p:spPr>
      </p:pic>
      <p:sp>
        <p:nvSpPr>
          <p:cNvPr id="6" name="Text 3"/>
          <p:cNvSpPr/>
          <p:nvPr/>
        </p:nvSpPr>
        <p:spPr>
          <a:xfrm>
            <a:off x="1143000" y="1399032"/>
            <a:ext cx="2743200" cy="320040"/>
          </a:xfrm>
          <a:prstGeom prst="rect">
            <a:avLst/>
          </a:prstGeom>
          <a:noFill/>
          <a:ln/>
        </p:spPr>
        <p:txBody>
          <a:bodyPr wrap="square" lIns="0" tIns="0" rIns="0" bIns="0" rtlCol="0" anchor="ctr"/>
          <a:lstStyle/>
          <a:p>
            <a:pPr indent="0" marL="0">
              <a:buNone/>
            </a:pPr>
            <a:r>
              <a:rPr lang="en-US" sz="1500" b="1" dirty="0">
                <a:solidFill>
                  <a:srgbClr val="34D399"/>
                </a:solidFill>
                <a:latin typeface="Arial" pitchFamily="34" charset="0"/>
                <a:ea typeface="Arial" pitchFamily="34" charset="-122"/>
                <a:cs typeface="Arial" pitchFamily="34" charset="-120"/>
              </a:rPr>
              <a:t>좋았던 점</a:t>
            </a:r>
            <a:endParaRPr lang="en-US" sz="1500" dirty="0"/>
          </a:p>
        </p:txBody>
      </p:sp>
      <p:sp>
        <p:nvSpPr>
          <p:cNvPr id="7" name="Text 4"/>
          <p:cNvSpPr/>
          <p:nvPr/>
        </p:nvSpPr>
        <p:spPr>
          <a:xfrm>
            <a:off x="713232" y="1874520"/>
            <a:ext cx="3566160" cy="1463040"/>
          </a:xfrm>
          <a:prstGeom prst="rect">
            <a:avLst/>
          </a:prstGeom>
          <a:noFill/>
          <a:ln/>
        </p:spPr>
        <p:txBody>
          <a:bodyPr wrap="square" rtlCol="0" anchor="ctr"/>
          <a:lstStyle/>
          <a:p>
            <a:pPr indent="0" marL="0">
              <a:spcAft>
                <a:spcPts val="600"/>
              </a:spcAft>
              <a:buNone/>
            </a:pPr>
            <a:r>
              <a:rPr lang="en-US" sz="1200" i="1" dirty="0">
                <a:solidFill>
                  <a:srgbClr val="F2F2F6"/>
                </a:solidFill>
                <a:latin typeface="Arial" pitchFamily="34" charset="0"/>
                <a:ea typeface="Arial" pitchFamily="34" charset="-122"/>
                <a:cs typeface="Arial" pitchFamily="34" charset="-120"/>
              </a:rPr>
              <a:t>“창문 열면 바로 바다예요”</a:t>
            </a:r>
            <a:endParaRPr lang="en-US" sz="1200" dirty="0"/>
          </a:p>
          <a:p>
            <a:pPr indent="0" marL="0">
              <a:spcAft>
                <a:spcPts val="600"/>
              </a:spcAft>
              <a:buNone/>
            </a:pPr>
            <a:r>
              <a:rPr lang="en-US" sz="950" dirty="0">
                <a:solidFill>
                  <a:srgbClr val="9BA0B0"/>
                </a:solidFill>
                <a:latin typeface="Arial" pitchFamily="34" charset="0"/>
                <a:ea typeface="Arial" pitchFamily="34" charset="-122"/>
                <a:cs typeface="Arial" pitchFamily="34" charset="-120"/>
              </a:rPr>
              <a:t>— 네이버 블로그</a:t>
            </a:r>
            <a:endParaRPr lang="en-US" sz="1200" dirty="0"/>
          </a:p>
          <a:p>
            <a:pPr indent="0" marL="0">
              <a:spcAft>
                <a:spcPts val="600"/>
              </a:spcAft>
              <a:buNone/>
            </a:pPr>
            <a:r>
              <a:rPr lang="en-US" sz="1200" i="1" dirty="0">
                <a:solidFill>
                  <a:srgbClr val="F2F2F6"/>
                </a:solidFill>
                <a:latin typeface="Arial" pitchFamily="34" charset="0"/>
                <a:ea typeface="Arial" pitchFamily="34" charset="-122"/>
                <a:cs typeface="Arial" pitchFamily="34" charset="-120"/>
              </a:rPr>
              <a:t>“맛있는 빵이 너무 많아서 한참 고민했어요”</a:t>
            </a:r>
            <a:endParaRPr lang="en-US" sz="1200" dirty="0"/>
          </a:p>
          <a:p>
            <a:pPr indent="0" marL="0">
              <a:spcAft>
                <a:spcPts val="600"/>
              </a:spcAft>
              <a:buNone/>
            </a:pPr>
            <a:r>
              <a:rPr lang="en-US" sz="950" dirty="0">
                <a:solidFill>
                  <a:srgbClr val="9BA0B0"/>
                </a:solidFill>
                <a:latin typeface="Arial" pitchFamily="34" charset="0"/>
                <a:ea typeface="Arial" pitchFamily="34" charset="-122"/>
                <a:cs typeface="Arial" pitchFamily="34" charset="-120"/>
              </a:rPr>
              <a:t>— 카카오맵 리뷰 (별점 5)</a:t>
            </a:r>
            <a:endParaRPr lang="en-US" sz="1200" dirty="0"/>
          </a:p>
        </p:txBody>
      </p:sp>
      <p:sp>
        <p:nvSpPr>
          <p:cNvPr id="8" name="Shape 5"/>
          <p:cNvSpPr/>
          <p:nvPr/>
        </p:nvSpPr>
        <p:spPr>
          <a:xfrm>
            <a:off x="4663440" y="1207008"/>
            <a:ext cx="4023360" cy="2286000"/>
          </a:xfrm>
          <a:prstGeom prst="roundRect">
            <a:avLst>
              <a:gd name="adj" fmla="val 32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4892040" y="1389888"/>
            <a:ext cx="329184" cy="329184"/>
          </a:xfrm>
          <a:prstGeom prst="rect">
            <a:avLst/>
          </a:prstGeom>
        </p:spPr>
      </p:pic>
      <p:sp>
        <p:nvSpPr>
          <p:cNvPr id="10" name="Text 6"/>
          <p:cNvSpPr/>
          <p:nvPr/>
        </p:nvSpPr>
        <p:spPr>
          <a:xfrm>
            <a:off x="5349240" y="1399032"/>
            <a:ext cx="2743200" cy="320040"/>
          </a:xfrm>
          <a:prstGeom prst="rect">
            <a:avLst/>
          </a:prstGeom>
          <a:noFill/>
          <a:ln/>
        </p:spPr>
        <p:txBody>
          <a:bodyPr wrap="square" lIns="0" tIns="0" rIns="0" bIns="0" rtlCol="0" anchor="ctr"/>
          <a:lstStyle/>
          <a:p>
            <a:pPr indent="0" marL="0">
              <a:buNone/>
            </a:pPr>
            <a:r>
              <a:rPr lang="en-US" sz="1500" b="1" dirty="0">
                <a:solidFill>
                  <a:srgbClr val="FBBF24"/>
                </a:solidFill>
                <a:latin typeface="Arial" pitchFamily="34" charset="0"/>
                <a:ea typeface="Arial" pitchFamily="34" charset="-122"/>
                <a:cs typeface="Arial" pitchFamily="34" charset="-120"/>
              </a:rPr>
              <a:t>아쉬운 점</a:t>
            </a:r>
            <a:endParaRPr lang="en-US" sz="1500" dirty="0"/>
          </a:p>
        </p:txBody>
      </p:sp>
      <p:sp>
        <p:nvSpPr>
          <p:cNvPr id="11" name="Text 7"/>
          <p:cNvSpPr/>
          <p:nvPr/>
        </p:nvSpPr>
        <p:spPr>
          <a:xfrm>
            <a:off x="4919472" y="1874520"/>
            <a:ext cx="3566160" cy="1463040"/>
          </a:xfrm>
          <a:prstGeom prst="rect">
            <a:avLst/>
          </a:prstGeom>
          <a:noFill/>
          <a:ln/>
        </p:spPr>
        <p:txBody>
          <a:bodyPr wrap="square" rtlCol="0" anchor="ctr"/>
          <a:lstStyle/>
          <a:p>
            <a:pPr indent="0" marL="0">
              <a:spcAft>
                <a:spcPts val="600"/>
              </a:spcAft>
              <a:buNone/>
            </a:pPr>
            <a:r>
              <a:rPr lang="en-US" sz="1200" i="1" dirty="0">
                <a:solidFill>
                  <a:srgbClr val="F2F2F6"/>
                </a:solidFill>
                <a:latin typeface="Arial" pitchFamily="34" charset="0"/>
                <a:ea typeface="Arial" pitchFamily="34" charset="-122"/>
                <a:cs typeface="Arial" pitchFamily="34" charset="-120"/>
              </a:rPr>
              <a:t>“2층 무더움” · “에어컨 고장”</a:t>
            </a:r>
            <a:endParaRPr lang="en-US" sz="1200" dirty="0"/>
          </a:p>
          <a:p>
            <a:pPr indent="0" marL="0">
              <a:spcAft>
                <a:spcPts val="600"/>
              </a:spcAft>
              <a:buNone/>
            </a:pPr>
            <a:r>
              <a:rPr lang="en-US" sz="950" dirty="0">
                <a:solidFill>
                  <a:srgbClr val="9BA0B0"/>
                </a:solidFill>
                <a:latin typeface="Arial" pitchFamily="34" charset="0"/>
                <a:ea typeface="Arial" pitchFamily="34" charset="-122"/>
                <a:cs typeface="Arial" pitchFamily="34" charset="-120"/>
              </a:rPr>
              <a:t>— 쇼츠 댓글 (공감 다수)</a:t>
            </a:r>
            <a:endParaRPr lang="en-US" sz="1200" dirty="0"/>
          </a:p>
          <a:p>
            <a:pPr indent="0" marL="0">
              <a:spcAft>
                <a:spcPts val="600"/>
              </a:spcAft>
              <a:buNone/>
            </a:pPr>
            <a:r>
              <a:rPr lang="en-US" sz="1200" dirty="0">
                <a:solidFill>
                  <a:srgbClr val="F2F2F6"/>
                </a:solidFill>
                <a:latin typeface="Arial" pitchFamily="34" charset="0"/>
                <a:ea typeface="Arial" pitchFamily="34" charset="-122"/>
                <a:cs typeface="Arial" pitchFamily="34" charset="-120"/>
              </a:rPr>
              <a:t>주차 불편 — 3건 반복 (자동 집계)</a:t>
            </a:r>
            <a:endParaRPr lang="en-US" sz="1200" dirty="0"/>
          </a:p>
          <a:p>
            <a:pPr indent="0" marL="0">
              <a:spcAft>
                <a:spcPts val="600"/>
              </a:spcAft>
              <a:buNone/>
            </a:pPr>
            <a:r>
              <a:rPr lang="en-US" sz="1000" dirty="0">
                <a:solidFill>
                  <a:srgbClr val="9BA0B0"/>
                </a:solidFill>
                <a:latin typeface="Arial" pitchFamily="34" charset="0"/>
                <a:ea typeface="Arial" pitchFamily="34" charset="-122"/>
                <a:cs typeface="Arial" pitchFamily="34" charset="-120"/>
              </a:rPr>
              <a:t>0건이면 “아직 아쉬운 점 언급 없음”으로 정직하게</a:t>
            </a:r>
            <a:endParaRPr lang="en-US" sz="1200" dirty="0"/>
          </a:p>
        </p:txBody>
      </p:sp>
      <p:sp>
        <p:nvSpPr>
          <p:cNvPr id="12" name="Shape 8"/>
          <p:cNvSpPr/>
          <p:nvPr/>
        </p:nvSpPr>
        <p:spPr>
          <a:xfrm>
            <a:off x="457200" y="3703320"/>
            <a:ext cx="8229600" cy="960120"/>
          </a:xfrm>
          <a:prstGeom prst="roundRect">
            <a:avLst>
              <a:gd name="adj" fmla="val 7619"/>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713232" y="3977640"/>
            <a:ext cx="384048" cy="384048"/>
          </a:xfrm>
          <a:prstGeom prst="rect">
            <a:avLst/>
          </a:prstGeom>
        </p:spPr>
      </p:pic>
      <p:sp>
        <p:nvSpPr>
          <p:cNvPr id="14" name="Text 9"/>
          <p:cNvSpPr/>
          <p:nvPr/>
        </p:nvSpPr>
        <p:spPr>
          <a:xfrm>
            <a:off x="1280160" y="3785616"/>
            <a:ext cx="7223760" cy="822960"/>
          </a:xfrm>
          <a:prstGeom prst="rect">
            <a:avLst/>
          </a:prstGeom>
          <a:noFill/>
          <a:ln/>
        </p:spPr>
        <p:txBody>
          <a:bodyPr wrap="square" rtlCol="0" anchor="ctr"/>
          <a:lstStyle/>
          <a:p>
            <a:pPr indent="0" marL="0">
              <a:buNone/>
            </a:pPr>
            <a:r>
              <a:rPr lang="en-US" sz="1200" b="1" dirty="0">
                <a:solidFill>
                  <a:srgbClr val="4CC9F0"/>
                </a:solidFill>
                <a:latin typeface="Arial" pitchFamily="34" charset="0"/>
                <a:ea typeface="Arial" pitchFamily="34" charset="-122"/>
                <a:cs typeface="Arial" pitchFamily="34" charset="-120"/>
              </a:rPr>
              <a:t>지어낸 인용은 구조적으로 불가능 — </a:t>
            </a:r>
            <a:pPr indent="0" marL="0">
              <a:buNone/>
            </a:pPr>
            <a:r>
              <a:rPr lang="en-US" sz="1200" dirty="0">
                <a:solidFill>
                  <a:srgbClr val="9BA0B0"/>
                </a:solidFill>
                <a:latin typeface="Arial" pitchFamily="34" charset="0"/>
                <a:ea typeface="Arial" pitchFamily="34" charset="-122"/>
                <a:cs typeface="Arial" pitchFamily="34" charset="-120"/>
              </a:rPr>
              <a:t>LLM이 자른 모든 인용을 코드가 원문과 글자 단위로 대조 (파일럿 75건, 검증 실패 0). 의역·요약은 폐기. 인용 소스 우선순위: 실방문 리뷰 &gt; 댓글 &gt; 블로그(완결문 4%만).</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런타임 — LLM은 딱 두 번, 양 끝에만</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가운데 몸통은 전부 읽을 수 있는 코드</a:t>
            </a:r>
            <a:endParaRPr lang="en-US" sz="1250" dirty="0"/>
          </a:p>
        </p:txBody>
      </p:sp>
      <p:sp>
        <p:nvSpPr>
          <p:cNvPr id="4" name="Shape 2"/>
          <p:cNvSpPr/>
          <p:nvPr/>
        </p:nvSpPr>
        <p:spPr>
          <a:xfrm>
            <a:off x="411480" y="1371600"/>
            <a:ext cx="1737360" cy="2103120"/>
          </a:xfrm>
          <a:prstGeom prst="roundRect">
            <a:avLst>
              <a:gd name="adj" fmla="val 4211"/>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987552" y="1554480"/>
            <a:ext cx="548640" cy="548640"/>
          </a:xfrm>
          <a:prstGeom prst="ellipse">
            <a:avLst/>
          </a:prstGeom>
          <a:solidFill>
            <a:srgbClr val="F72585"/>
          </a:solidFill>
          <a:ln w="12700">
            <a:solidFill>
              <a:srgbClr val="232334"/>
            </a:solidFill>
            <a:prstDash val="solid"/>
          </a:ln>
        </p:spPr>
      </p:sp>
      <p:pic>
        <p:nvPicPr>
          <p:cNvPr id="6" name="Image 0" descr="preencoded.png">    </p:cNvPr>
          <p:cNvPicPr>
            <a:picLocks noChangeAspect="1"/>
          </p:cNvPicPr>
          <p:nvPr/>
        </p:nvPicPr>
        <p:blipFill>
          <a:blip r:embed="rId1"/>
          <a:stretch>
            <a:fillRect/>
          </a:stretch>
        </p:blipFill>
        <p:spPr>
          <a:xfrm>
            <a:off x="1097280" y="1664208"/>
            <a:ext cx="329184" cy="329184"/>
          </a:xfrm>
          <a:prstGeom prst="rect">
            <a:avLst/>
          </a:prstGeom>
        </p:spPr>
      </p:pic>
      <p:sp>
        <p:nvSpPr>
          <p:cNvPr id="7" name="Text 4"/>
          <p:cNvSpPr/>
          <p:nvPr/>
        </p:nvSpPr>
        <p:spPr>
          <a:xfrm>
            <a:off x="411480" y="2212848"/>
            <a:ext cx="1737360" cy="274320"/>
          </a:xfrm>
          <a:prstGeom prst="rect">
            <a:avLst/>
          </a:prstGeom>
          <a:noFill/>
          <a:ln/>
        </p:spPr>
        <p:txBody>
          <a:bodyPr wrap="square" lIns="0" tIns="0" rIns="0" bIns="0" rtlCol="0" anchor="ctr"/>
          <a:lstStyle/>
          <a:p>
            <a:pPr algn="ctr" indent="0" marL="0">
              <a:buNone/>
            </a:pPr>
            <a:r>
              <a:rPr lang="en-US" sz="1350" b="1" dirty="0">
                <a:solidFill>
                  <a:srgbClr val="F72585"/>
                </a:solidFill>
                <a:latin typeface="Arial" pitchFamily="34" charset="0"/>
                <a:ea typeface="Arial" pitchFamily="34" charset="-122"/>
                <a:cs typeface="Arial" pitchFamily="34" charset="-120"/>
              </a:rPr>
              <a:t>LLM ① 해석</a:t>
            </a:r>
            <a:endParaRPr lang="en-US" sz="1350" dirty="0"/>
          </a:p>
        </p:txBody>
      </p:sp>
      <p:sp>
        <p:nvSpPr>
          <p:cNvPr id="8" name="Text 5"/>
          <p:cNvSpPr/>
          <p:nvPr/>
        </p:nvSpPr>
        <p:spPr>
          <a:xfrm>
            <a:off x="530352" y="2514600"/>
            <a:ext cx="1517904" cy="777240"/>
          </a:xfrm>
          <a:prstGeom prst="rect">
            <a:avLst/>
          </a:prstGeom>
          <a:noFill/>
          <a:ln/>
        </p:spPr>
        <p:txBody>
          <a:bodyPr wrap="square" lIns="0" tIns="0" rIns="0" bIns="0" rtlCol="0" anchor="ctr"/>
          <a:lstStyle/>
          <a:p>
            <a:pPr algn="ctr" indent="0" marL="0">
              <a:buNone/>
            </a:pPr>
            <a:r>
              <a:rPr lang="en-US" sz="1000" dirty="0">
                <a:solidFill>
                  <a:srgbClr val="F2F2F6"/>
                </a:solidFill>
                <a:latin typeface="Arial" pitchFamily="34" charset="0"/>
                <a:ea typeface="Arial" pitchFamily="34" charset="-122"/>
                <a:cs typeface="Arial" pitchFamily="34" charset="-120"/>
              </a:rPr>
              <a:t>질문 → {지역, 하드조건, 소프트조건}</a:t>
            </a:r>
            <a:endParaRPr lang="en-US" sz="1000" dirty="0"/>
          </a:p>
        </p:txBody>
      </p:sp>
      <p:sp>
        <p:nvSpPr>
          <p:cNvPr id="9" name="Shape 6"/>
          <p:cNvSpPr/>
          <p:nvPr/>
        </p:nvSpPr>
        <p:spPr>
          <a:xfrm>
            <a:off x="2395728" y="1371600"/>
            <a:ext cx="4352544" cy="2103120"/>
          </a:xfrm>
          <a:prstGeom prst="roundRect">
            <a:avLst>
              <a:gd name="adj" fmla="val 3478"/>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0" name="Text 7"/>
          <p:cNvSpPr/>
          <p:nvPr/>
        </p:nvSpPr>
        <p:spPr>
          <a:xfrm>
            <a:off x="2395728" y="1481328"/>
            <a:ext cx="4352544" cy="274320"/>
          </a:xfrm>
          <a:prstGeom prst="rect">
            <a:avLst/>
          </a:prstGeom>
          <a:noFill/>
          <a:ln/>
        </p:spPr>
        <p:txBody>
          <a:bodyPr wrap="square" lIns="0" tIns="0" rIns="0" bIns="0" rtlCol="0" anchor="ctr"/>
          <a:lstStyle/>
          <a:p>
            <a:pPr algn="ctr" indent="0" marL="0">
              <a:buNone/>
            </a:pPr>
            <a:r>
              <a:rPr lang="en-US" sz="1250" b="1" dirty="0">
                <a:solidFill>
                  <a:srgbClr val="4CC9F0"/>
                </a:solidFill>
                <a:latin typeface="Arial" pitchFamily="34" charset="0"/>
                <a:ea typeface="Arial" pitchFamily="34" charset="-122"/>
                <a:cs typeface="Arial" pitchFamily="34" charset="-120"/>
              </a:rPr>
              <a:t>코드 (밀리초)</a:t>
            </a:r>
            <a:endParaRPr lang="en-US" sz="1250" dirty="0"/>
          </a:p>
        </p:txBody>
      </p:sp>
      <p:sp>
        <p:nvSpPr>
          <p:cNvPr id="11" name="Shape 8"/>
          <p:cNvSpPr/>
          <p:nvPr/>
        </p:nvSpPr>
        <p:spPr>
          <a:xfrm>
            <a:off x="2606040" y="1883664"/>
            <a:ext cx="512064" cy="512064"/>
          </a:xfrm>
          <a:prstGeom prst="ellipse">
            <a:avLst/>
          </a:prstGeom>
          <a:solidFill>
            <a:srgbClr val="4CC9F0"/>
          </a:solidFill>
          <a:ln w="12700">
            <a:solidFill>
              <a:srgbClr val="1D1D29"/>
            </a:solidFill>
            <a:prstDash val="solid"/>
          </a:ln>
        </p:spPr>
      </p:sp>
      <p:pic>
        <p:nvPicPr>
          <p:cNvPr id="12" name="Image 1" descr="preencoded.png">    </p:cNvPr>
          <p:cNvPicPr>
            <a:picLocks noChangeAspect="1"/>
          </p:cNvPicPr>
          <p:nvPr/>
        </p:nvPicPr>
        <p:blipFill>
          <a:blip r:embed="rId2"/>
          <a:stretch>
            <a:fillRect/>
          </a:stretch>
        </p:blipFill>
        <p:spPr>
          <a:xfrm>
            <a:off x="2724912" y="2002536"/>
            <a:ext cx="274320" cy="274320"/>
          </a:xfrm>
          <a:prstGeom prst="rect">
            <a:avLst/>
          </a:prstGeom>
        </p:spPr>
      </p:pic>
      <p:sp>
        <p:nvSpPr>
          <p:cNvPr id="13" name="Text 9"/>
          <p:cNvSpPr/>
          <p:nvPr/>
        </p:nvSpPr>
        <p:spPr>
          <a:xfrm>
            <a:off x="2350008" y="2468880"/>
            <a:ext cx="1024128" cy="274320"/>
          </a:xfrm>
          <a:prstGeom prst="rect">
            <a:avLst/>
          </a:prstGeom>
          <a:noFill/>
          <a:ln/>
        </p:spPr>
        <p:txBody>
          <a:bodyPr wrap="square" lIns="0" tIns="0" rIns="0" bIns="0" rtlCol="0" anchor="ctr"/>
          <a:lstStyle/>
          <a:p>
            <a:pPr algn="ctr" indent="0" marL="0">
              <a:buNone/>
            </a:pPr>
            <a:r>
              <a:rPr lang="en-US" sz="950" dirty="0">
                <a:solidFill>
                  <a:srgbClr val="F2F2F6"/>
                </a:solidFill>
                <a:latin typeface="Arial" pitchFamily="34" charset="0"/>
                <a:ea typeface="Arial" pitchFamily="34" charset="-122"/>
                <a:cs typeface="Arial" pitchFamily="34" charset="-120"/>
              </a:rPr>
              <a:t>지역 필터</a:t>
            </a:r>
            <a:endParaRPr lang="en-US" sz="950" dirty="0"/>
          </a:p>
        </p:txBody>
      </p:sp>
      <p:sp>
        <p:nvSpPr>
          <p:cNvPr id="14" name="Text 10"/>
          <p:cNvSpPr/>
          <p:nvPr/>
        </p:nvSpPr>
        <p:spPr>
          <a:xfrm>
            <a:off x="3136392" y="1956816"/>
            <a:ext cx="256032" cy="365760"/>
          </a:xfrm>
          <a:prstGeom prst="rect">
            <a:avLst/>
          </a:prstGeom>
          <a:noFill/>
          <a:ln/>
        </p:spPr>
        <p:txBody>
          <a:bodyPr wrap="square" lIns="0" tIns="0" rIns="0" bIns="0" rtlCol="0" anchor="ctr"/>
          <a:lstStyle/>
          <a:p>
            <a:pPr algn="ctr" indent="0" marL="0">
              <a:buNone/>
            </a:pPr>
            <a:r>
              <a:rPr lang="en-US" sz="1400" dirty="0">
                <a:solidFill>
                  <a:srgbClr val="9BA0B0"/>
                </a:solidFill>
                <a:latin typeface="Arial" pitchFamily="34" charset="0"/>
                <a:ea typeface="Arial" pitchFamily="34" charset="-122"/>
                <a:cs typeface="Arial" pitchFamily="34" charset="-120"/>
              </a:rPr>
              <a:t>→</a:t>
            </a:r>
            <a:endParaRPr lang="en-US" sz="1400" dirty="0"/>
          </a:p>
        </p:txBody>
      </p:sp>
      <p:sp>
        <p:nvSpPr>
          <p:cNvPr id="15" name="Shape 11"/>
          <p:cNvSpPr/>
          <p:nvPr/>
        </p:nvSpPr>
        <p:spPr>
          <a:xfrm>
            <a:off x="3630168" y="1883664"/>
            <a:ext cx="512064" cy="512064"/>
          </a:xfrm>
          <a:prstGeom prst="ellipse">
            <a:avLst/>
          </a:prstGeom>
          <a:solidFill>
            <a:srgbClr val="4CC9F0"/>
          </a:solidFill>
          <a:ln w="12700">
            <a:solidFill>
              <a:srgbClr val="1D1D29"/>
            </a:solidFill>
            <a:prstDash val="solid"/>
          </a:ln>
        </p:spPr>
      </p:sp>
      <p:pic>
        <p:nvPicPr>
          <p:cNvPr id="16" name="Image 2" descr="preencoded.png">    </p:cNvPr>
          <p:cNvPicPr>
            <a:picLocks noChangeAspect="1"/>
          </p:cNvPicPr>
          <p:nvPr/>
        </p:nvPicPr>
        <p:blipFill>
          <a:blip r:embed="rId3"/>
          <a:stretch>
            <a:fillRect/>
          </a:stretch>
        </p:blipFill>
        <p:spPr>
          <a:xfrm>
            <a:off x="3749040" y="2002536"/>
            <a:ext cx="274320" cy="274320"/>
          </a:xfrm>
          <a:prstGeom prst="rect">
            <a:avLst/>
          </a:prstGeom>
        </p:spPr>
      </p:pic>
      <p:sp>
        <p:nvSpPr>
          <p:cNvPr id="17" name="Text 12"/>
          <p:cNvSpPr/>
          <p:nvPr/>
        </p:nvSpPr>
        <p:spPr>
          <a:xfrm>
            <a:off x="3374136" y="2468880"/>
            <a:ext cx="1024128" cy="274320"/>
          </a:xfrm>
          <a:prstGeom prst="rect">
            <a:avLst/>
          </a:prstGeom>
          <a:noFill/>
          <a:ln/>
        </p:spPr>
        <p:txBody>
          <a:bodyPr wrap="square" lIns="0" tIns="0" rIns="0" bIns="0" rtlCol="0" anchor="ctr"/>
          <a:lstStyle/>
          <a:p>
            <a:pPr algn="ctr" indent="0" marL="0">
              <a:buNone/>
            </a:pPr>
            <a:r>
              <a:rPr lang="en-US" sz="950" dirty="0">
                <a:solidFill>
                  <a:srgbClr val="F2F2F6"/>
                </a:solidFill>
                <a:latin typeface="Arial" pitchFamily="34" charset="0"/>
                <a:ea typeface="Arial" pitchFamily="34" charset="-122"/>
                <a:cs typeface="Arial" pitchFamily="34" charset="-120"/>
              </a:rPr>
              <a:t>조건 번역</a:t>
            </a:r>
            <a:endParaRPr lang="en-US" sz="950" dirty="0"/>
          </a:p>
        </p:txBody>
      </p:sp>
      <p:sp>
        <p:nvSpPr>
          <p:cNvPr id="18" name="Text 13"/>
          <p:cNvSpPr/>
          <p:nvPr/>
        </p:nvSpPr>
        <p:spPr>
          <a:xfrm>
            <a:off x="4160520" y="1956816"/>
            <a:ext cx="256032" cy="365760"/>
          </a:xfrm>
          <a:prstGeom prst="rect">
            <a:avLst/>
          </a:prstGeom>
          <a:noFill/>
          <a:ln/>
        </p:spPr>
        <p:txBody>
          <a:bodyPr wrap="square" lIns="0" tIns="0" rIns="0" bIns="0" rtlCol="0" anchor="ctr"/>
          <a:lstStyle/>
          <a:p>
            <a:pPr algn="ctr" indent="0" marL="0">
              <a:buNone/>
            </a:pPr>
            <a:r>
              <a:rPr lang="en-US" sz="1400" dirty="0">
                <a:solidFill>
                  <a:srgbClr val="9BA0B0"/>
                </a:solidFill>
                <a:latin typeface="Arial" pitchFamily="34" charset="0"/>
                <a:ea typeface="Arial" pitchFamily="34" charset="-122"/>
                <a:cs typeface="Arial" pitchFamily="34" charset="-120"/>
              </a:rPr>
              <a:t>→</a:t>
            </a:r>
            <a:endParaRPr lang="en-US" sz="1400" dirty="0"/>
          </a:p>
        </p:txBody>
      </p:sp>
      <p:sp>
        <p:nvSpPr>
          <p:cNvPr id="19" name="Shape 14"/>
          <p:cNvSpPr/>
          <p:nvPr/>
        </p:nvSpPr>
        <p:spPr>
          <a:xfrm>
            <a:off x="4654296" y="1883664"/>
            <a:ext cx="512064" cy="512064"/>
          </a:xfrm>
          <a:prstGeom prst="ellipse">
            <a:avLst/>
          </a:prstGeom>
          <a:solidFill>
            <a:srgbClr val="4CC9F0"/>
          </a:solidFill>
          <a:ln w="12700">
            <a:solidFill>
              <a:srgbClr val="1D1D29"/>
            </a:solidFill>
            <a:prstDash val="solid"/>
          </a:ln>
        </p:spPr>
      </p:sp>
      <p:pic>
        <p:nvPicPr>
          <p:cNvPr id="20" name="Image 3" descr="preencoded.png">    </p:cNvPr>
          <p:cNvPicPr>
            <a:picLocks noChangeAspect="1"/>
          </p:cNvPicPr>
          <p:nvPr/>
        </p:nvPicPr>
        <p:blipFill>
          <a:blip r:embed="rId4"/>
          <a:stretch>
            <a:fillRect/>
          </a:stretch>
        </p:blipFill>
        <p:spPr>
          <a:xfrm>
            <a:off x="4773168" y="2002536"/>
            <a:ext cx="274320" cy="274320"/>
          </a:xfrm>
          <a:prstGeom prst="rect">
            <a:avLst/>
          </a:prstGeom>
        </p:spPr>
      </p:pic>
      <p:sp>
        <p:nvSpPr>
          <p:cNvPr id="21" name="Text 15"/>
          <p:cNvSpPr/>
          <p:nvPr/>
        </p:nvSpPr>
        <p:spPr>
          <a:xfrm>
            <a:off x="4398264" y="2468880"/>
            <a:ext cx="1024128" cy="274320"/>
          </a:xfrm>
          <a:prstGeom prst="rect">
            <a:avLst/>
          </a:prstGeom>
          <a:noFill/>
          <a:ln/>
        </p:spPr>
        <p:txBody>
          <a:bodyPr wrap="square" lIns="0" tIns="0" rIns="0" bIns="0" rtlCol="0" anchor="ctr"/>
          <a:lstStyle/>
          <a:p>
            <a:pPr algn="ctr" indent="0" marL="0">
              <a:buNone/>
            </a:pPr>
            <a:r>
              <a:rPr lang="en-US" sz="950" dirty="0">
                <a:solidFill>
                  <a:srgbClr val="F2F2F6"/>
                </a:solidFill>
                <a:latin typeface="Arial" pitchFamily="34" charset="0"/>
                <a:ea typeface="Arial" pitchFamily="34" charset="-122"/>
                <a:cs typeface="Arial" pitchFamily="34" charset="-120"/>
              </a:rPr>
              <a:t>태그 매칭</a:t>
            </a:r>
            <a:endParaRPr lang="en-US" sz="950" dirty="0"/>
          </a:p>
        </p:txBody>
      </p:sp>
      <p:sp>
        <p:nvSpPr>
          <p:cNvPr id="22" name="Text 16"/>
          <p:cNvSpPr/>
          <p:nvPr/>
        </p:nvSpPr>
        <p:spPr>
          <a:xfrm>
            <a:off x="5184648" y="1956816"/>
            <a:ext cx="256032" cy="365760"/>
          </a:xfrm>
          <a:prstGeom prst="rect">
            <a:avLst/>
          </a:prstGeom>
          <a:noFill/>
          <a:ln/>
        </p:spPr>
        <p:txBody>
          <a:bodyPr wrap="square" lIns="0" tIns="0" rIns="0" bIns="0" rtlCol="0" anchor="ctr"/>
          <a:lstStyle/>
          <a:p>
            <a:pPr algn="ctr" indent="0" marL="0">
              <a:buNone/>
            </a:pPr>
            <a:r>
              <a:rPr lang="en-US" sz="1400" dirty="0">
                <a:solidFill>
                  <a:srgbClr val="9BA0B0"/>
                </a:solidFill>
                <a:latin typeface="Arial" pitchFamily="34" charset="0"/>
                <a:ea typeface="Arial" pitchFamily="34" charset="-122"/>
                <a:cs typeface="Arial" pitchFamily="34" charset="-120"/>
              </a:rPr>
              <a:t>→</a:t>
            </a:r>
            <a:endParaRPr lang="en-US" sz="1400" dirty="0"/>
          </a:p>
        </p:txBody>
      </p:sp>
      <p:sp>
        <p:nvSpPr>
          <p:cNvPr id="23" name="Shape 17"/>
          <p:cNvSpPr/>
          <p:nvPr/>
        </p:nvSpPr>
        <p:spPr>
          <a:xfrm>
            <a:off x="5678424" y="1883664"/>
            <a:ext cx="512064" cy="512064"/>
          </a:xfrm>
          <a:prstGeom prst="ellipse">
            <a:avLst/>
          </a:prstGeom>
          <a:solidFill>
            <a:srgbClr val="4CC9F0"/>
          </a:solidFill>
          <a:ln w="12700">
            <a:solidFill>
              <a:srgbClr val="1D1D29"/>
            </a:solidFill>
            <a:prstDash val="solid"/>
          </a:ln>
        </p:spPr>
      </p:sp>
      <p:pic>
        <p:nvPicPr>
          <p:cNvPr id="24" name="Image 4" descr="preencoded.png">    </p:cNvPr>
          <p:cNvPicPr>
            <a:picLocks noChangeAspect="1"/>
          </p:cNvPicPr>
          <p:nvPr/>
        </p:nvPicPr>
        <p:blipFill>
          <a:blip r:embed="rId5"/>
          <a:stretch>
            <a:fillRect/>
          </a:stretch>
        </p:blipFill>
        <p:spPr>
          <a:xfrm>
            <a:off x="5797296" y="2002536"/>
            <a:ext cx="274320" cy="274320"/>
          </a:xfrm>
          <a:prstGeom prst="rect">
            <a:avLst/>
          </a:prstGeom>
        </p:spPr>
      </p:pic>
      <p:sp>
        <p:nvSpPr>
          <p:cNvPr id="25" name="Text 18"/>
          <p:cNvSpPr/>
          <p:nvPr/>
        </p:nvSpPr>
        <p:spPr>
          <a:xfrm>
            <a:off x="5422392" y="2468880"/>
            <a:ext cx="1024128" cy="274320"/>
          </a:xfrm>
          <a:prstGeom prst="rect">
            <a:avLst/>
          </a:prstGeom>
          <a:noFill/>
          <a:ln/>
        </p:spPr>
        <p:txBody>
          <a:bodyPr wrap="square" lIns="0" tIns="0" rIns="0" bIns="0" rtlCol="0" anchor="ctr"/>
          <a:lstStyle/>
          <a:p>
            <a:pPr algn="ctr" indent="0" marL="0">
              <a:buNone/>
            </a:pPr>
            <a:r>
              <a:rPr lang="en-US" sz="950" dirty="0">
                <a:solidFill>
                  <a:srgbClr val="F2F2F6"/>
                </a:solidFill>
                <a:latin typeface="Arial" pitchFamily="34" charset="0"/>
                <a:ea typeface="Arial" pitchFamily="34" charset="-122"/>
                <a:cs typeface="Arial" pitchFamily="34" charset="-120"/>
              </a:rPr>
              <a:t>정렬·완화</a:t>
            </a:r>
            <a:endParaRPr lang="en-US" sz="950" dirty="0"/>
          </a:p>
        </p:txBody>
      </p:sp>
      <p:sp>
        <p:nvSpPr>
          <p:cNvPr id="26" name="Text 19"/>
          <p:cNvSpPr/>
          <p:nvPr/>
        </p:nvSpPr>
        <p:spPr>
          <a:xfrm>
            <a:off x="2487168" y="2907792"/>
            <a:ext cx="4169664" cy="457200"/>
          </a:xfrm>
          <a:prstGeom prst="rect">
            <a:avLst/>
          </a:prstGeom>
          <a:noFill/>
          <a:ln/>
        </p:spPr>
        <p:txBody>
          <a:bodyPr wrap="square" lIns="0" tIns="0" rIns="0" bIns="0" rtlCol="0" anchor="ctr"/>
          <a:lstStyle/>
          <a:p>
            <a:pPr algn="ctr" indent="0" marL="0">
              <a:buNone/>
            </a:pPr>
            <a:r>
              <a:rPr lang="en-US" sz="950" i="1" dirty="0">
                <a:solidFill>
                  <a:srgbClr val="9BA0B0"/>
                </a:solidFill>
                <a:latin typeface="Arial" pitchFamily="34" charset="0"/>
                <a:ea typeface="Arial" pitchFamily="34" charset="-122"/>
                <a:cs typeface="Arial" pitchFamily="34" charset="-120"/>
              </a:rPr>
              <a:t>모든 단계가 자기 결정을 기록하며 지나간다 (번역 로그)</a:t>
            </a:r>
            <a:endParaRPr lang="en-US" sz="950" dirty="0"/>
          </a:p>
        </p:txBody>
      </p:sp>
      <p:sp>
        <p:nvSpPr>
          <p:cNvPr id="27" name="Shape 20"/>
          <p:cNvSpPr/>
          <p:nvPr/>
        </p:nvSpPr>
        <p:spPr>
          <a:xfrm>
            <a:off x="6995160" y="1371600"/>
            <a:ext cx="1737360" cy="2103120"/>
          </a:xfrm>
          <a:prstGeom prst="roundRect">
            <a:avLst>
              <a:gd name="adj" fmla="val 4211"/>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28" name="Shape 21"/>
          <p:cNvSpPr/>
          <p:nvPr/>
        </p:nvSpPr>
        <p:spPr>
          <a:xfrm>
            <a:off x="7571232" y="1554480"/>
            <a:ext cx="548640" cy="548640"/>
          </a:xfrm>
          <a:prstGeom prst="ellipse">
            <a:avLst/>
          </a:prstGeom>
          <a:solidFill>
            <a:srgbClr val="F72585"/>
          </a:solidFill>
          <a:ln w="12700">
            <a:solidFill>
              <a:srgbClr val="232334"/>
            </a:solidFill>
            <a:prstDash val="solid"/>
          </a:ln>
        </p:spPr>
      </p:sp>
      <p:pic>
        <p:nvPicPr>
          <p:cNvPr id="29" name="Image 5" descr="preencoded.png">    </p:cNvPr>
          <p:cNvPicPr>
            <a:picLocks noChangeAspect="1"/>
          </p:cNvPicPr>
          <p:nvPr/>
        </p:nvPicPr>
        <p:blipFill>
          <a:blip r:embed="rId6"/>
          <a:stretch>
            <a:fillRect/>
          </a:stretch>
        </p:blipFill>
        <p:spPr>
          <a:xfrm>
            <a:off x="7680960" y="1664208"/>
            <a:ext cx="329184" cy="329184"/>
          </a:xfrm>
          <a:prstGeom prst="rect">
            <a:avLst/>
          </a:prstGeom>
        </p:spPr>
      </p:pic>
      <p:sp>
        <p:nvSpPr>
          <p:cNvPr id="30" name="Text 22"/>
          <p:cNvSpPr/>
          <p:nvPr/>
        </p:nvSpPr>
        <p:spPr>
          <a:xfrm>
            <a:off x="6995160" y="2212848"/>
            <a:ext cx="1737360" cy="274320"/>
          </a:xfrm>
          <a:prstGeom prst="rect">
            <a:avLst/>
          </a:prstGeom>
          <a:noFill/>
          <a:ln/>
        </p:spPr>
        <p:txBody>
          <a:bodyPr wrap="square" lIns="0" tIns="0" rIns="0" bIns="0" rtlCol="0" anchor="ctr"/>
          <a:lstStyle/>
          <a:p>
            <a:pPr algn="ctr" indent="0" marL="0">
              <a:buNone/>
            </a:pPr>
            <a:r>
              <a:rPr lang="en-US" sz="1350" b="1" dirty="0">
                <a:solidFill>
                  <a:srgbClr val="F72585"/>
                </a:solidFill>
                <a:latin typeface="Arial" pitchFamily="34" charset="0"/>
                <a:ea typeface="Arial" pitchFamily="34" charset="-122"/>
                <a:cs typeface="Arial" pitchFamily="34" charset="-120"/>
              </a:rPr>
              <a:t>LLM ② 종합</a:t>
            </a:r>
            <a:endParaRPr lang="en-US" sz="1350" dirty="0"/>
          </a:p>
        </p:txBody>
      </p:sp>
      <p:sp>
        <p:nvSpPr>
          <p:cNvPr id="31" name="Text 23"/>
          <p:cNvSpPr/>
          <p:nvPr/>
        </p:nvSpPr>
        <p:spPr>
          <a:xfrm>
            <a:off x="7114032" y="2514600"/>
            <a:ext cx="1517904" cy="777240"/>
          </a:xfrm>
          <a:prstGeom prst="rect">
            <a:avLst/>
          </a:prstGeom>
          <a:noFill/>
          <a:ln/>
        </p:spPr>
        <p:txBody>
          <a:bodyPr wrap="square" lIns="0" tIns="0" rIns="0" bIns="0" rtlCol="0" anchor="ctr"/>
          <a:lstStyle/>
          <a:p>
            <a:pPr algn="ctr" indent="0" marL="0">
              <a:buNone/>
            </a:pPr>
            <a:r>
              <a:rPr lang="en-US" sz="1000" dirty="0">
                <a:solidFill>
                  <a:srgbClr val="F2F2F6"/>
                </a:solidFill>
                <a:latin typeface="Arial" pitchFamily="34" charset="0"/>
                <a:ea typeface="Arial" pitchFamily="34" charset="-122"/>
                <a:cs typeface="Arial" pitchFamily="34" charset="-120"/>
              </a:rPr>
              <a:t>카드 5~8장 인용 배열 — 카드 밖 사실 금지</a:t>
            </a:r>
            <a:endParaRPr lang="en-US" sz="1000" dirty="0"/>
          </a:p>
        </p:txBody>
      </p:sp>
      <p:sp>
        <p:nvSpPr>
          <p:cNvPr id="32" name="Text 24"/>
          <p:cNvSpPr/>
          <p:nvPr/>
        </p:nvSpPr>
        <p:spPr>
          <a:xfrm>
            <a:off x="2103120" y="2194560"/>
            <a:ext cx="320040" cy="365760"/>
          </a:xfrm>
          <a:prstGeom prst="rect">
            <a:avLst/>
          </a:prstGeom>
          <a:noFill/>
          <a:ln/>
        </p:spPr>
        <p:txBody>
          <a:bodyPr wrap="square" lIns="0" tIns="0" rIns="0" bIns="0" rtlCol="0" anchor="ctr"/>
          <a:lstStyle/>
          <a:p>
            <a:pPr algn="ctr" indent="0" marL="0">
              <a:buNone/>
            </a:pPr>
            <a:r>
              <a:rPr lang="en-US" sz="1800" b="1" dirty="0">
                <a:solidFill>
                  <a:srgbClr val="F72585"/>
                </a:solidFill>
                <a:latin typeface="Arial" pitchFamily="34" charset="0"/>
                <a:ea typeface="Arial" pitchFamily="34" charset="-122"/>
                <a:cs typeface="Arial" pitchFamily="34" charset="-120"/>
              </a:rPr>
              <a:t>→</a:t>
            </a:r>
            <a:endParaRPr lang="en-US" sz="1800" dirty="0"/>
          </a:p>
        </p:txBody>
      </p:sp>
      <p:sp>
        <p:nvSpPr>
          <p:cNvPr id="33" name="Text 25"/>
          <p:cNvSpPr/>
          <p:nvPr/>
        </p:nvSpPr>
        <p:spPr>
          <a:xfrm>
            <a:off x="6702552" y="2194560"/>
            <a:ext cx="320040" cy="365760"/>
          </a:xfrm>
          <a:prstGeom prst="rect">
            <a:avLst/>
          </a:prstGeom>
          <a:noFill/>
          <a:ln/>
        </p:spPr>
        <p:txBody>
          <a:bodyPr wrap="square" lIns="0" tIns="0" rIns="0" bIns="0" rtlCol="0" anchor="ctr"/>
          <a:lstStyle/>
          <a:p>
            <a:pPr algn="ctr" indent="0" marL="0">
              <a:buNone/>
            </a:pPr>
            <a:r>
              <a:rPr lang="en-US" sz="1800" b="1" dirty="0">
                <a:solidFill>
                  <a:srgbClr val="F72585"/>
                </a:solidFill>
                <a:latin typeface="Arial" pitchFamily="34" charset="0"/>
                <a:ea typeface="Arial" pitchFamily="34" charset="-122"/>
                <a:cs typeface="Arial" pitchFamily="34" charset="-120"/>
              </a:rPr>
              <a:t>→</a:t>
            </a:r>
            <a:endParaRPr lang="en-US" sz="1800" dirty="0"/>
          </a:p>
        </p:txBody>
      </p:sp>
      <p:sp>
        <p:nvSpPr>
          <p:cNvPr id="34" name="Shape 26"/>
          <p:cNvSpPr/>
          <p:nvPr/>
        </p:nvSpPr>
        <p:spPr>
          <a:xfrm>
            <a:off x="457200" y="3749040"/>
            <a:ext cx="8229600" cy="914400"/>
          </a:xfrm>
          <a:prstGeom prst="roundRect">
            <a:avLst>
              <a:gd name="adj" fmla="val 8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35" name="Image 6" descr="preencoded.png">    </p:cNvPr>
          <p:cNvPicPr>
            <a:picLocks noChangeAspect="1"/>
          </p:cNvPicPr>
          <p:nvPr/>
        </p:nvPicPr>
        <p:blipFill>
          <a:blip r:embed="rId7"/>
          <a:stretch>
            <a:fillRect/>
          </a:stretch>
        </p:blipFill>
        <p:spPr>
          <a:xfrm>
            <a:off x="0" y="0"/>
            <a:ext cx="9144" cy="9144"/>
          </a:xfrm>
          <a:prstGeom prst="rect">
            <a:avLst/>
          </a:prstGeom>
        </p:spPr>
      </p:pic>
      <p:sp>
        <p:nvSpPr>
          <p:cNvPr id="36" name="Text 27"/>
          <p:cNvSpPr/>
          <p:nvPr/>
        </p:nvSpPr>
        <p:spPr>
          <a:xfrm>
            <a:off x="777240" y="3822192"/>
            <a:ext cx="7680960" cy="777240"/>
          </a:xfrm>
          <a:prstGeom prst="rect">
            <a:avLst/>
          </a:prstGeom>
          <a:noFill/>
          <a:ln/>
        </p:spPr>
        <p:txBody>
          <a:bodyPr wrap="square" rtlCol="0" anchor="ctr"/>
          <a:lstStyle/>
          <a:p>
            <a:pPr indent="0" marL="0">
              <a:buNone/>
            </a:pPr>
            <a:r>
              <a:rPr lang="en-US" sz="1200" b="1" dirty="0">
                <a:solidFill>
                  <a:srgbClr val="F2F2F6"/>
                </a:solidFill>
                <a:latin typeface="Arial" pitchFamily="34" charset="0"/>
                <a:ea typeface="Arial" pitchFamily="34" charset="-122"/>
                <a:cs typeface="Arial" pitchFamily="34" charset="-120"/>
              </a:rPr>
              <a:t>LLM①은 접수원(구조화 추출만), LLM②는 변호사(증거 인용만).  </a:t>
            </a:r>
            <a:pPr indent="0" marL="0">
              <a:buNone/>
            </a:pPr>
            <a:r>
              <a:rPr lang="en-US" sz="1200" dirty="0">
                <a:solidFill>
                  <a:srgbClr val="9BA0B0"/>
                </a:solidFill>
                <a:latin typeface="Arial" pitchFamily="34" charset="0"/>
                <a:ea typeface="Arial" pitchFamily="34" charset="-122"/>
                <a:cs typeface="Arial" pitchFamily="34" charset="-120"/>
              </a:rPr>
              <a:t>검색·발췌의 주어는 코드다. LLM에게는 요약·태그·근거만 주고 식별자·조회수는 차단 — 접근 통제는 주는 쪽의 설계로.</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임베딩은 찾지 않는다, 번역한다</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통상 RAG와 갈라지는 지점</a:t>
            </a:r>
            <a:endParaRPr lang="en-US" sz="1250" dirty="0"/>
          </a:p>
        </p:txBody>
      </p:sp>
      <p:sp>
        <p:nvSpPr>
          <p:cNvPr id="4" name="Shape 2"/>
          <p:cNvSpPr/>
          <p:nvPr/>
        </p:nvSpPr>
        <p:spPr>
          <a:xfrm>
            <a:off x="457200" y="1207008"/>
            <a:ext cx="4023360" cy="3291840"/>
          </a:xfrm>
          <a:prstGeom prst="roundRect">
            <a:avLst>
              <a:gd name="adj" fmla="val 2222"/>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13232" y="1389888"/>
            <a:ext cx="3474720" cy="320040"/>
          </a:xfrm>
          <a:prstGeom prst="rect">
            <a:avLst/>
          </a:prstGeom>
          <a:noFill/>
          <a:ln/>
        </p:spPr>
        <p:txBody>
          <a:bodyPr wrap="square" lIns="0" tIns="0" rIns="0" bIns="0" rtlCol="0" anchor="ctr"/>
          <a:lstStyle/>
          <a:p>
            <a:pPr indent="0" marL="0">
              <a:buNone/>
            </a:pPr>
            <a:r>
              <a:rPr lang="en-US" sz="1500" b="1" dirty="0">
                <a:solidFill>
                  <a:srgbClr val="9BA0B0"/>
                </a:solidFill>
                <a:latin typeface="Arial" pitchFamily="34" charset="0"/>
                <a:ea typeface="Arial" pitchFamily="34" charset="-122"/>
                <a:cs typeface="Arial" pitchFamily="34" charset="-120"/>
              </a:rPr>
              <a:t>통상 RAG</a:t>
            </a:r>
            <a:endParaRPr lang="en-US" sz="1500" dirty="0"/>
          </a:p>
        </p:txBody>
      </p:sp>
      <p:sp>
        <p:nvSpPr>
          <p:cNvPr id="6" name="Text 4"/>
          <p:cNvSpPr/>
          <p:nvPr/>
        </p:nvSpPr>
        <p:spPr>
          <a:xfrm>
            <a:off x="713232" y="1828800"/>
            <a:ext cx="3566160" cy="2468880"/>
          </a:xfrm>
          <a:prstGeom prst="rect">
            <a:avLst/>
          </a:prstGeom>
          <a:noFill/>
          <a:ln/>
        </p:spPr>
        <p:txBody>
          <a:bodyPr wrap="square" rtlCol="0" anchor="t"/>
          <a:lstStyle/>
          <a:p>
            <a:pPr marL="342900" indent="-342900">
              <a:spcAft>
                <a:spcPts val="1200"/>
              </a:spcAft>
              <a:buSzPct val="100000"/>
              <a:buChar char="•"/>
            </a:pPr>
            <a:r>
              <a:rPr lang="en-US" sz="1250" dirty="0">
                <a:solidFill>
                  <a:srgbClr val="F2F2F6"/>
                </a:solidFill>
                <a:latin typeface="Arial" pitchFamily="34" charset="0"/>
                <a:ea typeface="Arial" pitchFamily="34" charset="-122"/>
                <a:cs typeface="Arial" pitchFamily="34" charset="-120"/>
              </a:rPr>
              <a:t>카페 문서 전체를 임베딩</a:t>
            </a:r>
            <a:endParaRPr lang="en-US" sz="1250" dirty="0"/>
          </a:p>
          <a:p>
            <a:pPr marL="342900" indent="-342900">
              <a:spcAft>
                <a:spcPts val="1200"/>
              </a:spcAft>
              <a:buSzPct val="100000"/>
              <a:buChar char="•"/>
            </a:pPr>
            <a:r>
              <a:rPr lang="en-US" sz="1250" dirty="0">
                <a:solidFill>
                  <a:srgbClr val="F2F2F6"/>
                </a:solidFill>
                <a:latin typeface="Arial" pitchFamily="34" charset="0"/>
                <a:ea typeface="Arial" pitchFamily="34" charset="-122"/>
                <a:cs typeface="Arial" pitchFamily="34" charset="-120"/>
              </a:rPr>
              <a:t>쿼리와 유사도 계산 → 순위</a:t>
            </a:r>
            <a:endParaRPr lang="en-US" sz="1250" dirty="0"/>
          </a:p>
          <a:p>
            <a:pPr marL="342900" indent="-342900">
              <a:spcAft>
                <a:spcPts val="1200"/>
              </a:spcAft>
              <a:buSzPct val="100000"/>
              <a:buChar char="•"/>
            </a:pPr>
            <a:r>
              <a:rPr lang="en-US" sz="1250" dirty="0">
                <a:solidFill>
                  <a:srgbClr val="F2F2F6"/>
                </a:solidFill>
                <a:latin typeface="Arial" pitchFamily="34" charset="0"/>
                <a:ea typeface="Arial" pitchFamily="34" charset="-122"/>
                <a:cs typeface="Arial" pitchFamily="34" charset="-120"/>
              </a:rPr>
              <a:t>“왜 0.83점?” — 설명 불가</a:t>
            </a:r>
            <a:endParaRPr lang="en-US" sz="1250" dirty="0"/>
          </a:p>
          <a:p>
            <a:pPr marL="342900" indent="-342900">
              <a:spcAft>
                <a:spcPts val="1200"/>
              </a:spcAft>
              <a:buSzPct val="100000"/>
              <a:buChar char="•"/>
            </a:pPr>
            <a:r>
              <a:rPr lang="en-US" sz="1250" dirty="0">
                <a:solidFill>
                  <a:srgbClr val="F2F2F6"/>
                </a:solidFill>
                <a:latin typeface="Arial" pitchFamily="34" charset="0"/>
                <a:ea typeface="Arial" pitchFamily="34" charset="-122"/>
                <a:cs typeface="Arial" pitchFamily="34" charset="-120"/>
              </a:rPr>
              <a:t>감정 텍스트가 만능 자석이 되어 검색 오염</a:t>
            </a:r>
            <a:endParaRPr lang="en-US" sz="1250" dirty="0"/>
          </a:p>
          <a:p>
            <a:pPr marL="342900" indent="-342900">
              <a:spcAft>
                <a:spcPts val="1200"/>
              </a:spcAft>
              <a:buSzPct val="100000"/>
              <a:buChar char="•"/>
            </a:pPr>
            <a:r>
              <a:rPr lang="en-US" sz="1250" dirty="0">
                <a:solidFill>
                  <a:srgbClr val="F2F2F6"/>
                </a:solidFill>
                <a:latin typeface="Arial" pitchFamily="34" charset="0"/>
                <a:ea typeface="Arial" pitchFamily="34" charset="-122"/>
                <a:cs typeface="Arial" pitchFamily="34" charset="-120"/>
              </a:rPr>
              <a:t>폐업·중복이 유사도 점수에 그대로 노출</a:t>
            </a:r>
            <a:endParaRPr lang="en-US" sz="1250" dirty="0"/>
          </a:p>
        </p:txBody>
      </p:sp>
      <p:sp>
        <p:nvSpPr>
          <p:cNvPr id="7" name="Shape 5"/>
          <p:cNvSpPr/>
          <p:nvPr/>
        </p:nvSpPr>
        <p:spPr>
          <a:xfrm>
            <a:off x="4663440" y="1207008"/>
            <a:ext cx="4023360" cy="3291840"/>
          </a:xfrm>
          <a:prstGeom prst="roundRect">
            <a:avLst>
              <a:gd name="adj" fmla="val 2222"/>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4919472" y="1389888"/>
            <a:ext cx="3474720" cy="320040"/>
          </a:xfrm>
          <a:prstGeom prst="rect">
            <a:avLst/>
          </a:prstGeom>
          <a:noFill/>
          <a:ln/>
        </p:spPr>
        <p:txBody>
          <a:bodyPr wrap="square" lIns="0" tIns="0" rIns="0" bIns="0" rtlCol="0" anchor="ctr"/>
          <a:lstStyle/>
          <a:p>
            <a:pPr indent="0" marL="0">
              <a:buNone/>
            </a:pPr>
            <a:r>
              <a:rPr lang="en-US" sz="1500" b="1" dirty="0">
                <a:solidFill>
                  <a:srgbClr val="4CC9F0"/>
                </a:solidFill>
                <a:latin typeface="Arial" pitchFamily="34" charset="0"/>
                <a:ea typeface="Arial" pitchFamily="34" charset="-122"/>
                <a:cs typeface="Arial" pitchFamily="34" charset="-120"/>
              </a:rPr>
              <a:t>우리 방식</a:t>
            </a:r>
            <a:endParaRPr lang="en-US" sz="1500" dirty="0"/>
          </a:p>
        </p:txBody>
      </p:sp>
      <p:sp>
        <p:nvSpPr>
          <p:cNvPr id="9" name="Text 7"/>
          <p:cNvSpPr/>
          <p:nvPr/>
        </p:nvSpPr>
        <p:spPr>
          <a:xfrm>
            <a:off x="4919472" y="1828800"/>
            <a:ext cx="3566160" cy="2560320"/>
          </a:xfrm>
          <a:prstGeom prst="rect">
            <a:avLst/>
          </a:prstGeom>
          <a:noFill/>
          <a:ln/>
        </p:spPr>
        <p:txBody>
          <a:bodyPr wrap="square" rtlCol="0" anchor="t"/>
          <a:lstStyle/>
          <a:p>
            <a:pPr marL="342900" indent="-342900">
              <a:spcAft>
                <a:spcPts val="900"/>
              </a:spcAft>
              <a:buSzPct val="100000"/>
              <a:buChar char="•"/>
            </a:pPr>
            <a:r>
              <a:rPr lang="en-US" sz="1250" b="1" dirty="0">
                <a:solidFill>
                  <a:srgbClr val="F2F2F6"/>
                </a:solidFill>
                <a:latin typeface="Arial" pitchFamily="34" charset="0"/>
                <a:ea typeface="Arial" pitchFamily="34" charset="-122"/>
                <a:cs typeface="Arial" pitchFamily="34" charset="-120"/>
              </a:rPr>
              <a:t>임베딩 ① = 태그 사전 (수십 벡터)</a:t>
            </a:r>
            <a:endParaRPr lang="en-US" sz="1250" dirty="0"/>
          </a:p>
          <a:p>
            <a:pPr lvl="1" marL="685800" indent="-342900">
              <a:spcAft>
                <a:spcPts val="900"/>
              </a:spcAft>
              <a:buSzPct val="100000"/>
              <a:buChar char="•"/>
            </a:pPr>
            <a:r>
              <a:rPr lang="en-US" sz="1050" dirty="0">
                <a:solidFill>
                  <a:srgbClr val="9BA0B0"/>
                </a:solidFill>
                <a:latin typeface="Arial" pitchFamily="34" charset="0"/>
                <a:ea typeface="Arial" pitchFamily="34" charset="-122"/>
                <a:cs typeface="Arial" pitchFamily="34" charset="-120"/>
              </a:rPr>
              <a:t>“노을 맛집” → “노을” 태그로 번역만 (유사도는 번역 확신도로 공개)</a:t>
            </a:r>
            <a:endParaRPr lang="en-US" sz="1250" dirty="0"/>
          </a:p>
          <a:p>
            <a:pPr marL="342900" indent="-342900">
              <a:spcAft>
                <a:spcPts val="900"/>
              </a:spcAft>
              <a:buSzPct val="100000"/>
              <a:buChar char="•"/>
            </a:pPr>
            <a:r>
              <a:rPr lang="en-US" sz="1250" b="1" dirty="0">
                <a:solidFill>
                  <a:srgbClr val="F2F2F6"/>
                </a:solidFill>
                <a:latin typeface="Arial" pitchFamily="34" charset="0"/>
                <a:ea typeface="Arial" pitchFamily="34" charset="-122"/>
                <a:cs typeface="Arial" pitchFamily="34" charset="-120"/>
              </a:rPr>
              <a:t>임베딩 ② = 카드 요약 한 문장 (폴백)</a:t>
            </a:r>
            <a:endParaRPr lang="en-US" sz="1250" dirty="0"/>
          </a:p>
          <a:p>
            <a:pPr lvl="1" marL="685800" indent="-342900">
              <a:spcAft>
                <a:spcPts val="900"/>
              </a:spcAft>
              <a:buSzPct val="100000"/>
              <a:buChar char="•"/>
            </a:pPr>
            <a:r>
              <a:rPr lang="en-US" sz="1050" dirty="0">
                <a:solidFill>
                  <a:srgbClr val="9BA0B0"/>
                </a:solidFill>
                <a:latin typeface="Arial" pitchFamily="34" charset="0"/>
                <a:ea typeface="Arial" pitchFamily="34" charset="-122"/>
                <a:cs typeface="Arial" pitchFamily="34" charset="-120"/>
              </a:rPr>
              <a:t>태그로 환원 안 되는 열린 쿼리에만</a:t>
            </a:r>
            <a:endParaRPr lang="en-US" sz="1250" dirty="0"/>
          </a:p>
          <a:p>
            <a:pPr marL="342900" indent="-342900">
              <a:spcAft>
                <a:spcPts val="900"/>
              </a:spcAft>
              <a:buSzPct val="100000"/>
              <a:buChar char="•"/>
            </a:pPr>
            <a:r>
              <a:rPr lang="en-US" sz="1250" b="1" dirty="0">
                <a:solidFill>
                  <a:srgbClr val="F72585"/>
                </a:solidFill>
                <a:latin typeface="Arial" pitchFamily="34" charset="0"/>
                <a:ea typeface="Arial" pitchFamily="34" charset="-122"/>
                <a:cs typeface="Arial" pitchFamily="34" charset="-120"/>
              </a:rPr>
              <a:t>순위는 셀 수 있는 신호로만 — 태그 충족 + 다수결 + 반응</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“애월에서 노을 보기 좋은 카페” — 한 질문의 여정</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이렇게 찾았어요, 를 그대로 보여준다</a:t>
            </a:r>
            <a:endParaRPr lang="en-US" sz="1250" dirty="0"/>
          </a:p>
        </p:txBody>
      </p:sp>
      <p:sp>
        <p:nvSpPr>
          <p:cNvPr id="4" name="Shape 2"/>
          <p:cNvSpPr/>
          <p:nvPr/>
        </p:nvSpPr>
        <p:spPr>
          <a:xfrm>
            <a:off x="457200" y="1234440"/>
            <a:ext cx="3383280" cy="713232"/>
          </a:xfrm>
          <a:prstGeom prst="roundRect">
            <a:avLst>
              <a:gd name="adj" fmla="val 1025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594360" y="1316736"/>
            <a:ext cx="914400" cy="548640"/>
          </a:xfrm>
          <a:prstGeom prst="rect">
            <a:avLst/>
          </a:prstGeom>
          <a:noFill/>
          <a:ln/>
        </p:spPr>
        <p:txBody>
          <a:bodyPr wrap="square" lIns="0" tIns="0" rIns="0" bIns="0" rtlCol="0" anchor="ctr"/>
          <a:lstStyle/>
          <a:p>
            <a:pPr indent="0" marL="0">
              <a:buNone/>
            </a:pPr>
            <a:r>
              <a:rPr lang="en-US" sz="2100" b="1" dirty="0">
                <a:solidFill>
                  <a:srgbClr val="4CC9F0"/>
                </a:solidFill>
                <a:latin typeface="Arial" pitchFamily="34" charset="0"/>
                <a:ea typeface="Arial" pitchFamily="34" charset="-122"/>
                <a:cs typeface="Arial" pitchFamily="34" charset="-120"/>
              </a:rPr>
              <a:t>1,064</a:t>
            </a:r>
            <a:endParaRPr lang="en-US" sz="2100" dirty="0"/>
          </a:p>
        </p:txBody>
      </p:sp>
      <p:sp>
        <p:nvSpPr>
          <p:cNvPr id="6" name="Text 4"/>
          <p:cNvSpPr/>
          <p:nvPr/>
        </p:nvSpPr>
        <p:spPr>
          <a:xfrm>
            <a:off x="1536192" y="1316736"/>
            <a:ext cx="2167128" cy="54864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전체 카드</a:t>
            </a:r>
            <a:endParaRPr lang="en-US" sz="1150" dirty="0"/>
          </a:p>
        </p:txBody>
      </p:sp>
      <p:sp>
        <p:nvSpPr>
          <p:cNvPr id="7" name="Shape 5"/>
          <p:cNvSpPr/>
          <p:nvPr/>
        </p:nvSpPr>
        <p:spPr>
          <a:xfrm>
            <a:off x="457200" y="2075688"/>
            <a:ext cx="2971800" cy="713232"/>
          </a:xfrm>
          <a:prstGeom prst="roundRect">
            <a:avLst>
              <a:gd name="adj" fmla="val 1025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594360" y="2157984"/>
            <a:ext cx="914400" cy="548640"/>
          </a:xfrm>
          <a:prstGeom prst="rect">
            <a:avLst/>
          </a:prstGeom>
          <a:noFill/>
          <a:ln/>
        </p:spPr>
        <p:txBody>
          <a:bodyPr wrap="square" lIns="0" tIns="0" rIns="0" bIns="0" rtlCol="0" anchor="ctr"/>
          <a:lstStyle/>
          <a:p>
            <a:pPr indent="0" marL="0">
              <a:buNone/>
            </a:pPr>
            <a:r>
              <a:rPr lang="en-US" sz="2100" b="1" dirty="0">
                <a:solidFill>
                  <a:srgbClr val="4CC9F0"/>
                </a:solidFill>
                <a:latin typeface="Arial" pitchFamily="34" charset="0"/>
                <a:ea typeface="Arial" pitchFamily="34" charset="-122"/>
                <a:cs typeface="Arial" pitchFamily="34" charset="-120"/>
              </a:rPr>
              <a:t>87</a:t>
            </a:r>
            <a:endParaRPr lang="en-US" sz="2100" dirty="0"/>
          </a:p>
        </p:txBody>
      </p:sp>
      <p:sp>
        <p:nvSpPr>
          <p:cNvPr id="9" name="Text 7"/>
          <p:cNvSpPr/>
          <p:nvPr/>
        </p:nvSpPr>
        <p:spPr>
          <a:xfrm>
            <a:off x="1536192" y="2157984"/>
            <a:ext cx="1755648" cy="54864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지역: 애월</a:t>
            </a:r>
            <a:endParaRPr lang="en-US" sz="1150" dirty="0"/>
          </a:p>
        </p:txBody>
      </p:sp>
      <p:sp>
        <p:nvSpPr>
          <p:cNvPr id="10" name="Shape 8"/>
          <p:cNvSpPr/>
          <p:nvPr/>
        </p:nvSpPr>
        <p:spPr>
          <a:xfrm>
            <a:off x="457200" y="2916936"/>
            <a:ext cx="2560320" cy="713232"/>
          </a:xfrm>
          <a:prstGeom prst="roundRect">
            <a:avLst>
              <a:gd name="adj" fmla="val 10256"/>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594360" y="2999232"/>
            <a:ext cx="914400" cy="548640"/>
          </a:xfrm>
          <a:prstGeom prst="rect">
            <a:avLst/>
          </a:prstGeom>
          <a:noFill/>
          <a:ln/>
        </p:spPr>
        <p:txBody>
          <a:bodyPr wrap="square" lIns="0" tIns="0" rIns="0" bIns="0" rtlCol="0" anchor="ctr"/>
          <a:lstStyle/>
          <a:p>
            <a:pPr indent="0" marL="0">
              <a:buNone/>
            </a:pPr>
            <a:r>
              <a:rPr lang="en-US" sz="2100" b="1" dirty="0">
                <a:solidFill>
                  <a:srgbClr val="4CC9F0"/>
                </a:solidFill>
                <a:latin typeface="Arial" pitchFamily="34" charset="0"/>
                <a:ea typeface="Arial" pitchFamily="34" charset="-122"/>
                <a:cs typeface="Arial" pitchFamily="34" charset="-120"/>
              </a:rPr>
              <a:t>12</a:t>
            </a:r>
            <a:endParaRPr lang="en-US" sz="2100" dirty="0"/>
          </a:p>
        </p:txBody>
      </p:sp>
      <p:sp>
        <p:nvSpPr>
          <p:cNvPr id="12" name="Text 10"/>
          <p:cNvSpPr/>
          <p:nvPr/>
        </p:nvSpPr>
        <p:spPr>
          <a:xfrm>
            <a:off x="1536192" y="2999232"/>
            <a:ext cx="1344168" cy="54864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태그: 노을</a:t>
            </a:r>
            <a:endParaRPr lang="en-US" sz="1150" dirty="0"/>
          </a:p>
        </p:txBody>
      </p:sp>
      <p:sp>
        <p:nvSpPr>
          <p:cNvPr id="13" name="Shape 11"/>
          <p:cNvSpPr/>
          <p:nvPr/>
        </p:nvSpPr>
        <p:spPr>
          <a:xfrm>
            <a:off x="457200" y="3758184"/>
            <a:ext cx="2148840" cy="713232"/>
          </a:xfrm>
          <a:prstGeom prst="roundRect">
            <a:avLst>
              <a:gd name="adj" fmla="val 10256"/>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594360" y="3840480"/>
            <a:ext cx="914400" cy="548640"/>
          </a:xfrm>
          <a:prstGeom prst="rect">
            <a:avLst/>
          </a:prstGeom>
          <a:noFill/>
          <a:ln/>
        </p:spPr>
        <p:txBody>
          <a:bodyPr wrap="square" lIns="0" tIns="0" rIns="0" bIns="0" rtlCol="0" anchor="ctr"/>
          <a:lstStyle/>
          <a:p>
            <a:pPr indent="0" marL="0">
              <a:buNone/>
            </a:pPr>
            <a:r>
              <a:rPr lang="en-US" sz="2100" b="1" dirty="0">
                <a:solidFill>
                  <a:srgbClr val="F72585"/>
                </a:solidFill>
                <a:latin typeface="Arial" pitchFamily="34" charset="0"/>
                <a:ea typeface="Arial" pitchFamily="34" charset="-122"/>
                <a:cs typeface="Arial" pitchFamily="34" charset="-120"/>
              </a:rPr>
              <a:t>5</a:t>
            </a:r>
            <a:endParaRPr lang="en-US" sz="2100" dirty="0"/>
          </a:p>
        </p:txBody>
      </p:sp>
      <p:sp>
        <p:nvSpPr>
          <p:cNvPr id="15" name="Text 13"/>
          <p:cNvSpPr/>
          <p:nvPr/>
        </p:nvSpPr>
        <p:spPr>
          <a:xfrm>
            <a:off x="1536192" y="3840480"/>
            <a:ext cx="932688" cy="548640"/>
          </a:xfrm>
          <a:prstGeom prst="rect">
            <a:avLst/>
          </a:prstGeom>
          <a:noFill/>
          <a:ln/>
        </p:spPr>
        <p:txBody>
          <a:bodyPr wrap="square" lIns="0" tIns="0" rIns="0" bIns="0" rtlCol="0" anchor="ctr"/>
          <a:lstStyle/>
          <a:p>
            <a:pPr indent="0" marL="0">
              <a:buNone/>
            </a:pPr>
            <a:r>
              <a:rPr lang="en-US" sz="1150" dirty="0">
                <a:solidFill>
                  <a:srgbClr val="F2F2F6"/>
                </a:solidFill>
                <a:latin typeface="Arial" pitchFamily="34" charset="0"/>
                <a:ea typeface="Arial" pitchFamily="34" charset="-122"/>
                <a:cs typeface="Arial" pitchFamily="34" charset="-120"/>
              </a:rPr>
              <a:t>다수결 상위</a:t>
            </a:r>
            <a:endParaRPr lang="en-US" sz="1150" dirty="0"/>
          </a:p>
        </p:txBody>
      </p:sp>
      <p:sp>
        <p:nvSpPr>
          <p:cNvPr id="16" name="Shape 14"/>
          <p:cNvSpPr/>
          <p:nvPr/>
        </p:nvSpPr>
        <p:spPr>
          <a:xfrm>
            <a:off x="4069080" y="1234440"/>
            <a:ext cx="4617720" cy="3291840"/>
          </a:xfrm>
          <a:prstGeom prst="roundRect">
            <a:avLst>
              <a:gd name="adj" fmla="val 2222"/>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4315968" y="1417320"/>
            <a:ext cx="4114800" cy="274320"/>
          </a:xfrm>
          <a:prstGeom prst="rect">
            <a:avLst/>
          </a:prstGeom>
          <a:noFill/>
          <a:ln/>
        </p:spPr>
        <p:txBody>
          <a:bodyPr wrap="square" lIns="0" tIns="0" rIns="0" bIns="0" rtlCol="0" anchor="ctr"/>
          <a:lstStyle/>
          <a:p>
            <a:pPr indent="0" marL="0">
              <a:buNone/>
            </a:pPr>
            <a:r>
              <a:rPr lang="en-US" sz="1300" b="1" dirty="0">
                <a:solidFill>
                  <a:srgbClr val="F72585"/>
                </a:solidFill>
                <a:latin typeface="Arial" pitchFamily="34" charset="0"/>
                <a:ea typeface="Arial" pitchFamily="34" charset="-122"/>
                <a:cs typeface="Arial" pitchFamily="34" charset="-120"/>
              </a:rPr>
              <a:t>최종 출력 예시</a:t>
            </a:r>
            <a:endParaRPr lang="en-US" sz="1300" dirty="0"/>
          </a:p>
        </p:txBody>
      </p:sp>
      <p:sp>
        <p:nvSpPr>
          <p:cNvPr id="18" name="Text 16"/>
          <p:cNvSpPr/>
          <p:nvPr/>
        </p:nvSpPr>
        <p:spPr>
          <a:xfrm>
            <a:off x="4315968" y="1783080"/>
            <a:ext cx="4160520" cy="2651760"/>
          </a:xfrm>
          <a:prstGeom prst="rect">
            <a:avLst/>
          </a:prstGeom>
          <a:noFill/>
          <a:ln/>
        </p:spPr>
        <p:txBody>
          <a:bodyPr wrap="square" rtlCol="0" anchor="ctr"/>
          <a:lstStyle/>
          <a:p>
            <a:pPr indent="0" marL="0">
              <a:spcAft>
                <a:spcPts val="800"/>
              </a:spcAft>
              <a:buNone/>
            </a:pPr>
            <a:r>
              <a:rPr lang="en-US" sz="1400" b="1" dirty="0">
                <a:solidFill>
                  <a:srgbClr val="F2F2F6"/>
                </a:solidFill>
                <a:latin typeface="Arial" pitchFamily="34" charset="0"/>
                <a:ea typeface="Arial" pitchFamily="34" charset="-122"/>
                <a:cs typeface="Arial" pitchFamily="34" charset="-120"/>
              </a:rPr>
              <a:t>카페한라 (애월) — 블로거 21명 언급</a:t>
            </a:r>
            <a:endParaRPr lang="en-US" sz="1250" dirty="0"/>
          </a:p>
          <a:p>
            <a:pPr indent="0" marL="0">
              <a:spcAft>
                <a:spcPts val="800"/>
              </a:spcAft>
              <a:buNone/>
            </a:pPr>
            <a:r>
              <a:rPr lang="en-US" sz="1250" i="1" dirty="0">
                <a:solidFill>
                  <a:srgbClr val="F2F2F6"/>
                </a:solidFill>
                <a:latin typeface="Arial" pitchFamily="34" charset="0"/>
                <a:ea typeface="Arial" pitchFamily="34" charset="-122"/>
                <a:cs typeface="Arial" pitchFamily="34" charset="-120"/>
              </a:rPr>
              <a:t>“창문 열면 바로 바다예요” — 블로그 원문</a:t>
            </a:r>
            <a:endParaRPr lang="en-US" sz="1250" dirty="0"/>
          </a:p>
          <a:p>
            <a:pPr indent="0" marL="0">
              <a:spcAft>
                <a:spcPts val="800"/>
              </a:spcAft>
              <a:buNone/>
            </a:pPr>
            <a:r>
              <a:rPr lang="en-US" sz="1250" dirty="0">
                <a:solidFill>
                  <a:srgbClr val="FBBF24"/>
                </a:solidFill>
                <a:latin typeface="Arial" pitchFamily="34" charset="0"/>
                <a:ea typeface="Arial" pitchFamily="34" charset="-122"/>
                <a:cs typeface="Arial" pitchFamily="34" charset="-120"/>
              </a:rPr>
              <a:t>단, 주차 불편이 리뷰 3건에서 반복</a:t>
            </a:r>
            <a:endParaRPr lang="en-US" sz="1250" dirty="0"/>
          </a:p>
          <a:p>
            <a:pPr indent="0" marL="0">
              <a:spcAft>
                <a:spcPts val="800"/>
              </a:spcAft>
              <a:buNone/>
            </a:pPr>
            <a:r>
              <a:rPr lang="en-US" sz="600" dirty="0">
                <a:solidFill>
                  <a:srgbClr val="F2F2F6"/>
                </a:solidFill>
                <a:latin typeface="Arial" pitchFamily="34" charset="0"/>
                <a:ea typeface="Arial" pitchFamily="34" charset="-122"/>
                <a:cs typeface="Arial" pitchFamily="34" charset="-120"/>
              </a:rPr>
              <a:t> </a:t>
            </a:r>
            <a:endParaRPr lang="en-US" sz="1250" dirty="0"/>
          </a:p>
          <a:p>
            <a:pPr indent="0" marL="0">
              <a:spcAft>
                <a:spcPts val="800"/>
              </a:spcAft>
              <a:buNone/>
            </a:pPr>
            <a:r>
              <a:rPr lang="en-US" sz="1100" b="1" dirty="0">
                <a:solidFill>
                  <a:srgbClr val="4CC9F0"/>
                </a:solidFill>
                <a:latin typeface="Arial" pitchFamily="34" charset="0"/>
                <a:ea typeface="Arial" pitchFamily="34" charset="-122"/>
                <a:cs typeface="Arial" pitchFamily="34" charset="-120"/>
              </a:rPr>
              <a:t>이렇게 찾았어요 ▾</a:t>
            </a:r>
            <a:endParaRPr lang="en-US" sz="1250" dirty="0"/>
          </a:p>
          <a:p>
            <a:pPr indent="0" marL="0">
              <a:spcAft>
                <a:spcPts val="800"/>
              </a:spcAft>
              <a:buNone/>
            </a:pPr>
            <a:r>
              <a:rPr lang="en-US" sz="1050" dirty="0">
                <a:solidFill>
                  <a:srgbClr val="9BA0B0"/>
                </a:solidFill>
                <a:latin typeface="Arial" pitchFamily="34" charset="0"/>
                <a:ea typeface="Arial" pitchFamily="34" charset="-122"/>
                <a:cs typeface="Arial" pitchFamily="34" charset="-120"/>
              </a:rPr>
              <a:t>“노을 보기 좋은” → 노을 태그로 해석 (확신도 0.87) · 1,064곳 중 애월 87곳, 노을 태그 12곳, 다수결 상위 5곳</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정직한 실패 — 없으면 없다고 말한다</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완화 사다리: 무엇을 양보했는지 라벨을 붙인 대안</a:t>
            </a:r>
            <a:endParaRPr lang="en-US" sz="1250" dirty="0"/>
          </a:p>
        </p:txBody>
      </p:sp>
      <p:sp>
        <p:nvSpPr>
          <p:cNvPr id="4" name="Shape 2"/>
          <p:cNvSpPr/>
          <p:nvPr/>
        </p:nvSpPr>
        <p:spPr>
          <a:xfrm>
            <a:off x="457200" y="1234440"/>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13232" y="1325880"/>
            <a:ext cx="2377440" cy="548640"/>
          </a:xfrm>
          <a:prstGeom prst="rect">
            <a:avLst/>
          </a:prstGeom>
          <a:noFill/>
          <a:ln/>
        </p:spPr>
        <p:txBody>
          <a:bodyPr wrap="square" lIns="0" tIns="0" rIns="0" bIns="0" rtlCol="0" anchor="ctr"/>
          <a:lstStyle/>
          <a:p>
            <a:pPr indent="0" marL="0">
              <a:buNone/>
            </a:pPr>
            <a:r>
              <a:rPr lang="en-US" sz="1350" b="1" dirty="0">
                <a:solidFill>
                  <a:srgbClr val="9BA0B0"/>
                </a:solidFill>
                <a:latin typeface="Arial" pitchFamily="34" charset="0"/>
                <a:ea typeface="Arial" pitchFamily="34" charset="-122"/>
                <a:cs typeface="Arial" pitchFamily="34" charset="-120"/>
              </a:rPr>
              <a:t>0건 발생</a:t>
            </a:r>
            <a:endParaRPr lang="en-US" sz="1350" dirty="0"/>
          </a:p>
        </p:txBody>
      </p:sp>
      <p:sp>
        <p:nvSpPr>
          <p:cNvPr id="6" name="Text 4"/>
          <p:cNvSpPr/>
          <p:nvPr/>
        </p:nvSpPr>
        <p:spPr>
          <a:xfrm>
            <a:off x="3200400" y="1325880"/>
            <a:ext cx="5303520" cy="548640"/>
          </a:xfrm>
          <a:prstGeom prst="rect">
            <a:avLst/>
          </a:prstGeom>
          <a:noFill/>
          <a:ln/>
        </p:spPr>
        <p:txBody>
          <a:bodyPr wrap="square" lIns="0" tIns="0" rIns="0" bIns="0" rtlCol="0" anchor="ctr"/>
          <a:lstStyle/>
          <a:p>
            <a:pPr indent="0" marL="0">
              <a:buNone/>
            </a:pPr>
            <a:r>
              <a:rPr lang="en-US" sz="1200" dirty="0">
                <a:solidFill>
                  <a:srgbClr val="F2F2F6"/>
                </a:solidFill>
                <a:latin typeface="Arial" pitchFamily="34" charset="0"/>
                <a:ea typeface="Arial" pitchFamily="34" charset="-122"/>
                <a:cs typeface="Arial" pitchFamily="34" charset="-120"/>
              </a:rPr>
              <a:t>“애월 + 노을 + 조용함” — 조건에 맞는 카페 없음</a:t>
            </a:r>
            <a:endParaRPr lang="en-US" sz="1200" dirty="0"/>
          </a:p>
        </p:txBody>
      </p:sp>
      <p:sp>
        <p:nvSpPr>
          <p:cNvPr id="7" name="Shape 5"/>
          <p:cNvSpPr/>
          <p:nvPr/>
        </p:nvSpPr>
        <p:spPr>
          <a:xfrm>
            <a:off x="457200" y="2093976"/>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713232" y="2185416"/>
            <a:ext cx="2377440" cy="548640"/>
          </a:xfrm>
          <a:prstGeom prst="rect">
            <a:avLst/>
          </a:prstGeom>
          <a:noFill/>
          <a:ln/>
        </p:spPr>
        <p:txBody>
          <a:bodyPr wrap="square" lIns="0" tIns="0" rIns="0" bIns="0" rtlCol="0" anchor="ctr"/>
          <a:lstStyle/>
          <a:p>
            <a:pPr indent="0" marL="0">
              <a:buNone/>
            </a:pPr>
            <a:r>
              <a:rPr lang="en-US" sz="1350" b="1" dirty="0">
                <a:solidFill>
                  <a:srgbClr val="4CC9F0"/>
                </a:solidFill>
                <a:latin typeface="Arial" pitchFamily="34" charset="0"/>
                <a:ea typeface="Arial" pitchFamily="34" charset="-122"/>
                <a:cs typeface="Arial" pitchFamily="34" charset="-120"/>
              </a:rPr>
              <a:t>1단: 소프트조건 완화</a:t>
            </a:r>
            <a:endParaRPr lang="en-US" sz="1350" dirty="0"/>
          </a:p>
        </p:txBody>
      </p:sp>
      <p:sp>
        <p:nvSpPr>
          <p:cNvPr id="9" name="Text 7"/>
          <p:cNvSpPr/>
          <p:nvPr/>
        </p:nvSpPr>
        <p:spPr>
          <a:xfrm>
            <a:off x="3200400" y="2185416"/>
            <a:ext cx="5303520" cy="548640"/>
          </a:xfrm>
          <a:prstGeom prst="rect">
            <a:avLst/>
          </a:prstGeom>
          <a:noFill/>
          <a:ln/>
        </p:spPr>
        <p:txBody>
          <a:bodyPr wrap="square" lIns="0" tIns="0" rIns="0" bIns="0" rtlCol="0" anchor="ctr"/>
          <a:lstStyle/>
          <a:p>
            <a:pPr indent="0" marL="0">
              <a:buNone/>
            </a:pPr>
            <a:r>
              <a:rPr lang="en-US" sz="1200" dirty="0">
                <a:solidFill>
                  <a:srgbClr val="F2F2F6"/>
                </a:solidFill>
                <a:latin typeface="Arial" pitchFamily="34" charset="0"/>
                <a:ea typeface="Arial" pitchFamily="34" charset="-122"/>
                <a:cs typeface="Arial" pitchFamily="34" charset="-120"/>
              </a:rPr>
              <a:t>확신 낮은 조건부터 하나 제거 → “조용함 조건을 빼고 찾았어요” (12곳)</a:t>
            </a:r>
            <a:endParaRPr lang="en-US" sz="1200" dirty="0"/>
          </a:p>
        </p:txBody>
      </p:sp>
      <p:sp>
        <p:nvSpPr>
          <p:cNvPr id="10" name="Shape 8"/>
          <p:cNvSpPr/>
          <p:nvPr/>
        </p:nvSpPr>
        <p:spPr>
          <a:xfrm>
            <a:off x="457200" y="2953512"/>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713232" y="3044952"/>
            <a:ext cx="2377440" cy="548640"/>
          </a:xfrm>
          <a:prstGeom prst="rect">
            <a:avLst/>
          </a:prstGeom>
          <a:noFill/>
          <a:ln/>
        </p:spPr>
        <p:txBody>
          <a:bodyPr wrap="square" lIns="0" tIns="0" rIns="0" bIns="0" rtlCol="0" anchor="ctr"/>
          <a:lstStyle/>
          <a:p>
            <a:pPr indent="0" marL="0">
              <a:buNone/>
            </a:pPr>
            <a:r>
              <a:rPr lang="en-US" sz="1350" b="1" dirty="0">
                <a:solidFill>
                  <a:srgbClr val="4CC9F0"/>
                </a:solidFill>
                <a:latin typeface="Arial" pitchFamily="34" charset="0"/>
                <a:ea typeface="Arial" pitchFamily="34" charset="-122"/>
                <a:cs typeface="Arial" pitchFamily="34" charset="-120"/>
              </a:rPr>
              <a:t>2단: 인접 지역 확장</a:t>
            </a:r>
            <a:endParaRPr lang="en-US" sz="1350" dirty="0"/>
          </a:p>
        </p:txBody>
      </p:sp>
      <p:sp>
        <p:nvSpPr>
          <p:cNvPr id="12" name="Text 10"/>
          <p:cNvSpPr/>
          <p:nvPr/>
        </p:nvSpPr>
        <p:spPr>
          <a:xfrm>
            <a:off x="3200400" y="3044952"/>
            <a:ext cx="5303520" cy="548640"/>
          </a:xfrm>
          <a:prstGeom prst="rect">
            <a:avLst/>
          </a:prstGeom>
          <a:noFill/>
          <a:ln/>
        </p:spPr>
        <p:txBody>
          <a:bodyPr wrap="square" lIns="0" tIns="0" rIns="0" bIns="0" rtlCol="0" anchor="ctr"/>
          <a:lstStyle/>
          <a:p>
            <a:pPr indent="0" marL="0">
              <a:buNone/>
            </a:pPr>
            <a:r>
              <a:rPr lang="en-US" sz="1200" dirty="0">
                <a:solidFill>
                  <a:srgbClr val="F2F2F6"/>
                </a:solidFill>
                <a:latin typeface="Arial" pitchFamily="34" charset="0"/>
                <a:ea typeface="Arial" pitchFamily="34" charset="-122"/>
                <a:cs typeface="Arial" pitchFamily="34" charset="-120"/>
              </a:rPr>
              <a:t>“애월엔 없지만 옆 동네 한림에 2곳 있어요” — 확장 사실 명시</a:t>
            </a:r>
            <a:endParaRPr lang="en-US" sz="1200" dirty="0"/>
          </a:p>
        </p:txBody>
      </p:sp>
      <p:sp>
        <p:nvSpPr>
          <p:cNvPr id="13" name="Shape 11"/>
          <p:cNvSpPr/>
          <p:nvPr/>
        </p:nvSpPr>
        <p:spPr>
          <a:xfrm>
            <a:off x="457200" y="3813048"/>
            <a:ext cx="8229600" cy="731520"/>
          </a:xfrm>
          <a:prstGeom prst="roundRect">
            <a:avLst>
              <a:gd name="adj" fmla="val 10000"/>
            </a:avLst>
          </a:prstGeom>
          <a:solidFill>
            <a:srgbClr val="232334"/>
          </a:solidFill>
          <a:ln w="12700">
            <a:solidFill>
              <a:srgbClr val="232334"/>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713232" y="3904488"/>
            <a:ext cx="2377440" cy="548640"/>
          </a:xfrm>
          <a:prstGeom prst="rect">
            <a:avLst/>
          </a:prstGeom>
          <a:noFill/>
          <a:ln/>
        </p:spPr>
        <p:txBody>
          <a:bodyPr wrap="square" lIns="0" tIns="0" rIns="0" bIns="0" rtlCol="0" anchor="ctr"/>
          <a:lstStyle/>
          <a:p>
            <a:pPr indent="0" marL="0">
              <a:buNone/>
            </a:pPr>
            <a:r>
              <a:rPr lang="en-US" sz="1350" b="1" dirty="0">
                <a:solidFill>
                  <a:srgbClr val="F72585"/>
                </a:solidFill>
                <a:latin typeface="Arial" pitchFamily="34" charset="0"/>
                <a:ea typeface="Arial" pitchFamily="34" charset="-122"/>
                <a:cs typeface="Arial" pitchFamily="34" charset="-120"/>
              </a:rPr>
              <a:t>하드조건은 절대 불가침</a:t>
            </a:r>
            <a:endParaRPr lang="en-US" sz="1350" dirty="0"/>
          </a:p>
        </p:txBody>
      </p:sp>
      <p:sp>
        <p:nvSpPr>
          <p:cNvPr id="15" name="Text 13"/>
          <p:cNvSpPr/>
          <p:nvPr/>
        </p:nvSpPr>
        <p:spPr>
          <a:xfrm>
            <a:off x="3200400" y="3904488"/>
            <a:ext cx="5303520" cy="548640"/>
          </a:xfrm>
          <a:prstGeom prst="rect">
            <a:avLst/>
          </a:prstGeom>
          <a:noFill/>
          <a:ln/>
        </p:spPr>
        <p:txBody>
          <a:bodyPr wrap="square" lIns="0" tIns="0" rIns="0" bIns="0" rtlCol="0" anchor="ctr"/>
          <a:lstStyle/>
          <a:p>
            <a:pPr indent="0" marL="0">
              <a:buNone/>
            </a:pPr>
            <a:r>
              <a:rPr lang="en-US" sz="1200" dirty="0">
                <a:solidFill>
                  <a:srgbClr val="F2F2F6"/>
                </a:solidFill>
                <a:latin typeface="Arial" pitchFamily="34" charset="0"/>
                <a:ea typeface="Arial" pitchFamily="34" charset="-122"/>
                <a:cs typeface="Arial" pitchFamily="34" charset="-120"/>
              </a:rPr>
              <a:t>애견동반 필수인 사람에게 동반 불가 카페를 대안이라 주지 않는다</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논쟁 대신 실험 — 설계를 실측으로 결정</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회의 열 번보다 실험 세 번</a:t>
            </a:r>
            <a:endParaRPr lang="en-US" sz="1250" dirty="0"/>
          </a:p>
        </p:txBody>
      </p:sp>
      <p:sp>
        <p:nvSpPr>
          <p:cNvPr id="4" name="Shape 2"/>
          <p:cNvSpPr/>
          <p:nvPr/>
        </p:nvSpPr>
        <p:spPr>
          <a:xfrm>
            <a:off x="457200" y="1234440"/>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713232" y="1435608"/>
            <a:ext cx="329184" cy="329184"/>
          </a:xfrm>
          <a:prstGeom prst="rect">
            <a:avLst/>
          </a:prstGeom>
        </p:spPr>
      </p:pic>
      <p:sp>
        <p:nvSpPr>
          <p:cNvPr id="6" name="Text 3"/>
          <p:cNvSpPr/>
          <p:nvPr/>
        </p:nvSpPr>
        <p:spPr>
          <a:xfrm>
            <a:off x="1234440" y="1325880"/>
            <a:ext cx="2834640" cy="548640"/>
          </a:xfrm>
          <a:prstGeom prst="rect">
            <a:avLst/>
          </a:prstGeom>
          <a:noFill/>
          <a:ln/>
        </p:spPr>
        <p:txBody>
          <a:bodyPr wrap="square" lIns="0" tIns="0" rIns="0" bIns="0" rtlCol="0" anchor="ctr"/>
          <a:lstStyle/>
          <a:p>
            <a:pPr indent="0" marL="0">
              <a:buNone/>
            </a:pPr>
            <a:r>
              <a:rPr lang="en-US" sz="1250" b="1" dirty="0">
                <a:solidFill>
                  <a:srgbClr val="F2F2F6"/>
                </a:solidFill>
                <a:latin typeface="Arial" pitchFamily="34" charset="0"/>
                <a:ea typeface="Arial" pitchFamily="34" charset="-122"/>
                <a:cs typeface="Arial" pitchFamily="34" charset="-120"/>
              </a:rPr>
              <a:t>임베딩 텍스트 비교 (3~4자)</a:t>
            </a:r>
            <a:endParaRPr lang="en-US" sz="1250" dirty="0"/>
          </a:p>
        </p:txBody>
      </p:sp>
      <p:sp>
        <p:nvSpPr>
          <p:cNvPr id="7" name="Text 4"/>
          <p:cNvSpPr/>
          <p:nvPr/>
        </p:nvSpPr>
        <p:spPr>
          <a:xfrm>
            <a:off x="4160520" y="1325880"/>
            <a:ext cx="4343400" cy="548640"/>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자연어 요약 vs 구조화 프로필 → 자연어 5승. 태그 나열은 임베딩에서 진다</a:t>
            </a:r>
            <a:endParaRPr lang="en-US" sz="1100" dirty="0"/>
          </a:p>
        </p:txBody>
      </p:sp>
      <p:sp>
        <p:nvSpPr>
          <p:cNvPr id="8" name="Shape 5"/>
          <p:cNvSpPr/>
          <p:nvPr/>
        </p:nvSpPr>
        <p:spPr>
          <a:xfrm>
            <a:off x="457200" y="2093976"/>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713232" y="2295144"/>
            <a:ext cx="329184" cy="329184"/>
          </a:xfrm>
          <a:prstGeom prst="rect">
            <a:avLst/>
          </a:prstGeom>
        </p:spPr>
      </p:pic>
      <p:sp>
        <p:nvSpPr>
          <p:cNvPr id="10" name="Text 6"/>
          <p:cNvSpPr/>
          <p:nvPr/>
        </p:nvSpPr>
        <p:spPr>
          <a:xfrm>
            <a:off x="1234440" y="2185416"/>
            <a:ext cx="2834640" cy="548640"/>
          </a:xfrm>
          <a:prstGeom prst="rect">
            <a:avLst/>
          </a:prstGeom>
          <a:noFill/>
          <a:ln/>
        </p:spPr>
        <p:txBody>
          <a:bodyPr wrap="square" lIns="0" tIns="0" rIns="0" bIns="0" rtlCol="0" anchor="ctr"/>
          <a:lstStyle/>
          <a:p>
            <a:pPr indent="0" marL="0">
              <a:buNone/>
            </a:pPr>
            <a:r>
              <a:rPr lang="en-US" sz="1250" b="1" dirty="0">
                <a:solidFill>
                  <a:srgbClr val="F2F2F6"/>
                </a:solidFill>
                <a:latin typeface="Arial" pitchFamily="34" charset="0"/>
                <a:ea typeface="Arial" pitchFamily="34" charset="-122"/>
                <a:cs typeface="Arial" pitchFamily="34" charset="-120"/>
              </a:rPr>
              <a:t>지역 라벨 검증</a:t>
            </a:r>
            <a:endParaRPr lang="en-US" sz="1250" dirty="0"/>
          </a:p>
        </p:txBody>
      </p:sp>
      <p:sp>
        <p:nvSpPr>
          <p:cNvPr id="11" name="Text 7"/>
          <p:cNvSpPr/>
          <p:nvPr/>
        </p:nvSpPr>
        <p:spPr>
          <a:xfrm>
            <a:off x="4160520" y="2185416"/>
            <a:ext cx="4343400" cy="548640"/>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LLM 추측 오염 24.6% 실측 → 전량 폐기, 주소 유도로 교체</a:t>
            </a:r>
            <a:endParaRPr lang="en-US" sz="1100" dirty="0"/>
          </a:p>
        </p:txBody>
      </p:sp>
      <p:sp>
        <p:nvSpPr>
          <p:cNvPr id="12" name="Shape 8"/>
          <p:cNvSpPr/>
          <p:nvPr/>
        </p:nvSpPr>
        <p:spPr>
          <a:xfrm>
            <a:off x="457200" y="2953512"/>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713232" y="3154680"/>
            <a:ext cx="329184" cy="329184"/>
          </a:xfrm>
          <a:prstGeom prst="rect">
            <a:avLst/>
          </a:prstGeom>
        </p:spPr>
      </p:pic>
      <p:sp>
        <p:nvSpPr>
          <p:cNvPr id="14" name="Text 9"/>
          <p:cNvSpPr/>
          <p:nvPr/>
        </p:nvSpPr>
        <p:spPr>
          <a:xfrm>
            <a:off x="1234440" y="3044952"/>
            <a:ext cx="2834640" cy="548640"/>
          </a:xfrm>
          <a:prstGeom prst="rect">
            <a:avLst/>
          </a:prstGeom>
          <a:noFill/>
          <a:ln/>
        </p:spPr>
        <p:txBody>
          <a:bodyPr wrap="square" lIns="0" tIns="0" rIns="0" bIns="0" rtlCol="0" anchor="ctr"/>
          <a:lstStyle/>
          <a:p>
            <a:pPr indent="0" marL="0">
              <a:buNone/>
            </a:pPr>
            <a:r>
              <a:rPr lang="en-US" sz="1250" b="1" dirty="0">
                <a:solidFill>
                  <a:srgbClr val="F2F2F6"/>
                </a:solidFill>
                <a:latin typeface="Arial" pitchFamily="34" charset="0"/>
                <a:ea typeface="Arial" pitchFamily="34" charset="-122"/>
                <a:cs typeface="Arial" pitchFamily="34" charset="-120"/>
              </a:rPr>
              <a:t>동료 데이터 시드 평가</a:t>
            </a:r>
            <a:endParaRPr lang="en-US" sz="1250" dirty="0"/>
          </a:p>
        </p:txBody>
      </p:sp>
      <p:sp>
        <p:nvSpPr>
          <p:cNvPr id="15" name="Text 10"/>
          <p:cNvSpPr/>
          <p:nvPr/>
        </p:nvSpPr>
        <p:spPr>
          <a:xfrm>
            <a:off x="4160520" y="3044952"/>
            <a:ext cx="4343400" cy="548640"/>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지역 정합 18/20 vs 11/20 → 키워드 스팸은 임베딩 배제, 라벨층에만 이식</a:t>
            </a:r>
            <a:endParaRPr lang="en-US" sz="1100" dirty="0"/>
          </a:p>
        </p:txBody>
      </p:sp>
      <p:sp>
        <p:nvSpPr>
          <p:cNvPr id="16" name="Shape 11"/>
          <p:cNvSpPr/>
          <p:nvPr/>
        </p:nvSpPr>
        <p:spPr>
          <a:xfrm>
            <a:off x="457200" y="3813048"/>
            <a:ext cx="8229600" cy="731520"/>
          </a:xfrm>
          <a:prstGeom prst="roundRect">
            <a:avLst>
              <a:gd name="adj" fmla="val 1000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713232" y="4014216"/>
            <a:ext cx="329184" cy="329184"/>
          </a:xfrm>
          <a:prstGeom prst="rect">
            <a:avLst/>
          </a:prstGeom>
        </p:spPr>
      </p:pic>
      <p:sp>
        <p:nvSpPr>
          <p:cNvPr id="18" name="Text 12"/>
          <p:cNvSpPr/>
          <p:nvPr/>
        </p:nvSpPr>
        <p:spPr>
          <a:xfrm>
            <a:off x="1234440" y="3904488"/>
            <a:ext cx="2834640" cy="548640"/>
          </a:xfrm>
          <a:prstGeom prst="rect">
            <a:avLst/>
          </a:prstGeom>
          <a:noFill/>
          <a:ln/>
        </p:spPr>
        <p:txBody>
          <a:bodyPr wrap="square" lIns="0" tIns="0" rIns="0" bIns="0" rtlCol="0" anchor="ctr"/>
          <a:lstStyle/>
          <a:p>
            <a:pPr indent="0" marL="0">
              <a:buNone/>
            </a:pPr>
            <a:r>
              <a:rPr lang="en-US" sz="1250" b="1" dirty="0">
                <a:solidFill>
                  <a:srgbClr val="F2F2F6"/>
                </a:solidFill>
                <a:latin typeface="Arial" pitchFamily="34" charset="0"/>
                <a:ea typeface="Arial" pitchFamily="34" charset="-122"/>
                <a:cs typeface="Arial" pitchFamily="34" charset="-120"/>
              </a:rPr>
              <a:t>극성 분리 파일럿 (75건)</a:t>
            </a:r>
            <a:endParaRPr lang="en-US" sz="1250" dirty="0"/>
          </a:p>
        </p:txBody>
      </p:sp>
      <p:sp>
        <p:nvSpPr>
          <p:cNvPr id="19" name="Text 13"/>
          <p:cNvSpPr/>
          <p:nvPr/>
        </p:nvSpPr>
        <p:spPr>
          <a:xfrm>
            <a:off x="4160520" y="3904488"/>
            <a:ext cx="4343400" cy="548640"/>
          </a:xfrm>
          <a:prstGeom prst="rect">
            <a:avLst/>
          </a:prstGeom>
          <a:noFill/>
          <a:ln/>
        </p:spPr>
        <p:txBody>
          <a:bodyPr wrap="square" lIns="0" tIns="0" rIns="0" bIns="0" rtlCol="0" anchor="ctr"/>
          <a:lstStyle/>
          <a:p>
            <a:pPr indent="0" marL="0">
              <a:buNone/>
            </a:pPr>
            <a:r>
              <a:rPr lang="en-US" sz="1100" dirty="0">
                <a:solidFill>
                  <a:srgbClr val="9BA0B0"/>
                </a:solidFill>
                <a:latin typeface="Arial" pitchFamily="34" charset="0"/>
                <a:ea typeface="Arial" pitchFamily="34" charset="-122"/>
                <a:cs typeface="Arial" pitchFamily="34" charset="-120"/>
              </a:rPr>
              <a:t>가십·반어 밈 등 오염 4유형 실측 → 프롬프트에 반영 후 전량 진행</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31B"/>
        </a:solidFill>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lIns="0" tIns="0" rIns="0" bIns="0" rtlCol="0" anchor="ctr"/>
          <a:lstStyle/>
          <a:p>
            <a:pPr indent="0" marL="0">
              <a:buNone/>
            </a:pPr>
            <a:r>
              <a:rPr lang="en-US" sz="2700" b="1" dirty="0">
                <a:solidFill>
                  <a:srgbClr val="F2F2F6"/>
                </a:solidFill>
                <a:latin typeface="Arial" pitchFamily="34" charset="0"/>
                <a:ea typeface="Arial" pitchFamily="34" charset="-122"/>
                <a:cs typeface="Arial" pitchFamily="34" charset="-120"/>
              </a:rPr>
              <a:t>현재 상태와 로드맵</a:t>
            </a:r>
            <a:endParaRPr lang="en-US" sz="2700" dirty="0"/>
          </a:p>
        </p:txBody>
      </p:sp>
      <p:sp>
        <p:nvSpPr>
          <p:cNvPr id="3" name="Text 1"/>
          <p:cNvSpPr/>
          <p:nvPr/>
        </p:nvSpPr>
        <p:spPr>
          <a:xfrm>
            <a:off x="457200" y="786384"/>
            <a:ext cx="8229600" cy="274320"/>
          </a:xfrm>
          <a:prstGeom prst="rect">
            <a:avLst/>
          </a:prstGeom>
          <a:noFill/>
          <a:ln/>
        </p:spPr>
        <p:txBody>
          <a:bodyPr wrap="square" lIns="0" tIns="0" rIns="0" bIns="0" rtlCol="0" anchor="ctr"/>
          <a:lstStyle/>
          <a:p>
            <a:pPr indent="0" marL="0">
              <a:buNone/>
            </a:pPr>
            <a:r>
              <a:rPr lang="en-US" sz="1250" dirty="0">
                <a:solidFill>
                  <a:srgbClr val="9BA0B0"/>
                </a:solidFill>
                <a:latin typeface="Arial" pitchFamily="34" charset="0"/>
                <a:ea typeface="Arial" pitchFamily="34" charset="-122"/>
                <a:cs typeface="Arial" pitchFamily="34" charset="-120"/>
              </a:rPr>
              <a:t>완료 / 진행 중 / 예정 — 구분은 정직하게</a:t>
            </a:r>
            <a:endParaRPr lang="en-US" sz="1250" dirty="0"/>
          </a:p>
        </p:txBody>
      </p:sp>
      <p:sp>
        <p:nvSpPr>
          <p:cNvPr id="4" name="Shape 2"/>
          <p:cNvSpPr/>
          <p:nvPr/>
        </p:nvSpPr>
        <p:spPr>
          <a:xfrm>
            <a:off x="457200" y="1234440"/>
            <a:ext cx="2670048" cy="3291840"/>
          </a:xfrm>
          <a:prstGeom prst="roundRect">
            <a:avLst>
              <a:gd name="adj" fmla="val 274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676656" y="1417320"/>
            <a:ext cx="2194560" cy="320040"/>
          </a:xfrm>
          <a:prstGeom prst="rect">
            <a:avLst/>
          </a:prstGeom>
          <a:noFill/>
          <a:ln/>
        </p:spPr>
        <p:txBody>
          <a:bodyPr wrap="square" lIns="0" tIns="0" rIns="0" bIns="0" rtlCol="0" anchor="ctr"/>
          <a:lstStyle/>
          <a:p>
            <a:pPr indent="0" marL="0">
              <a:buNone/>
            </a:pPr>
            <a:r>
              <a:rPr lang="en-US" sz="1600" b="1" dirty="0">
                <a:solidFill>
                  <a:srgbClr val="34D399"/>
                </a:solidFill>
                <a:latin typeface="Arial" pitchFamily="34" charset="0"/>
                <a:ea typeface="Arial" pitchFamily="34" charset="-122"/>
                <a:cs typeface="Arial" pitchFamily="34" charset="-120"/>
              </a:rPr>
              <a:t>완료</a:t>
            </a:r>
            <a:endParaRPr lang="en-US" sz="1600" dirty="0"/>
          </a:p>
        </p:txBody>
      </p:sp>
      <p:sp>
        <p:nvSpPr>
          <p:cNvPr id="6" name="Text 4"/>
          <p:cNvSpPr/>
          <p:nvPr/>
        </p:nvSpPr>
        <p:spPr>
          <a:xfrm>
            <a:off x="676656" y="1828800"/>
            <a:ext cx="2286000" cy="2560320"/>
          </a:xfrm>
          <a:prstGeom prst="rect">
            <a:avLst/>
          </a:prstGeom>
          <a:noFill/>
          <a:ln/>
        </p:spPr>
        <p:txBody>
          <a:bodyPr wrap="square" rtlCol="0" anchor="t"/>
          <a:lstStyle/>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수집·정제·실존 판정</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지역 정본화 (880곳)</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place_id 787 · 중복 해소</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검색 3분기 + 근거 원문 인용</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극성 분리 파일럿 (검증 실패 0)</a:t>
            </a:r>
            <a:endParaRPr lang="en-US" sz="1100" dirty="0"/>
          </a:p>
        </p:txBody>
      </p:sp>
      <p:sp>
        <p:nvSpPr>
          <p:cNvPr id="7" name="Shape 5"/>
          <p:cNvSpPr/>
          <p:nvPr/>
        </p:nvSpPr>
        <p:spPr>
          <a:xfrm>
            <a:off x="3310128" y="1234440"/>
            <a:ext cx="2670048" cy="3291840"/>
          </a:xfrm>
          <a:prstGeom prst="roundRect">
            <a:avLst>
              <a:gd name="adj" fmla="val 274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3529584" y="1417320"/>
            <a:ext cx="2194560" cy="320040"/>
          </a:xfrm>
          <a:prstGeom prst="rect">
            <a:avLst/>
          </a:prstGeom>
          <a:noFill/>
          <a:ln/>
        </p:spPr>
        <p:txBody>
          <a:bodyPr wrap="square" lIns="0" tIns="0" rIns="0" bIns="0" rtlCol="0" anchor="ctr"/>
          <a:lstStyle/>
          <a:p>
            <a:pPr indent="0" marL="0">
              <a:buNone/>
            </a:pPr>
            <a:r>
              <a:rPr lang="en-US" sz="1600" b="1" dirty="0">
                <a:solidFill>
                  <a:srgbClr val="FBBF24"/>
                </a:solidFill>
                <a:latin typeface="Arial" pitchFamily="34" charset="0"/>
                <a:ea typeface="Arial" pitchFamily="34" charset="-122"/>
                <a:cs typeface="Arial" pitchFamily="34" charset="-120"/>
              </a:rPr>
              <a:t>진행 중</a:t>
            </a:r>
            <a:endParaRPr lang="en-US" sz="1600" dirty="0"/>
          </a:p>
        </p:txBody>
      </p:sp>
      <p:sp>
        <p:nvSpPr>
          <p:cNvPr id="9" name="Text 7"/>
          <p:cNvSpPr/>
          <p:nvPr/>
        </p:nvSpPr>
        <p:spPr>
          <a:xfrm>
            <a:off x="3529584" y="1828800"/>
            <a:ext cx="2286000" cy="2560320"/>
          </a:xfrm>
          <a:prstGeom prst="rect">
            <a:avLst/>
          </a:prstGeom>
          <a:noFill/>
          <a:ln/>
        </p:spPr>
        <p:txBody>
          <a:bodyPr wrap="square" rtlCol="0" anchor="t"/>
          <a:lstStyle/>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정본 병합 → cards.json</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재임베딩 · 서버 결정론화</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태그 사전 v2 + 번역기</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극성 분리 전량 배치</a:t>
            </a:r>
            <a:endParaRPr lang="en-US" sz="1100" dirty="0"/>
          </a:p>
        </p:txBody>
      </p:sp>
      <p:sp>
        <p:nvSpPr>
          <p:cNvPr id="10" name="Shape 8"/>
          <p:cNvSpPr/>
          <p:nvPr/>
        </p:nvSpPr>
        <p:spPr>
          <a:xfrm>
            <a:off x="6163056" y="1234440"/>
            <a:ext cx="2670048" cy="3291840"/>
          </a:xfrm>
          <a:prstGeom prst="roundRect">
            <a:avLst>
              <a:gd name="adj" fmla="val 2740"/>
            </a:avLst>
          </a:prstGeom>
          <a:solidFill>
            <a:srgbClr val="1D1D29"/>
          </a:solidFill>
          <a:ln w="12700">
            <a:solidFill>
              <a:srgbClr val="1D1D29"/>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6382512" y="1417320"/>
            <a:ext cx="2194560" cy="320040"/>
          </a:xfrm>
          <a:prstGeom prst="rect">
            <a:avLst/>
          </a:prstGeom>
          <a:noFill/>
          <a:ln/>
        </p:spPr>
        <p:txBody>
          <a:bodyPr wrap="square" lIns="0" tIns="0" rIns="0" bIns="0" rtlCol="0" anchor="ctr"/>
          <a:lstStyle/>
          <a:p>
            <a:pPr indent="0" marL="0">
              <a:buNone/>
            </a:pPr>
            <a:r>
              <a:rPr lang="en-US" sz="1600" b="1" dirty="0">
                <a:solidFill>
                  <a:srgbClr val="4CC9F0"/>
                </a:solidFill>
                <a:latin typeface="Arial" pitchFamily="34" charset="0"/>
                <a:ea typeface="Arial" pitchFamily="34" charset="-122"/>
                <a:cs typeface="Arial" pitchFamily="34" charset="-120"/>
              </a:rPr>
              <a:t>예정</a:t>
            </a:r>
            <a:endParaRPr lang="en-US" sz="1600" dirty="0"/>
          </a:p>
        </p:txBody>
      </p:sp>
      <p:sp>
        <p:nvSpPr>
          <p:cNvPr id="12" name="Text 10"/>
          <p:cNvSpPr/>
          <p:nvPr/>
        </p:nvSpPr>
        <p:spPr>
          <a:xfrm>
            <a:off x="6382512" y="1828800"/>
            <a:ext cx="2286000" cy="2560320"/>
          </a:xfrm>
          <a:prstGeom prst="rect">
            <a:avLst/>
          </a:prstGeom>
          <a:noFill/>
          <a:ln/>
        </p:spPr>
        <p:txBody>
          <a:bodyPr wrap="square" rtlCol="0" anchor="t"/>
          <a:lstStyle/>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의도 분석 LLM 승계</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완화 사다리 · 종합 모듈</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LangGraph 조립 + /trace</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골든셋 평가 (Hit@5)</a:t>
            </a:r>
            <a:endParaRPr lang="en-US" sz="1100" dirty="0"/>
          </a:p>
          <a:p>
            <a:pPr marL="342900" indent="-342900">
              <a:spcAft>
                <a:spcPts val="800"/>
              </a:spcAft>
              <a:buSzPct val="100000"/>
              <a:buChar char="•"/>
            </a:pPr>
            <a:r>
              <a:rPr lang="en-US" sz="1100" dirty="0">
                <a:solidFill>
                  <a:srgbClr val="F2F2F6"/>
                </a:solidFill>
                <a:latin typeface="Arial" pitchFamily="34" charset="0"/>
                <a:ea typeface="Arial" pitchFamily="34" charset="-122"/>
                <a:cs typeface="Arial" pitchFamily="34" charset="-120"/>
              </a:rPr>
              <a:t>프론트 근거 두 칸 표시</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31B"/>
        </a:solidFill>
      </p:bgPr>
    </p:bg>
    <p:spTree>
      <p:nvGrpSpPr>
        <p:cNvPr id="1" name=""/>
        <p:cNvGrpSpPr/>
        <p:nvPr/>
      </p:nvGrpSpPr>
      <p:grpSpPr>
        <a:xfrm>
          <a:off x="0" y="0"/>
          <a:ext cx="0" cy="0"/>
          <a:chOff x="0" y="0"/>
          <a:chExt cx="0" cy="0"/>
        </a:xfrm>
      </p:grpSpPr>
      <p:sp>
        <p:nvSpPr>
          <p:cNvPr id="2" name="Shape 0"/>
          <p:cNvSpPr/>
          <p:nvPr/>
        </p:nvSpPr>
        <p:spPr>
          <a:xfrm>
            <a:off x="-1097280" y="-1280160"/>
            <a:ext cx="3108960" cy="3108960"/>
          </a:xfrm>
          <a:prstGeom prst="ellipse">
            <a:avLst/>
          </a:prstGeom>
          <a:solidFill>
            <a:srgbClr val="4CC9F0">
              <a:alpha val="15000"/>
            </a:srgbClr>
          </a:solidFill>
          <a:ln w="12700">
            <a:solidFill>
              <a:srgbClr val="13131B"/>
            </a:solidFill>
            <a:prstDash val="solid"/>
          </a:ln>
        </p:spPr>
      </p:sp>
      <p:sp>
        <p:nvSpPr>
          <p:cNvPr id="3" name="Shape 1"/>
          <p:cNvSpPr/>
          <p:nvPr/>
        </p:nvSpPr>
        <p:spPr>
          <a:xfrm>
            <a:off x="7498080" y="3383280"/>
            <a:ext cx="3017520" cy="3017520"/>
          </a:xfrm>
          <a:prstGeom prst="ellipse">
            <a:avLst/>
          </a:prstGeom>
          <a:solidFill>
            <a:srgbClr val="F72585">
              <a:alpha val="18000"/>
            </a:srgbClr>
          </a:solidFill>
          <a:ln w="12700">
            <a:solidFill>
              <a:srgbClr val="13131B"/>
            </a:solidFill>
            <a:prstDash val="solid"/>
          </a:ln>
        </p:spPr>
      </p:sp>
      <p:sp>
        <p:nvSpPr>
          <p:cNvPr id="4" name="Text 2"/>
          <p:cNvSpPr/>
          <p:nvPr/>
        </p:nvSpPr>
        <p:spPr>
          <a:xfrm>
            <a:off x="640080" y="1554480"/>
            <a:ext cx="7863840" cy="1554480"/>
          </a:xfrm>
          <a:prstGeom prst="rect">
            <a:avLst/>
          </a:prstGeom>
          <a:noFill/>
          <a:ln/>
        </p:spPr>
        <p:txBody>
          <a:bodyPr wrap="square" lIns="0" tIns="0" rIns="0" bIns="0" rtlCol="0" anchor="ctr"/>
          <a:lstStyle/>
          <a:p>
            <a:pPr algn="ctr" indent="0" marL="0">
              <a:buNone/>
            </a:pPr>
            <a:r>
              <a:rPr lang="en-US" sz="3600" b="1" dirty="0">
                <a:solidFill>
                  <a:srgbClr val="F2F2F6"/>
                </a:solidFill>
                <a:latin typeface="Arial" pitchFamily="34" charset="0"/>
                <a:ea typeface="Arial" pitchFamily="34" charset="-122"/>
                <a:cs typeface="Arial" pitchFamily="34" charset="-120"/>
              </a:rPr>
              <a:t>임베딩은 번역하고,</a:t>
            </a:r>
            <a:endParaRPr lang="en-US" sz="3600" dirty="0"/>
          </a:p>
          <a:p>
            <a:pPr algn="ctr" indent="0" marL="0">
              <a:buNone/>
            </a:pPr>
            <a:r>
              <a:rPr lang="en-US" sz="3600" b="1" dirty="0">
                <a:solidFill>
                  <a:srgbClr val="F2F2F6"/>
                </a:solidFill>
                <a:latin typeface="Arial" pitchFamily="34" charset="0"/>
                <a:ea typeface="Arial" pitchFamily="34" charset="-122"/>
                <a:cs typeface="Arial" pitchFamily="34" charset="-120"/>
              </a:rPr>
              <a:t>LLM은 증언을 배열한다.</a:t>
            </a:r>
            <a:endParaRPr lang="en-US" sz="3600" dirty="0"/>
          </a:p>
        </p:txBody>
      </p:sp>
      <p:sp>
        <p:nvSpPr>
          <p:cNvPr id="5" name="Text 3"/>
          <p:cNvSpPr/>
          <p:nvPr/>
        </p:nvSpPr>
        <p:spPr>
          <a:xfrm>
            <a:off x="640080" y="3246120"/>
            <a:ext cx="7863840" cy="365760"/>
          </a:xfrm>
          <a:prstGeom prst="rect">
            <a:avLst/>
          </a:prstGeom>
          <a:noFill/>
          <a:ln/>
        </p:spPr>
        <p:txBody>
          <a:bodyPr wrap="square" lIns="0" tIns="0" rIns="0" bIns="0" rtlCol="0" anchor="ctr"/>
          <a:lstStyle/>
          <a:p>
            <a:pPr algn="ctr" indent="0" marL="0">
              <a:buNone/>
            </a:pPr>
            <a:r>
              <a:rPr lang="en-US" sz="1500" dirty="0">
                <a:solidFill>
                  <a:srgbClr val="4CC9F0"/>
                </a:solidFill>
                <a:latin typeface="Arial" pitchFamily="34" charset="0"/>
                <a:ea typeface="Arial" pitchFamily="34" charset="-122"/>
                <a:cs typeface="Arial" pitchFamily="34" charset="-120"/>
              </a:rPr>
              <a:t>모든 추천 문장에는 출처가 있다 — 신뢰가 컨셉입니다.</a:t>
            </a:r>
            <a:endParaRPr lang="en-US" sz="1500" dirty="0"/>
          </a:p>
        </p:txBody>
      </p:sp>
      <p:sp>
        <p:nvSpPr>
          <p:cNvPr id="6" name="Text 4"/>
          <p:cNvSpPr/>
          <p:nvPr/>
        </p:nvSpPr>
        <p:spPr>
          <a:xfrm>
            <a:off x="640080" y="4206240"/>
            <a:ext cx="7863840" cy="320040"/>
          </a:xfrm>
          <a:prstGeom prst="rect">
            <a:avLst/>
          </a:prstGeom>
          <a:noFill/>
          <a:ln/>
        </p:spPr>
        <p:txBody>
          <a:bodyPr wrap="square" lIns="0" tIns="0" rIns="0" bIns="0" rtlCol="0" anchor="ctr"/>
          <a:lstStyle/>
          <a:p>
            <a:pPr algn="ctr" indent="0" marL="0">
              <a:buNone/>
            </a:pPr>
            <a:r>
              <a:rPr lang="en-US" sz="1200" dirty="0">
                <a:solidFill>
                  <a:srgbClr val="9BA0B0"/>
                </a:solidFill>
                <a:latin typeface="Arial" pitchFamily="34" charset="0"/>
                <a:ea typeface="Arial" pitchFamily="34" charset="-122"/>
                <a:cs typeface="Arial" pitchFamily="34" charset="-120"/>
              </a:rPr>
              <a:t>감사합니다  ·  Jeju POP Trail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Jeju POP Trail — 근거로 증명하는 제주 카페 추천</dc:title>
  <dc:subject>PptxGenJS Presentation</dc:subject>
  <dc:creator>PptxGenJS</dc:creator>
  <cp:lastModifiedBy>PptxGenJS</cp:lastModifiedBy>
  <cp:revision>1</cp:revision>
  <dcterms:created xsi:type="dcterms:W3CDTF">2026-07-09T14:17:46Z</dcterms:created>
  <dcterms:modified xsi:type="dcterms:W3CDTF">2026-07-09T14:17:46Z</dcterms:modified>
</cp:coreProperties>
</file>